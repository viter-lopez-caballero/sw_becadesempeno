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C5E"/>
          </a:solidFill>
          <a:ln/>
        </p:spPr>
      </p:sp>
      <p:sp>
        <p:nvSpPr>
          <p:cNvPr id="3" name="Shape 1"/>
          <p:cNvSpPr/>
          <p:nvPr/>
        </p:nvSpPr>
        <p:spPr>
          <a:xfrm>
            <a:off x="0" y="5120640"/>
            <a:ext cx="12192000" cy="1737360"/>
          </a:xfrm>
          <a:prstGeom prst="rect">
            <a:avLst/>
          </a:prstGeom>
          <a:solidFill>
            <a:srgbClr val="2563EB"/>
          </a:solidFill>
          <a:ln/>
        </p:spPr>
      </p:sp>
      <p:sp>
        <p:nvSpPr>
          <p:cNvPr id="4" name="Shape 2"/>
          <p:cNvSpPr/>
          <p:nvPr/>
        </p:nvSpPr>
        <p:spPr>
          <a:xfrm>
            <a:off x="8412480" y="-1371600"/>
            <a:ext cx="5486400" cy="5486400"/>
          </a:xfrm>
          <a:prstGeom prst="ellipse">
            <a:avLst/>
          </a:prstGeom>
          <a:solidFill>
            <a:srgbClr val="1E4A7A"/>
          </a:solidFill>
          <a:ln w="12700">
            <a:solidFill>
              <a:srgbClr val="1E4A7A"/>
            </a:solidFill>
            <a:prstDash val="solid"/>
          </a:ln>
        </p:spPr>
      </p:sp>
      <p:sp>
        <p:nvSpPr>
          <p:cNvPr id="5" name="Shape 3"/>
          <p:cNvSpPr/>
          <p:nvPr/>
        </p:nvSpPr>
        <p:spPr>
          <a:xfrm>
            <a:off x="9601200" y="4389120"/>
            <a:ext cx="3200400" cy="3200400"/>
          </a:xfrm>
          <a:prstGeom prst="ellipse">
            <a:avLst/>
          </a:prstGeom>
          <a:solidFill>
            <a:srgbClr val="162F4A"/>
          </a:solidFill>
          <a:ln w="12700">
            <a:solidFill>
              <a:srgbClr val="162F4A"/>
            </a:solidFill>
            <a:prstDash val="solid"/>
          </a:ln>
        </p:spPr>
      </p:sp>
      <p:sp>
        <p:nvSpPr>
          <p:cNvPr id="6" name="Text 4"/>
          <p:cNvSpPr/>
          <p:nvPr/>
        </p:nvSpPr>
        <p:spPr>
          <a:xfrm>
            <a:off x="457200" y="685800"/>
            <a:ext cx="10058400" cy="411480"/>
          </a:xfrm>
          <a:prstGeom prst="rect">
            <a:avLst/>
          </a:prstGeom>
          <a:noFill/>
          <a:ln/>
        </p:spPr>
        <p:txBody>
          <a:bodyPr wrap="square" rtlCol="0" anchor="ctr"/>
          <a:lstStyle/>
          <a:p>
            <a:pPr indent="0" marL="0">
              <a:buNone/>
            </a:pPr>
            <a:r>
              <a:rPr lang="en-US" sz="1150" b="1" spc="250" kern="0" dirty="0">
                <a:solidFill>
                  <a:srgbClr val="93C5FD"/>
                </a:solidFill>
                <a:latin typeface="Calibri" pitchFamily="34" charset="0"/>
                <a:ea typeface="Calibri" pitchFamily="34" charset="-122"/>
                <a:cs typeface="Calibri" pitchFamily="34" charset="-120"/>
              </a:rPr>
              <a:t>TECNOLÓGICO NACIONAL DE MÉXICO</a:t>
            </a:r>
            <a:endParaRPr lang="en-US" sz="1150" dirty="0"/>
          </a:p>
        </p:txBody>
      </p:sp>
      <p:sp>
        <p:nvSpPr>
          <p:cNvPr id="7" name="Text 5"/>
          <p:cNvSpPr/>
          <p:nvPr/>
        </p:nvSpPr>
        <p:spPr>
          <a:xfrm>
            <a:off x="457200" y="1188720"/>
            <a:ext cx="8229600" cy="594360"/>
          </a:xfrm>
          <a:prstGeom prst="rect">
            <a:avLst/>
          </a:prstGeom>
          <a:noFill/>
          <a:ln/>
        </p:spPr>
        <p:txBody>
          <a:bodyPr wrap="square" rtlCol="0" anchor="ctr"/>
          <a:lstStyle/>
          <a:p>
            <a:pPr indent="0" marL="0">
              <a:buNone/>
            </a:pPr>
            <a:r>
              <a:rPr lang="en-US" sz="2800" dirty="0">
                <a:solidFill>
                  <a:srgbClr val="D1D5DB"/>
                </a:solidFill>
                <a:latin typeface="Calibri" pitchFamily="34" charset="0"/>
                <a:ea typeface="Calibri" pitchFamily="34" charset="-122"/>
                <a:cs typeface="Calibri" pitchFamily="34" charset="-120"/>
              </a:rPr>
              <a:t>Sistema Integral de</a:t>
            </a:r>
            <a:endParaRPr lang="en-US" sz="2800" dirty="0"/>
          </a:p>
        </p:txBody>
      </p:sp>
      <p:sp>
        <p:nvSpPr>
          <p:cNvPr id="8" name="Text 6"/>
          <p:cNvSpPr/>
          <p:nvPr/>
        </p:nvSpPr>
        <p:spPr>
          <a:xfrm>
            <a:off x="457200" y="1783080"/>
            <a:ext cx="8686800" cy="96012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Gestión de Becas</a:t>
            </a:r>
            <a:endParaRPr lang="en-US" sz="4600" dirty="0"/>
          </a:p>
        </p:txBody>
      </p:sp>
      <p:sp>
        <p:nvSpPr>
          <p:cNvPr id="9" name="Text 7"/>
          <p:cNvSpPr/>
          <p:nvPr/>
        </p:nvSpPr>
        <p:spPr>
          <a:xfrm>
            <a:off x="457200" y="2788920"/>
            <a:ext cx="6400800" cy="566928"/>
          </a:xfrm>
          <a:prstGeom prst="rect">
            <a:avLst/>
          </a:prstGeom>
          <a:noFill/>
          <a:ln/>
        </p:spPr>
        <p:txBody>
          <a:bodyPr wrap="square" rtlCol="0" anchor="ctr"/>
          <a:lstStyle/>
          <a:p>
            <a:pPr indent="0" marL="0">
              <a:buNone/>
            </a:pPr>
            <a:r>
              <a:rPr lang="en-US" sz="2200" dirty="0">
                <a:solidFill>
                  <a:srgbClr val="60A5FA"/>
                </a:solidFill>
                <a:latin typeface="Calibri Light Italic" pitchFamily="34" charset="0"/>
                <a:ea typeface="Calibri Light Italic" pitchFamily="34" charset="-122"/>
                <a:cs typeface="Calibri Light Italic" pitchFamily="34" charset="-120"/>
              </a:rPr>
              <a:t>BecasLaravel_AD</a:t>
            </a:r>
            <a:endParaRPr lang="en-US" sz="2200" dirty="0"/>
          </a:p>
        </p:txBody>
      </p:sp>
      <p:sp>
        <p:nvSpPr>
          <p:cNvPr id="10" name="Shape 8"/>
          <p:cNvSpPr/>
          <p:nvPr/>
        </p:nvSpPr>
        <p:spPr>
          <a:xfrm>
            <a:off x="457200" y="3456432"/>
            <a:ext cx="4114800" cy="45720"/>
          </a:xfrm>
          <a:prstGeom prst="rect">
            <a:avLst/>
          </a:prstGeom>
          <a:solidFill>
            <a:srgbClr val="0D9488"/>
          </a:solidFill>
          <a:ln/>
        </p:spPr>
      </p:sp>
      <p:sp>
        <p:nvSpPr>
          <p:cNvPr id="11" name="Text 9"/>
          <p:cNvSpPr/>
          <p:nvPr/>
        </p:nvSpPr>
        <p:spPr>
          <a:xfrm>
            <a:off x="457200" y="3566160"/>
            <a:ext cx="10058400" cy="411480"/>
          </a:xfrm>
          <a:prstGeom prst="rect">
            <a:avLst/>
          </a:prstGeom>
          <a:noFill/>
          <a:ln/>
        </p:spPr>
        <p:txBody>
          <a:bodyPr wrap="square" rtlCol="0" anchor="ctr"/>
          <a:lstStyle/>
          <a:p>
            <a:pPr indent="0" marL="0">
              <a:buNone/>
            </a:pPr>
            <a:r>
              <a:rPr lang="en-US" sz="1350" dirty="0">
                <a:solidFill>
                  <a:srgbClr val="CBD5E1"/>
                </a:solidFill>
                <a:latin typeface="Calibri" pitchFamily="34" charset="0"/>
                <a:ea typeface="Calibri" pitchFamily="34" charset="-122"/>
                <a:cs typeface="Calibri" pitchFamily="34" charset="-120"/>
              </a:rPr>
              <a:t>Documentación Técnica y Funcional Completa del Sistema</a:t>
            </a:r>
            <a:endParaRPr lang="en-US" sz="1350" dirty="0"/>
          </a:p>
        </p:txBody>
      </p:sp>
      <p:sp>
        <p:nvSpPr>
          <p:cNvPr id="12" name="Shape 10"/>
          <p:cNvSpPr/>
          <p:nvPr/>
        </p:nvSpPr>
        <p:spPr>
          <a:xfrm>
            <a:off x="457200" y="4160520"/>
            <a:ext cx="2148840" cy="384048"/>
          </a:xfrm>
          <a:prstGeom prst="roundRect">
            <a:avLst>
              <a:gd name="adj" fmla="val 23810"/>
            </a:avLst>
          </a:prstGeom>
          <a:solidFill>
            <a:srgbClr val="0D9488"/>
          </a:solidFill>
          <a:ln/>
        </p:spPr>
      </p:sp>
      <p:sp>
        <p:nvSpPr>
          <p:cNvPr id="13" name="Text 11"/>
          <p:cNvSpPr/>
          <p:nvPr/>
        </p:nvSpPr>
        <p:spPr>
          <a:xfrm>
            <a:off x="457200" y="4160520"/>
            <a:ext cx="21488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Laravel 12</a:t>
            </a:r>
            <a:endParaRPr lang="en-US" sz="1050" dirty="0"/>
          </a:p>
        </p:txBody>
      </p:sp>
      <p:sp>
        <p:nvSpPr>
          <p:cNvPr id="14" name="Shape 12"/>
          <p:cNvSpPr/>
          <p:nvPr/>
        </p:nvSpPr>
        <p:spPr>
          <a:xfrm>
            <a:off x="2788920" y="4160520"/>
            <a:ext cx="2148840" cy="384048"/>
          </a:xfrm>
          <a:prstGeom prst="roundRect">
            <a:avLst>
              <a:gd name="adj" fmla="val 23810"/>
            </a:avLst>
          </a:prstGeom>
          <a:solidFill>
            <a:srgbClr val="0D9488"/>
          </a:solidFill>
          <a:ln/>
        </p:spPr>
      </p:sp>
      <p:sp>
        <p:nvSpPr>
          <p:cNvPr id="15" name="Text 13"/>
          <p:cNvSpPr/>
          <p:nvPr/>
        </p:nvSpPr>
        <p:spPr>
          <a:xfrm>
            <a:off x="2788920" y="4160520"/>
            <a:ext cx="21488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Vue 3 + Inertia.js</a:t>
            </a:r>
            <a:endParaRPr lang="en-US" sz="1050" dirty="0"/>
          </a:p>
        </p:txBody>
      </p:sp>
      <p:sp>
        <p:nvSpPr>
          <p:cNvPr id="16" name="Shape 14"/>
          <p:cNvSpPr/>
          <p:nvPr/>
        </p:nvSpPr>
        <p:spPr>
          <a:xfrm>
            <a:off x="5120640" y="4160520"/>
            <a:ext cx="2148840" cy="384048"/>
          </a:xfrm>
          <a:prstGeom prst="roundRect">
            <a:avLst>
              <a:gd name="adj" fmla="val 23810"/>
            </a:avLst>
          </a:prstGeom>
          <a:solidFill>
            <a:srgbClr val="0D9488"/>
          </a:solidFill>
          <a:ln/>
        </p:spPr>
      </p:sp>
      <p:sp>
        <p:nvSpPr>
          <p:cNvPr id="17" name="Text 15"/>
          <p:cNvSpPr/>
          <p:nvPr/>
        </p:nvSpPr>
        <p:spPr>
          <a:xfrm>
            <a:off x="5120640" y="4160520"/>
            <a:ext cx="21488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MySQL</a:t>
            </a:r>
            <a:endParaRPr lang="en-US" sz="1050" dirty="0"/>
          </a:p>
        </p:txBody>
      </p:sp>
      <p:sp>
        <p:nvSpPr>
          <p:cNvPr id="18" name="Shape 16"/>
          <p:cNvSpPr/>
          <p:nvPr/>
        </p:nvSpPr>
        <p:spPr>
          <a:xfrm>
            <a:off x="7452360" y="4160520"/>
            <a:ext cx="2148840" cy="384048"/>
          </a:xfrm>
          <a:prstGeom prst="roundRect">
            <a:avLst>
              <a:gd name="adj" fmla="val 23810"/>
            </a:avLst>
          </a:prstGeom>
          <a:solidFill>
            <a:srgbClr val="0D9488"/>
          </a:solidFill>
          <a:ln/>
        </p:spPr>
      </p:sp>
      <p:sp>
        <p:nvSpPr>
          <p:cNvPr id="19" name="Text 17"/>
          <p:cNvSpPr/>
          <p:nvPr/>
        </p:nvSpPr>
        <p:spPr>
          <a:xfrm>
            <a:off x="7452360" y="4160520"/>
            <a:ext cx="21488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Spatie RBAC</a:t>
            </a:r>
            <a:endParaRPr lang="en-US" sz="1050" dirty="0"/>
          </a:p>
        </p:txBody>
      </p:sp>
      <p:sp>
        <p:nvSpPr>
          <p:cNvPr id="20" name="Shape 18"/>
          <p:cNvSpPr/>
          <p:nvPr/>
        </p:nvSpPr>
        <p:spPr>
          <a:xfrm>
            <a:off x="9784080" y="4160520"/>
            <a:ext cx="2148840" cy="384048"/>
          </a:xfrm>
          <a:prstGeom prst="roundRect">
            <a:avLst>
              <a:gd name="adj" fmla="val 23810"/>
            </a:avLst>
          </a:prstGeom>
          <a:solidFill>
            <a:srgbClr val="0D9488"/>
          </a:solidFill>
          <a:ln/>
        </p:spPr>
      </p:sp>
      <p:sp>
        <p:nvSpPr>
          <p:cNvPr id="21" name="Text 19"/>
          <p:cNvSpPr/>
          <p:nvPr/>
        </p:nvSpPr>
        <p:spPr>
          <a:xfrm>
            <a:off x="9784080" y="4160520"/>
            <a:ext cx="214884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FPDI + QR</a:t>
            </a:r>
            <a:endParaRPr lang="en-US" sz="1050" dirty="0"/>
          </a:p>
        </p:txBody>
      </p:sp>
      <p:sp>
        <p:nvSpPr>
          <p:cNvPr id="22" name="Text 20"/>
          <p:cNvSpPr/>
          <p:nvPr/>
        </p:nvSpPr>
        <p:spPr>
          <a:xfrm>
            <a:off x="0" y="5257800"/>
            <a:ext cx="12192000" cy="347472"/>
          </a:xfrm>
          <a:prstGeom prst="rect">
            <a:avLst/>
          </a:prstGeom>
          <a:noFill/>
          <a:ln/>
        </p:spPr>
        <p:txBody>
          <a:bodyPr wrap="square"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24 modelos  ·  18 controladores  ·  10 servicios  ·  16 plantillas email  ·  6 cron jobs</a:t>
            </a:r>
            <a:endParaRPr lang="en-US" sz="1100" dirty="0"/>
          </a:p>
        </p:txBody>
      </p:sp>
      <p:sp>
        <p:nvSpPr>
          <p:cNvPr id="23" name="Text 21"/>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GitHub Copilot  ·  TecNM  ·  Marzo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Resumen Ejecutivo del Sistema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Text 4"/>
          <p:cNvSpPr/>
          <p:nvPr/>
        </p:nvSpPr>
        <p:spPr>
          <a:xfrm>
            <a:off x="365760" y="960120"/>
            <a:ext cx="11430000" cy="640080"/>
          </a:xfrm>
          <a:prstGeom prst="rect">
            <a:avLst/>
          </a:prstGeom>
          <a:noFill/>
          <a:ln/>
        </p:spPr>
        <p:txBody>
          <a:bodyPr wrap="square" rtlCol="0" anchor="ctr"/>
          <a:lstStyle/>
          <a:p>
            <a:pPr algn="just" indent="0" marL="0">
              <a:buNone/>
            </a:pPr>
            <a:r>
              <a:rPr lang="en-US" sz="1250" dirty="0">
                <a:solidFill>
                  <a:srgbClr val="1F2937"/>
                </a:solidFill>
                <a:latin typeface="Calibri" pitchFamily="34" charset="0"/>
                <a:ea typeface="Calibri" pitchFamily="34" charset="-122"/>
                <a:cs typeface="Calibri" pitchFamily="34" charset="-120"/>
              </a:rPr>
              <a:t>BecasLaravel_AD es una plataforma web corporativa que gestiona de extremo a extremo el proceso de becas académicas del TecNM: desde la publicación de convocatorias hasta la entrega de reconocimientos con validación pública mediante código QR.</a:t>
            </a:r>
            <a:endParaRPr lang="en-US" sz="1250" dirty="0"/>
          </a:p>
        </p:txBody>
      </p:sp>
      <p:sp>
        <p:nvSpPr>
          <p:cNvPr id="7" name="Shape 5"/>
          <p:cNvSpPr/>
          <p:nvPr/>
        </p:nvSpPr>
        <p:spPr>
          <a:xfrm>
            <a:off x="320040" y="1719072"/>
            <a:ext cx="2377440" cy="1234440"/>
          </a:xfrm>
          <a:prstGeom prst="roundRect">
            <a:avLst>
              <a:gd name="adj" fmla="val 7407"/>
            </a:avLst>
          </a:prstGeom>
          <a:solidFill>
            <a:srgbClr val="2563EB"/>
          </a:solidFill>
          <a:ln/>
          <a:effectLst>
            <a:outerShdw sx="100000" sy="100000" kx="0" ky="0" algn="bl" rotWithShape="0" blurRad="50800" dist="25400" dir="16200000">
              <a:srgbClr val="BBBBBB">
                <a:alpha val="75000"/>
              </a:srgbClr>
            </a:outerShdw>
          </a:effectLst>
        </p:spPr>
      </p:sp>
      <p:sp>
        <p:nvSpPr>
          <p:cNvPr id="8" name="Text 6"/>
          <p:cNvSpPr/>
          <p:nvPr/>
        </p:nvSpPr>
        <p:spPr>
          <a:xfrm>
            <a:off x="320040" y="179222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60+</a:t>
            </a:r>
            <a:endParaRPr lang="en-US" sz="3400" dirty="0"/>
          </a:p>
        </p:txBody>
      </p:sp>
      <p:sp>
        <p:nvSpPr>
          <p:cNvPr id="9" name="Text 7"/>
          <p:cNvSpPr/>
          <p:nvPr/>
        </p:nvSpPr>
        <p:spPr>
          <a:xfrm>
            <a:off x="320040" y="237744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Endpoints de API</a:t>
            </a:r>
            <a:endParaRPr lang="en-US" sz="1000" dirty="0"/>
          </a:p>
        </p:txBody>
      </p:sp>
      <p:sp>
        <p:nvSpPr>
          <p:cNvPr id="10" name="Shape 8"/>
          <p:cNvSpPr/>
          <p:nvPr/>
        </p:nvSpPr>
        <p:spPr>
          <a:xfrm>
            <a:off x="2770632" y="1719072"/>
            <a:ext cx="2377440" cy="1234440"/>
          </a:xfrm>
          <a:prstGeom prst="roundRect">
            <a:avLst>
              <a:gd name="adj" fmla="val 7407"/>
            </a:avLst>
          </a:prstGeom>
          <a:solidFill>
            <a:srgbClr val="0D9488"/>
          </a:solidFill>
          <a:ln/>
          <a:effectLst>
            <a:outerShdw sx="100000" sy="100000" kx="0" ky="0" algn="bl" rotWithShape="0" blurRad="50800" dist="25400" dir="16200000">
              <a:srgbClr val="BBBBBB">
                <a:alpha val="75000"/>
              </a:srgbClr>
            </a:outerShdw>
          </a:effectLst>
        </p:spPr>
      </p:sp>
      <p:sp>
        <p:nvSpPr>
          <p:cNvPr id="11" name="Text 9"/>
          <p:cNvSpPr/>
          <p:nvPr/>
        </p:nvSpPr>
        <p:spPr>
          <a:xfrm>
            <a:off x="2770632" y="179222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18</a:t>
            </a:r>
            <a:endParaRPr lang="en-US" sz="3400" dirty="0"/>
          </a:p>
        </p:txBody>
      </p:sp>
      <p:sp>
        <p:nvSpPr>
          <p:cNvPr id="12" name="Text 10"/>
          <p:cNvSpPr/>
          <p:nvPr/>
        </p:nvSpPr>
        <p:spPr>
          <a:xfrm>
            <a:off x="2770632" y="237744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Controladores</a:t>
            </a:r>
            <a:endParaRPr lang="en-US" sz="1000" dirty="0"/>
          </a:p>
        </p:txBody>
      </p:sp>
      <p:sp>
        <p:nvSpPr>
          <p:cNvPr id="13" name="Shape 11"/>
          <p:cNvSpPr/>
          <p:nvPr/>
        </p:nvSpPr>
        <p:spPr>
          <a:xfrm>
            <a:off x="5221224" y="1719072"/>
            <a:ext cx="2377440" cy="1234440"/>
          </a:xfrm>
          <a:prstGeom prst="roundRect">
            <a:avLst>
              <a:gd name="adj" fmla="val 7407"/>
            </a:avLst>
          </a:prstGeom>
          <a:solidFill>
            <a:srgbClr val="1A3C5E"/>
          </a:solidFill>
          <a:ln/>
          <a:effectLst>
            <a:outerShdw sx="100000" sy="100000" kx="0" ky="0" algn="bl" rotWithShape="0" blurRad="50800" dist="25400" dir="16200000">
              <a:srgbClr val="BBBBBB">
                <a:alpha val="75000"/>
              </a:srgbClr>
            </a:outerShdw>
          </a:effectLst>
        </p:spPr>
      </p:sp>
      <p:sp>
        <p:nvSpPr>
          <p:cNvPr id="14" name="Text 12"/>
          <p:cNvSpPr/>
          <p:nvPr/>
        </p:nvSpPr>
        <p:spPr>
          <a:xfrm>
            <a:off x="5221224" y="179222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24</a:t>
            </a:r>
            <a:endParaRPr lang="en-US" sz="3400" dirty="0"/>
          </a:p>
        </p:txBody>
      </p:sp>
      <p:sp>
        <p:nvSpPr>
          <p:cNvPr id="15" name="Text 13"/>
          <p:cNvSpPr/>
          <p:nvPr/>
        </p:nvSpPr>
        <p:spPr>
          <a:xfrm>
            <a:off x="5221224" y="237744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Modelos Eloquent</a:t>
            </a:r>
            <a:endParaRPr lang="en-US" sz="1000" dirty="0"/>
          </a:p>
        </p:txBody>
      </p:sp>
      <p:sp>
        <p:nvSpPr>
          <p:cNvPr id="16" name="Shape 14"/>
          <p:cNvSpPr/>
          <p:nvPr/>
        </p:nvSpPr>
        <p:spPr>
          <a:xfrm>
            <a:off x="7671816" y="1719072"/>
            <a:ext cx="2377440" cy="1234440"/>
          </a:xfrm>
          <a:prstGeom prst="roundRect">
            <a:avLst>
              <a:gd name="adj" fmla="val 7407"/>
            </a:avLst>
          </a:prstGeom>
          <a:solidFill>
            <a:srgbClr val="7C3AED"/>
          </a:solidFill>
          <a:ln/>
          <a:effectLst>
            <a:outerShdw sx="100000" sy="100000" kx="0" ky="0" algn="bl" rotWithShape="0" blurRad="50800" dist="25400" dir="16200000">
              <a:srgbClr val="BBBBBB">
                <a:alpha val="75000"/>
              </a:srgbClr>
            </a:outerShdw>
          </a:effectLst>
        </p:spPr>
      </p:sp>
      <p:sp>
        <p:nvSpPr>
          <p:cNvPr id="17" name="Text 15"/>
          <p:cNvSpPr/>
          <p:nvPr/>
        </p:nvSpPr>
        <p:spPr>
          <a:xfrm>
            <a:off x="7671816" y="179222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25</a:t>
            </a:r>
            <a:endParaRPr lang="en-US" sz="3400" dirty="0"/>
          </a:p>
        </p:txBody>
      </p:sp>
      <p:sp>
        <p:nvSpPr>
          <p:cNvPr id="18" name="Text 16"/>
          <p:cNvSpPr/>
          <p:nvPr/>
        </p:nvSpPr>
        <p:spPr>
          <a:xfrm>
            <a:off x="7671816" y="237744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Migraciones BD</a:t>
            </a:r>
            <a:endParaRPr lang="en-US" sz="1000" dirty="0"/>
          </a:p>
        </p:txBody>
      </p:sp>
      <p:sp>
        <p:nvSpPr>
          <p:cNvPr id="19" name="Shape 17"/>
          <p:cNvSpPr/>
          <p:nvPr/>
        </p:nvSpPr>
        <p:spPr>
          <a:xfrm>
            <a:off x="10122408" y="1719072"/>
            <a:ext cx="2377440" cy="1234440"/>
          </a:xfrm>
          <a:prstGeom prst="roundRect">
            <a:avLst>
              <a:gd name="adj" fmla="val 7407"/>
            </a:avLst>
          </a:prstGeom>
          <a:solidFill>
            <a:srgbClr val="EA580C"/>
          </a:solidFill>
          <a:ln/>
          <a:effectLst>
            <a:outerShdw sx="100000" sy="100000" kx="0" ky="0" algn="bl" rotWithShape="0" blurRad="50800" dist="25400" dir="16200000">
              <a:srgbClr val="BBBBBB">
                <a:alpha val="75000"/>
              </a:srgbClr>
            </a:outerShdw>
          </a:effectLst>
        </p:spPr>
      </p:sp>
      <p:sp>
        <p:nvSpPr>
          <p:cNvPr id="20" name="Text 18"/>
          <p:cNvSpPr/>
          <p:nvPr/>
        </p:nvSpPr>
        <p:spPr>
          <a:xfrm>
            <a:off x="10122408" y="179222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10</a:t>
            </a:r>
            <a:endParaRPr lang="en-US" sz="3400" dirty="0"/>
          </a:p>
        </p:txBody>
      </p:sp>
      <p:sp>
        <p:nvSpPr>
          <p:cNvPr id="21" name="Text 19"/>
          <p:cNvSpPr/>
          <p:nvPr/>
        </p:nvSpPr>
        <p:spPr>
          <a:xfrm>
            <a:off x="10122408" y="237744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Servicios</a:t>
            </a:r>
            <a:endParaRPr lang="en-US" sz="1000" dirty="0"/>
          </a:p>
        </p:txBody>
      </p:sp>
      <p:sp>
        <p:nvSpPr>
          <p:cNvPr id="22" name="Shape 20"/>
          <p:cNvSpPr/>
          <p:nvPr/>
        </p:nvSpPr>
        <p:spPr>
          <a:xfrm>
            <a:off x="320040" y="3182112"/>
            <a:ext cx="2377440" cy="1234440"/>
          </a:xfrm>
          <a:prstGeom prst="roundRect">
            <a:avLst>
              <a:gd name="adj" fmla="val 7407"/>
            </a:avLst>
          </a:prstGeom>
          <a:solidFill>
            <a:srgbClr val="0D9488"/>
          </a:solidFill>
          <a:ln/>
          <a:effectLst>
            <a:outerShdw sx="100000" sy="100000" kx="0" ky="0" algn="bl" rotWithShape="0" blurRad="50800" dist="25400" dir="16200000">
              <a:srgbClr val="BBBBBB">
                <a:alpha val="75000"/>
              </a:srgbClr>
            </a:outerShdw>
          </a:effectLst>
        </p:spPr>
      </p:sp>
      <p:sp>
        <p:nvSpPr>
          <p:cNvPr id="23" name="Text 21"/>
          <p:cNvSpPr/>
          <p:nvPr/>
        </p:nvSpPr>
        <p:spPr>
          <a:xfrm>
            <a:off x="320040" y="325526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6</a:t>
            </a:r>
            <a:endParaRPr lang="en-US" sz="3400" dirty="0"/>
          </a:p>
        </p:txBody>
      </p:sp>
      <p:sp>
        <p:nvSpPr>
          <p:cNvPr id="24" name="Text 22"/>
          <p:cNvSpPr/>
          <p:nvPr/>
        </p:nvSpPr>
        <p:spPr>
          <a:xfrm>
            <a:off x="320040" y="384048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Comandos Cron</a:t>
            </a:r>
            <a:endParaRPr lang="en-US" sz="1000" dirty="0"/>
          </a:p>
        </p:txBody>
      </p:sp>
      <p:sp>
        <p:nvSpPr>
          <p:cNvPr id="25" name="Shape 23"/>
          <p:cNvSpPr/>
          <p:nvPr/>
        </p:nvSpPr>
        <p:spPr>
          <a:xfrm>
            <a:off x="2770632" y="3182112"/>
            <a:ext cx="2377440" cy="1234440"/>
          </a:xfrm>
          <a:prstGeom prst="roundRect">
            <a:avLst>
              <a:gd name="adj" fmla="val 7407"/>
            </a:avLst>
          </a:prstGeom>
          <a:solidFill>
            <a:srgbClr val="2563EB"/>
          </a:solidFill>
          <a:ln/>
          <a:effectLst>
            <a:outerShdw sx="100000" sy="100000" kx="0" ky="0" algn="bl" rotWithShape="0" blurRad="50800" dist="25400" dir="16200000">
              <a:srgbClr val="BBBBBB">
                <a:alpha val="75000"/>
              </a:srgbClr>
            </a:outerShdw>
          </a:effectLst>
        </p:spPr>
      </p:sp>
      <p:sp>
        <p:nvSpPr>
          <p:cNvPr id="26" name="Text 24"/>
          <p:cNvSpPr/>
          <p:nvPr/>
        </p:nvSpPr>
        <p:spPr>
          <a:xfrm>
            <a:off x="2770632" y="325526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16</a:t>
            </a:r>
            <a:endParaRPr lang="en-US" sz="3400" dirty="0"/>
          </a:p>
        </p:txBody>
      </p:sp>
      <p:sp>
        <p:nvSpPr>
          <p:cNvPr id="27" name="Text 25"/>
          <p:cNvSpPr/>
          <p:nvPr/>
        </p:nvSpPr>
        <p:spPr>
          <a:xfrm>
            <a:off x="2770632" y="384048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Plantillas Email</a:t>
            </a:r>
            <a:endParaRPr lang="en-US" sz="1000" dirty="0"/>
          </a:p>
        </p:txBody>
      </p:sp>
      <p:sp>
        <p:nvSpPr>
          <p:cNvPr id="28" name="Shape 26"/>
          <p:cNvSpPr/>
          <p:nvPr/>
        </p:nvSpPr>
        <p:spPr>
          <a:xfrm>
            <a:off x="5221224" y="3182112"/>
            <a:ext cx="2377440" cy="1234440"/>
          </a:xfrm>
          <a:prstGeom prst="roundRect">
            <a:avLst>
              <a:gd name="adj" fmla="val 7407"/>
            </a:avLst>
          </a:prstGeom>
          <a:solidFill>
            <a:srgbClr val="DC2626"/>
          </a:solidFill>
          <a:ln/>
          <a:effectLst>
            <a:outerShdw sx="100000" sy="100000" kx="0" ky="0" algn="bl" rotWithShape="0" blurRad="50800" dist="25400" dir="16200000">
              <a:srgbClr val="BBBBBB">
                <a:alpha val="75000"/>
              </a:srgbClr>
            </a:outerShdw>
          </a:effectLst>
        </p:spPr>
      </p:sp>
      <p:sp>
        <p:nvSpPr>
          <p:cNvPr id="29" name="Text 27"/>
          <p:cNvSpPr/>
          <p:nvPr/>
        </p:nvSpPr>
        <p:spPr>
          <a:xfrm>
            <a:off x="5221224" y="325526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40+</a:t>
            </a:r>
            <a:endParaRPr lang="en-US" sz="3400" dirty="0"/>
          </a:p>
        </p:txBody>
      </p:sp>
      <p:sp>
        <p:nvSpPr>
          <p:cNvPr id="30" name="Text 28"/>
          <p:cNvSpPr/>
          <p:nvPr/>
        </p:nvSpPr>
        <p:spPr>
          <a:xfrm>
            <a:off x="5221224" y="384048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Páginas Vue 3</a:t>
            </a:r>
            <a:endParaRPr lang="en-US" sz="1000" dirty="0"/>
          </a:p>
        </p:txBody>
      </p:sp>
      <p:sp>
        <p:nvSpPr>
          <p:cNvPr id="31" name="Shape 29"/>
          <p:cNvSpPr/>
          <p:nvPr/>
        </p:nvSpPr>
        <p:spPr>
          <a:xfrm>
            <a:off x="7671816" y="3182112"/>
            <a:ext cx="2377440" cy="1234440"/>
          </a:xfrm>
          <a:prstGeom prst="roundRect">
            <a:avLst>
              <a:gd name="adj" fmla="val 7407"/>
            </a:avLst>
          </a:prstGeom>
          <a:solidFill>
            <a:srgbClr val="059669"/>
          </a:solidFill>
          <a:ln/>
          <a:effectLst>
            <a:outerShdw sx="100000" sy="100000" kx="0" ky="0" algn="bl" rotWithShape="0" blurRad="50800" dist="25400" dir="16200000">
              <a:srgbClr val="BBBBBB">
                <a:alpha val="75000"/>
              </a:srgbClr>
            </a:outerShdw>
          </a:effectLst>
        </p:spPr>
      </p:sp>
      <p:sp>
        <p:nvSpPr>
          <p:cNvPr id="32" name="Text 30"/>
          <p:cNvSpPr/>
          <p:nvPr/>
        </p:nvSpPr>
        <p:spPr>
          <a:xfrm>
            <a:off x="7671816" y="325526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8</a:t>
            </a:r>
            <a:endParaRPr lang="en-US" sz="3400" dirty="0"/>
          </a:p>
        </p:txBody>
      </p:sp>
      <p:sp>
        <p:nvSpPr>
          <p:cNvPr id="33" name="Text 31"/>
          <p:cNvSpPr/>
          <p:nvPr/>
        </p:nvSpPr>
        <p:spPr>
          <a:xfrm>
            <a:off x="7671816" y="384048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Exports Excel</a:t>
            </a:r>
            <a:endParaRPr lang="en-US" sz="1000" dirty="0"/>
          </a:p>
        </p:txBody>
      </p:sp>
      <p:sp>
        <p:nvSpPr>
          <p:cNvPr id="34" name="Shape 32"/>
          <p:cNvSpPr/>
          <p:nvPr/>
        </p:nvSpPr>
        <p:spPr>
          <a:xfrm>
            <a:off x="10122408" y="3182112"/>
            <a:ext cx="2377440" cy="1234440"/>
          </a:xfrm>
          <a:prstGeom prst="roundRect">
            <a:avLst>
              <a:gd name="adj" fmla="val 7407"/>
            </a:avLst>
          </a:prstGeom>
          <a:solidFill>
            <a:srgbClr val="EA580C"/>
          </a:solidFill>
          <a:ln/>
          <a:effectLst>
            <a:outerShdw sx="100000" sy="100000" kx="0" ky="0" algn="bl" rotWithShape="0" blurRad="50800" dist="25400" dir="16200000">
              <a:srgbClr val="BBBBBB">
                <a:alpha val="75000"/>
              </a:srgbClr>
            </a:outerShdw>
          </a:effectLst>
        </p:spPr>
      </p:sp>
      <p:sp>
        <p:nvSpPr>
          <p:cNvPr id="35" name="Text 33"/>
          <p:cNvSpPr/>
          <p:nvPr/>
        </p:nvSpPr>
        <p:spPr>
          <a:xfrm>
            <a:off x="10122408" y="3255264"/>
            <a:ext cx="2377440" cy="59436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4</a:t>
            </a:r>
            <a:endParaRPr lang="en-US" sz="3400" dirty="0"/>
          </a:p>
        </p:txBody>
      </p:sp>
      <p:sp>
        <p:nvSpPr>
          <p:cNvPr id="36" name="Text 34"/>
          <p:cNvSpPr/>
          <p:nvPr/>
        </p:nvSpPr>
        <p:spPr>
          <a:xfrm>
            <a:off x="10122408" y="3840480"/>
            <a:ext cx="2377440" cy="475488"/>
          </a:xfrm>
          <a:prstGeom prst="rect">
            <a:avLst/>
          </a:prstGeom>
          <a:noFill/>
          <a:ln/>
        </p:spPr>
        <p:txBody>
          <a:bodyPr wrap="square"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Roles RBAC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¿Qué es BecasLaravel_AD?  —  Visión General del Sistema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5760720" cy="5303520"/>
          </a:xfrm>
          <a:prstGeom prst="roundRect">
            <a:avLst>
              <a:gd name="adj" fmla="val 1724"/>
            </a:avLst>
          </a:prstGeom>
          <a:solidFill>
            <a:srgbClr val="F3F4F6"/>
          </a:solidFill>
          <a:ln/>
          <a:effectLst>
            <a:outerShdw sx="100000" sy="100000" kx="0" ky="0" algn="bl" rotWithShape="0" blurRad="50800" dist="25400" dir="16200000">
              <a:srgbClr val="000000">
                <a:alpha val="75000"/>
              </a:srgbClr>
            </a:outerShdw>
          </a:effectLst>
        </p:spPr>
      </p:sp>
      <p:sp>
        <p:nvSpPr>
          <p:cNvPr id="7" name="Text 5"/>
          <p:cNvSpPr/>
          <p:nvPr/>
        </p:nvSpPr>
        <p:spPr>
          <a:xfrm>
            <a:off x="457200" y="1097280"/>
            <a:ext cx="5486400" cy="384048"/>
          </a:xfrm>
          <a:prstGeom prst="rect">
            <a:avLst/>
          </a:prstGeom>
          <a:noFill/>
          <a:ln/>
        </p:spPr>
        <p:txBody>
          <a:bodyPr wrap="square" rtlCol="0" anchor="ctr"/>
          <a:lstStyle/>
          <a:p>
            <a:pPr indent="0" marL="0">
              <a:buNone/>
            </a:pPr>
            <a:r>
              <a:rPr lang="en-US" sz="1300" b="1" dirty="0">
                <a:solidFill>
                  <a:srgbClr val="1A3C5E"/>
                </a:solidFill>
                <a:latin typeface="Calibri" pitchFamily="34" charset="0"/>
                <a:ea typeface="Calibri" pitchFamily="34" charset="-122"/>
                <a:cs typeface="Calibri" pitchFamily="34" charset="-120"/>
              </a:rPr>
              <a:t>Plataforma MVC de Gestión de Becas</a:t>
            </a:r>
            <a:endParaRPr lang="en-US" sz="1300" dirty="0"/>
          </a:p>
        </p:txBody>
      </p:sp>
      <p:sp>
        <p:nvSpPr>
          <p:cNvPr id="8" name="Text 6"/>
          <p:cNvSpPr/>
          <p:nvPr/>
        </p:nvSpPr>
        <p:spPr>
          <a:xfrm>
            <a:off x="457200" y="1572768"/>
            <a:ext cx="5486400" cy="1298448"/>
          </a:xfrm>
          <a:prstGeom prst="rect">
            <a:avLst/>
          </a:prstGeom>
          <a:noFill/>
          <a:ln/>
        </p:spPr>
        <p:txBody>
          <a:bodyPr wrap="square" rtlCol="0" anchor="ctr"/>
          <a:lstStyle/>
          <a:p>
            <a:pPr algn="just" indent="0" marL="0">
              <a:buNone/>
            </a:pPr>
            <a:r>
              <a:rPr lang="en-US" sz="1050" dirty="0">
                <a:solidFill>
                  <a:srgbClr val="6B7280"/>
                </a:solidFill>
                <a:latin typeface="Calibri" pitchFamily="34" charset="0"/>
                <a:ea typeface="Calibri" pitchFamily="34" charset="-122"/>
                <a:cs typeface="Calibri" pitchFamily="34" charset="-120"/>
              </a:rPr>
              <a:t>Sistema web corporativo MVC desarrollado con Laravel 12 e Inertia.js (SPA sin API REST explícita). Centraliza todo el ciclo de vida de una beca académica: convocatoria → solicitud → evaluación → veredicto → reconocimiento.</a:t>
            </a:r>
            <a:endParaRPr lang="en-US" sz="1050" dirty="0"/>
          </a:p>
        </p:txBody>
      </p:sp>
      <p:sp>
        <p:nvSpPr>
          <p:cNvPr id="9" name="Text 7"/>
          <p:cNvSpPr/>
          <p:nvPr/>
        </p:nvSpPr>
        <p:spPr>
          <a:xfrm>
            <a:off x="457200" y="2944368"/>
            <a:ext cx="5486400" cy="1298448"/>
          </a:xfrm>
          <a:prstGeom prst="rect">
            <a:avLst/>
          </a:prstGeom>
          <a:noFill/>
          <a:ln/>
        </p:spPr>
        <p:txBody>
          <a:bodyPr wrap="square" rtlCol="0" anchor="ctr"/>
          <a:lstStyle/>
          <a:p>
            <a:pPr algn="just" indent="0" marL="0">
              <a:buNone/>
            </a:pPr>
            <a:r>
              <a:rPr lang="en-US" sz="1050" dirty="0">
                <a:solidFill>
                  <a:srgbClr val="6B7280"/>
                </a:solidFill>
                <a:latin typeface="Calibri" pitchFamily="34" charset="0"/>
                <a:ea typeface="Calibri" pitchFamily="34" charset="-122"/>
                <a:cs typeface="Calibri" pitchFamily="34" charset="-120"/>
              </a:rPr>
              <a:t>Arquitectura orientada a servicios: la lógica de negocio está encapsulada en 10 clases de servicio independientes del controlador, lo que facilita el mantenimiento y la prueba unitaria.</a:t>
            </a:r>
            <a:endParaRPr lang="en-US" sz="1050" dirty="0"/>
          </a:p>
        </p:txBody>
      </p:sp>
      <p:sp>
        <p:nvSpPr>
          <p:cNvPr id="10" name="Text 8"/>
          <p:cNvSpPr/>
          <p:nvPr/>
        </p:nvSpPr>
        <p:spPr>
          <a:xfrm>
            <a:off x="457200" y="4315968"/>
            <a:ext cx="5486400" cy="1298448"/>
          </a:xfrm>
          <a:prstGeom prst="rect">
            <a:avLst/>
          </a:prstGeom>
          <a:noFill/>
          <a:ln/>
        </p:spPr>
        <p:txBody>
          <a:bodyPr wrap="square" rtlCol="0" anchor="ctr"/>
          <a:lstStyle/>
          <a:p>
            <a:pPr algn="just" indent="0" marL="0">
              <a:buNone/>
            </a:pPr>
            <a:r>
              <a:rPr lang="en-US" sz="1050" dirty="0">
                <a:solidFill>
                  <a:srgbClr val="6B7280"/>
                </a:solidFill>
                <a:latin typeface="Calibri" pitchFamily="34" charset="0"/>
                <a:ea typeface="Calibri" pitchFamily="34" charset="-122"/>
                <a:cs typeface="Calibri" pitchFamily="34" charset="-120"/>
              </a:rPr>
              <a:t>Todas las notificaciones se procesan de forma asíncrona mediante colas (Queue driver: database), evitando que el usuario espere mientras el sistema envía correos al servidor SMTP externo.</a:t>
            </a:r>
            <a:endParaRPr lang="en-US" sz="1050" dirty="0"/>
          </a:p>
        </p:txBody>
      </p:sp>
      <p:sp>
        <p:nvSpPr>
          <p:cNvPr id="11" name="Shape 9"/>
          <p:cNvSpPr/>
          <p:nvPr/>
        </p:nvSpPr>
        <p:spPr>
          <a:xfrm>
            <a:off x="6355080" y="1005840"/>
            <a:ext cx="5669280" cy="5303520"/>
          </a:xfrm>
          <a:prstGeom prst="roundRect">
            <a:avLst>
              <a:gd name="adj" fmla="val 1724"/>
            </a:avLst>
          </a:prstGeom>
          <a:solidFill>
            <a:srgbClr val="F3F4F6"/>
          </a:solidFill>
          <a:ln/>
          <a:effectLst>
            <a:outerShdw sx="100000" sy="100000" kx="0" ky="0" algn="bl" rotWithShape="0" blurRad="50800" dist="25400" dir="16200000">
              <a:srgbClr val="000000">
                <a:alpha val="75000"/>
              </a:srgbClr>
            </a:outerShdw>
          </a:effectLst>
        </p:spPr>
      </p:sp>
      <p:sp>
        <p:nvSpPr>
          <p:cNvPr id="12" name="Text 10"/>
          <p:cNvSpPr/>
          <p:nvPr/>
        </p:nvSpPr>
        <p:spPr>
          <a:xfrm>
            <a:off x="6492240" y="1097280"/>
            <a:ext cx="5394960" cy="384048"/>
          </a:xfrm>
          <a:prstGeom prst="rect">
            <a:avLst/>
          </a:prstGeom>
          <a:noFill/>
          <a:ln/>
        </p:spPr>
        <p:txBody>
          <a:bodyPr wrap="square" rtlCol="0" anchor="ctr"/>
          <a:lstStyle/>
          <a:p>
            <a:pPr indent="0" marL="0">
              <a:buNone/>
            </a:pPr>
            <a:r>
              <a:rPr lang="en-US" sz="1300" b="1" dirty="0">
                <a:solidFill>
                  <a:srgbClr val="1A3C5E"/>
                </a:solidFill>
                <a:latin typeface="Calibri" pitchFamily="34" charset="0"/>
                <a:ea typeface="Calibri" pitchFamily="34" charset="-122"/>
                <a:cs typeface="Calibri" pitchFamily="34" charset="-120"/>
              </a:rPr>
              <a:t>Reglas de Negocio Clave</a:t>
            </a:r>
            <a:endParaRPr lang="en-US" sz="1300" dirty="0"/>
          </a:p>
        </p:txBody>
      </p:sp>
      <p:sp>
        <p:nvSpPr>
          <p:cNvPr id="13" name="Shape 11"/>
          <p:cNvSpPr/>
          <p:nvPr/>
        </p:nvSpPr>
        <p:spPr>
          <a:xfrm>
            <a:off x="6492240" y="1572768"/>
            <a:ext cx="5394960" cy="493776"/>
          </a:xfrm>
          <a:prstGeom prst="roundRect">
            <a:avLst>
              <a:gd name="adj" fmla="val 11111"/>
            </a:avLst>
          </a:prstGeom>
          <a:solidFill>
            <a:srgbClr val="DBEAFE"/>
          </a:solidFill>
          <a:ln/>
        </p:spPr>
      </p:sp>
      <p:sp>
        <p:nvSpPr>
          <p:cNvPr id="14" name="Text 12"/>
          <p:cNvSpPr/>
          <p:nvPr/>
        </p:nvSpPr>
        <p:spPr>
          <a:xfrm>
            <a:off x="6583680" y="1591056"/>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Solo puede existir UNA convocatoria activa simultáneamente en todo el sistema.</a:t>
            </a:r>
            <a:endParaRPr lang="en-US" sz="950" dirty="0"/>
          </a:p>
        </p:txBody>
      </p:sp>
      <p:sp>
        <p:nvSpPr>
          <p:cNvPr id="15" name="Shape 13"/>
          <p:cNvSpPr/>
          <p:nvPr/>
        </p:nvSpPr>
        <p:spPr>
          <a:xfrm>
            <a:off x="6492240" y="2139696"/>
            <a:ext cx="5394960" cy="493776"/>
          </a:xfrm>
          <a:prstGeom prst="roundRect">
            <a:avLst>
              <a:gd name="adj" fmla="val 11111"/>
            </a:avLst>
          </a:prstGeom>
          <a:solidFill>
            <a:srgbClr val="F0FDF4"/>
          </a:solidFill>
          <a:ln/>
        </p:spPr>
      </p:sp>
      <p:sp>
        <p:nvSpPr>
          <p:cNvPr id="16" name="Text 14"/>
          <p:cNvSpPr/>
          <p:nvPr/>
        </p:nvSpPr>
        <p:spPr>
          <a:xfrm>
            <a:off x="6583680" y="2157984"/>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Un docente no puede presentar más de una solicitud por convocatoria.</a:t>
            </a:r>
            <a:endParaRPr lang="en-US" sz="950" dirty="0"/>
          </a:p>
        </p:txBody>
      </p:sp>
      <p:sp>
        <p:nvSpPr>
          <p:cNvPr id="17" name="Shape 15"/>
          <p:cNvSpPr/>
          <p:nvPr/>
        </p:nvSpPr>
        <p:spPr>
          <a:xfrm>
            <a:off x="6492240" y="2706624"/>
            <a:ext cx="5394960" cy="493776"/>
          </a:xfrm>
          <a:prstGeom prst="roundRect">
            <a:avLst>
              <a:gd name="adj" fmla="val 11111"/>
            </a:avLst>
          </a:prstGeom>
          <a:solidFill>
            <a:srgbClr val="DBEAFE"/>
          </a:solidFill>
          <a:ln/>
        </p:spPr>
      </p:sp>
      <p:sp>
        <p:nvSpPr>
          <p:cNvPr id="18" name="Text 16"/>
          <p:cNvSpPr/>
          <p:nvPr/>
        </p:nvSpPr>
        <p:spPr>
          <a:xfrm>
            <a:off x="6583680" y="2724912"/>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Las evaluaciones tienen plazo automático de 7 días hábiles desde la asignación.</a:t>
            </a:r>
            <a:endParaRPr lang="en-US" sz="950" dirty="0"/>
          </a:p>
        </p:txBody>
      </p:sp>
      <p:sp>
        <p:nvSpPr>
          <p:cNvPr id="19" name="Shape 17"/>
          <p:cNvSpPr/>
          <p:nvPr/>
        </p:nvSpPr>
        <p:spPr>
          <a:xfrm>
            <a:off x="6492240" y="3273552"/>
            <a:ext cx="5394960" cy="493776"/>
          </a:xfrm>
          <a:prstGeom prst="roundRect">
            <a:avLst>
              <a:gd name="adj" fmla="val 11111"/>
            </a:avLst>
          </a:prstGeom>
          <a:solidFill>
            <a:srgbClr val="F0FDF4"/>
          </a:solidFill>
          <a:ln/>
        </p:spPr>
      </p:sp>
      <p:sp>
        <p:nvSpPr>
          <p:cNvPr id="20" name="Text 18"/>
          <p:cNvSpPr/>
          <p:nvPr/>
        </p:nvSpPr>
        <p:spPr>
          <a:xfrm>
            <a:off x="6583680" y="3291840"/>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Los reconocimientos requieren activación manual por parte del administrador antes de ser descargables.</a:t>
            </a:r>
            <a:endParaRPr lang="en-US" sz="950" dirty="0"/>
          </a:p>
        </p:txBody>
      </p:sp>
      <p:sp>
        <p:nvSpPr>
          <p:cNvPr id="21" name="Shape 19"/>
          <p:cNvSpPr/>
          <p:nvPr/>
        </p:nvSpPr>
        <p:spPr>
          <a:xfrm>
            <a:off x="6492240" y="3840480"/>
            <a:ext cx="5394960" cy="493776"/>
          </a:xfrm>
          <a:prstGeom prst="roundRect">
            <a:avLst>
              <a:gd name="adj" fmla="val 11111"/>
            </a:avLst>
          </a:prstGeom>
          <a:solidFill>
            <a:srgbClr val="DBEAFE"/>
          </a:solidFill>
          <a:ln/>
        </p:spPr>
      </p:sp>
      <p:sp>
        <p:nvSpPr>
          <p:cNvPr id="22" name="Text 20"/>
          <p:cNvSpPr/>
          <p:nvPr/>
        </p:nvSpPr>
        <p:spPr>
          <a:xfrm>
            <a:off x="6583680" y="3858768"/>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Código de verificación por email de 6 dígitos con expiración de 24 horas.</a:t>
            </a:r>
            <a:endParaRPr lang="en-US" sz="950" dirty="0"/>
          </a:p>
        </p:txBody>
      </p:sp>
      <p:sp>
        <p:nvSpPr>
          <p:cNvPr id="23" name="Shape 21"/>
          <p:cNvSpPr/>
          <p:nvPr/>
        </p:nvSpPr>
        <p:spPr>
          <a:xfrm>
            <a:off x="6492240" y="4407408"/>
            <a:ext cx="5394960" cy="493776"/>
          </a:xfrm>
          <a:prstGeom prst="roundRect">
            <a:avLst>
              <a:gd name="adj" fmla="val 11111"/>
            </a:avLst>
          </a:prstGeom>
          <a:solidFill>
            <a:srgbClr val="F0FDF4"/>
          </a:solidFill>
          <a:ln/>
        </p:spPr>
      </p:sp>
      <p:sp>
        <p:nvSpPr>
          <p:cNvPr id="24" name="Text 22"/>
          <p:cNvSpPr/>
          <p:nvPr/>
        </p:nvSpPr>
        <p:spPr>
          <a:xfrm>
            <a:off x="6583680" y="4425696"/>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Todo el sistema de correos es asíncrono: Mail::to()-&gt;queue() en todos los Mailable.</a:t>
            </a:r>
            <a:endParaRPr lang="en-US" sz="950" dirty="0"/>
          </a:p>
        </p:txBody>
      </p:sp>
      <p:sp>
        <p:nvSpPr>
          <p:cNvPr id="25" name="Shape 23"/>
          <p:cNvSpPr/>
          <p:nvPr/>
        </p:nvSpPr>
        <p:spPr>
          <a:xfrm>
            <a:off x="6492240" y="4974336"/>
            <a:ext cx="5394960" cy="493776"/>
          </a:xfrm>
          <a:prstGeom prst="roundRect">
            <a:avLst>
              <a:gd name="adj" fmla="val 11111"/>
            </a:avLst>
          </a:prstGeom>
          <a:solidFill>
            <a:srgbClr val="DBEAFE"/>
          </a:solidFill>
          <a:ln/>
        </p:spPr>
      </p:sp>
      <p:sp>
        <p:nvSpPr>
          <p:cNvPr id="26" name="Text 24"/>
          <p:cNvSpPr/>
          <p:nvPr/>
        </p:nvSpPr>
        <p:spPr>
          <a:xfrm>
            <a:off x="6583680" y="4992624"/>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Verificación pública de documentos sin necesidad de cuenta (URL del QR en el PDF).</a:t>
            </a:r>
            <a:endParaRPr lang="en-US" sz="950" dirty="0"/>
          </a:p>
        </p:txBody>
      </p:sp>
      <p:sp>
        <p:nvSpPr>
          <p:cNvPr id="27" name="Shape 25"/>
          <p:cNvSpPr/>
          <p:nvPr/>
        </p:nvSpPr>
        <p:spPr>
          <a:xfrm>
            <a:off x="6492240" y="5541264"/>
            <a:ext cx="5394960" cy="493776"/>
          </a:xfrm>
          <a:prstGeom prst="roundRect">
            <a:avLst>
              <a:gd name="adj" fmla="val 11111"/>
            </a:avLst>
          </a:prstGeom>
          <a:solidFill>
            <a:srgbClr val="F0FDF4"/>
          </a:solidFill>
          <a:ln/>
        </p:spPr>
      </p:sp>
      <p:sp>
        <p:nvSpPr>
          <p:cNvPr id="28" name="Text 26"/>
          <p:cNvSpPr/>
          <p:nvPr/>
        </p:nvSpPr>
        <p:spPr>
          <a:xfrm>
            <a:off x="6583680" y="5559552"/>
            <a:ext cx="5212080" cy="45720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  Backups de BD configurables (full/incremental) con notificación al completar.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Stack Tecnológico Completo</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274320" y="960120"/>
            <a:ext cx="3767328" cy="457200"/>
          </a:xfrm>
          <a:prstGeom prst="rect">
            <a:avLst/>
          </a:prstGeom>
          <a:solidFill>
            <a:srgbClr val="1A3C5E"/>
          </a:solidFill>
          <a:ln/>
        </p:spPr>
      </p:sp>
      <p:sp>
        <p:nvSpPr>
          <p:cNvPr id="7" name="Text 5"/>
          <p:cNvSpPr/>
          <p:nvPr/>
        </p:nvSpPr>
        <p:spPr>
          <a:xfrm>
            <a:off x="274320" y="960120"/>
            <a:ext cx="376732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 PHP</a:t>
            </a:r>
            <a:endParaRPr lang="en-US" sz="1300" dirty="0"/>
          </a:p>
        </p:txBody>
      </p:sp>
      <p:sp>
        <p:nvSpPr>
          <p:cNvPr id="8" name="Shape 6"/>
          <p:cNvSpPr/>
          <p:nvPr/>
        </p:nvSpPr>
        <p:spPr>
          <a:xfrm>
            <a:off x="274320" y="1417320"/>
            <a:ext cx="3767328" cy="4937760"/>
          </a:xfrm>
          <a:prstGeom prst="rect">
            <a:avLst/>
          </a:prstGeom>
          <a:solidFill>
            <a:srgbClr val="FFFFFF"/>
          </a:solidFill>
          <a:ln/>
        </p:spPr>
      </p:sp>
      <p:sp>
        <p:nvSpPr>
          <p:cNvPr id="9" name="Shape 7"/>
          <p:cNvSpPr/>
          <p:nvPr/>
        </p:nvSpPr>
        <p:spPr>
          <a:xfrm>
            <a:off x="320040" y="1536192"/>
            <a:ext cx="36576" cy="256032"/>
          </a:xfrm>
          <a:prstGeom prst="rect">
            <a:avLst/>
          </a:prstGeom>
          <a:solidFill>
            <a:srgbClr val="1A3C5E"/>
          </a:solidFill>
          <a:ln/>
        </p:spPr>
      </p:sp>
      <p:sp>
        <p:nvSpPr>
          <p:cNvPr id="10" name="Text 8"/>
          <p:cNvSpPr/>
          <p:nvPr/>
        </p:nvSpPr>
        <p:spPr>
          <a:xfrm>
            <a:off x="438912" y="146304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Laravel 12 (^12.0)</a:t>
            </a:r>
            <a:endParaRPr lang="en-US" sz="1000" dirty="0"/>
          </a:p>
        </p:txBody>
      </p:sp>
      <p:sp>
        <p:nvSpPr>
          <p:cNvPr id="11" name="Text 9"/>
          <p:cNvSpPr/>
          <p:nvPr/>
        </p:nvSpPr>
        <p:spPr>
          <a:xfrm>
            <a:off x="438912" y="171907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Framework MVC principal</a:t>
            </a:r>
            <a:endParaRPr lang="en-US" sz="850" dirty="0"/>
          </a:p>
        </p:txBody>
      </p:sp>
      <p:sp>
        <p:nvSpPr>
          <p:cNvPr id="12" name="Shape 10"/>
          <p:cNvSpPr/>
          <p:nvPr/>
        </p:nvSpPr>
        <p:spPr>
          <a:xfrm>
            <a:off x="320040" y="2075688"/>
            <a:ext cx="36576" cy="256032"/>
          </a:xfrm>
          <a:prstGeom prst="rect">
            <a:avLst/>
          </a:prstGeom>
          <a:solidFill>
            <a:srgbClr val="1A3C5E"/>
          </a:solidFill>
          <a:ln/>
        </p:spPr>
      </p:sp>
      <p:sp>
        <p:nvSpPr>
          <p:cNvPr id="13" name="Text 11"/>
          <p:cNvSpPr/>
          <p:nvPr/>
        </p:nvSpPr>
        <p:spPr>
          <a:xfrm>
            <a:off x="438912" y="200253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PHP 8.2+</a:t>
            </a:r>
            <a:endParaRPr lang="en-US" sz="1000" dirty="0"/>
          </a:p>
        </p:txBody>
      </p:sp>
      <p:sp>
        <p:nvSpPr>
          <p:cNvPr id="14" name="Text 12"/>
          <p:cNvSpPr/>
          <p:nvPr/>
        </p:nvSpPr>
        <p:spPr>
          <a:xfrm>
            <a:off x="438912" y="2258568"/>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Lenguaje del servidor</a:t>
            </a:r>
            <a:endParaRPr lang="en-US" sz="850" dirty="0"/>
          </a:p>
        </p:txBody>
      </p:sp>
      <p:sp>
        <p:nvSpPr>
          <p:cNvPr id="15" name="Shape 13"/>
          <p:cNvSpPr/>
          <p:nvPr/>
        </p:nvSpPr>
        <p:spPr>
          <a:xfrm>
            <a:off x="320040" y="2615184"/>
            <a:ext cx="36576" cy="256032"/>
          </a:xfrm>
          <a:prstGeom prst="rect">
            <a:avLst/>
          </a:prstGeom>
          <a:solidFill>
            <a:srgbClr val="1A3C5E"/>
          </a:solidFill>
          <a:ln/>
        </p:spPr>
      </p:sp>
      <p:sp>
        <p:nvSpPr>
          <p:cNvPr id="16" name="Text 14"/>
          <p:cNvSpPr/>
          <p:nvPr/>
        </p:nvSpPr>
        <p:spPr>
          <a:xfrm>
            <a:off x="438912" y="254203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Laravel Fortify</a:t>
            </a:r>
            <a:endParaRPr lang="en-US" sz="1000" dirty="0"/>
          </a:p>
        </p:txBody>
      </p:sp>
      <p:sp>
        <p:nvSpPr>
          <p:cNvPr id="17" name="Text 15"/>
          <p:cNvSpPr/>
          <p:nvPr/>
        </p:nvSpPr>
        <p:spPr>
          <a:xfrm>
            <a:off x="438912" y="2798064"/>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Auth: login, 2FA, verify, reset</a:t>
            </a:r>
            <a:endParaRPr lang="en-US" sz="850" dirty="0"/>
          </a:p>
        </p:txBody>
      </p:sp>
      <p:sp>
        <p:nvSpPr>
          <p:cNvPr id="18" name="Shape 16"/>
          <p:cNvSpPr/>
          <p:nvPr/>
        </p:nvSpPr>
        <p:spPr>
          <a:xfrm>
            <a:off x="320040" y="3154680"/>
            <a:ext cx="36576" cy="256032"/>
          </a:xfrm>
          <a:prstGeom prst="rect">
            <a:avLst/>
          </a:prstGeom>
          <a:solidFill>
            <a:srgbClr val="1A3C5E"/>
          </a:solidFill>
          <a:ln/>
        </p:spPr>
      </p:sp>
      <p:sp>
        <p:nvSpPr>
          <p:cNvPr id="19" name="Text 17"/>
          <p:cNvSpPr/>
          <p:nvPr/>
        </p:nvSpPr>
        <p:spPr>
          <a:xfrm>
            <a:off x="438912" y="3081528"/>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Spatie/laravel-permission ^6</a:t>
            </a:r>
            <a:endParaRPr lang="en-US" sz="1000" dirty="0"/>
          </a:p>
        </p:txBody>
      </p:sp>
      <p:sp>
        <p:nvSpPr>
          <p:cNvPr id="20" name="Text 18"/>
          <p:cNvSpPr/>
          <p:nvPr/>
        </p:nvSpPr>
        <p:spPr>
          <a:xfrm>
            <a:off x="438912" y="3337560"/>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RBAC completo</a:t>
            </a:r>
            <a:endParaRPr lang="en-US" sz="850" dirty="0"/>
          </a:p>
        </p:txBody>
      </p:sp>
      <p:sp>
        <p:nvSpPr>
          <p:cNvPr id="21" name="Shape 19"/>
          <p:cNvSpPr/>
          <p:nvPr/>
        </p:nvSpPr>
        <p:spPr>
          <a:xfrm>
            <a:off x="320040" y="3694176"/>
            <a:ext cx="36576" cy="256032"/>
          </a:xfrm>
          <a:prstGeom prst="rect">
            <a:avLst/>
          </a:prstGeom>
          <a:solidFill>
            <a:srgbClr val="1A3C5E"/>
          </a:solidFill>
          <a:ln/>
        </p:spPr>
      </p:sp>
      <p:sp>
        <p:nvSpPr>
          <p:cNvPr id="22" name="Text 20"/>
          <p:cNvSpPr/>
          <p:nvPr/>
        </p:nvSpPr>
        <p:spPr>
          <a:xfrm>
            <a:off x="438912" y="3621024"/>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Maatwebsite/Excel ^3.1</a:t>
            </a:r>
            <a:endParaRPr lang="en-US" sz="1000" dirty="0"/>
          </a:p>
        </p:txBody>
      </p:sp>
      <p:sp>
        <p:nvSpPr>
          <p:cNvPr id="23" name="Text 21"/>
          <p:cNvSpPr/>
          <p:nvPr/>
        </p:nvSpPr>
        <p:spPr>
          <a:xfrm>
            <a:off x="438912" y="3877056"/>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Exports/Imports Excel</a:t>
            </a:r>
            <a:endParaRPr lang="en-US" sz="850" dirty="0"/>
          </a:p>
        </p:txBody>
      </p:sp>
      <p:sp>
        <p:nvSpPr>
          <p:cNvPr id="24" name="Shape 22"/>
          <p:cNvSpPr/>
          <p:nvPr/>
        </p:nvSpPr>
        <p:spPr>
          <a:xfrm>
            <a:off x="320040" y="4233672"/>
            <a:ext cx="36576" cy="256032"/>
          </a:xfrm>
          <a:prstGeom prst="rect">
            <a:avLst/>
          </a:prstGeom>
          <a:solidFill>
            <a:srgbClr val="1A3C5E"/>
          </a:solidFill>
          <a:ln/>
        </p:spPr>
      </p:sp>
      <p:sp>
        <p:nvSpPr>
          <p:cNvPr id="25" name="Text 23"/>
          <p:cNvSpPr/>
          <p:nvPr/>
        </p:nvSpPr>
        <p:spPr>
          <a:xfrm>
            <a:off x="438912" y="416052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setasign/FPDI + FPDF</a:t>
            </a:r>
            <a:endParaRPr lang="en-US" sz="1000" dirty="0"/>
          </a:p>
        </p:txBody>
      </p:sp>
      <p:sp>
        <p:nvSpPr>
          <p:cNvPr id="26" name="Text 24"/>
          <p:cNvSpPr/>
          <p:nvPr/>
        </p:nvSpPr>
        <p:spPr>
          <a:xfrm>
            <a:off x="438912" y="441655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Generación PDF con plantillas</a:t>
            </a:r>
            <a:endParaRPr lang="en-US" sz="850" dirty="0"/>
          </a:p>
        </p:txBody>
      </p:sp>
      <p:sp>
        <p:nvSpPr>
          <p:cNvPr id="27" name="Shape 25"/>
          <p:cNvSpPr/>
          <p:nvPr/>
        </p:nvSpPr>
        <p:spPr>
          <a:xfrm>
            <a:off x="320040" y="4773168"/>
            <a:ext cx="36576" cy="256032"/>
          </a:xfrm>
          <a:prstGeom prst="rect">
            <a:avLst/>
          </a:prstGeom>
          <a:solidFill>
            <a:srgbClr val="1A3C5E"/>
          </a:solidFill>
          <a:ln/>
        </p:spPr>
      </p:sp>
      <p:sp>
        <p:nvSpPr>
          <p:cNvPr id="28" name="Text 26"/>
          <p:cNvSpPr/>
          <p:nvPr/>
        </p:nvSpPr>
        <p:spPr>
          <a:xfrm>
            <a:off x="438912" y="470001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endroid/qr-code</a:t>
            </a:r>
            <a:endParaRPr lang="en-US" sz="1000" dirty="0"/>
          </a:p>
        </p:txBody>
      </p:sp>
      <p:sp>
        <p:nvSpPr>
          <p:cNvPr id="29" name="Text 27"/>
          <p:cNvSpPr/>
          <p:nvPr/>
        </p:nvSpPr>
        <p:spPr>
          <a:xfrm>
            <a:off x="438912" y="4956048"/>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Generación de códigos QR para PDFs</a:t>
            </a:r>
            <a:endParaRPr lang="en-US" sz="850" dirty="0"/>
          </a:p>
        </p:txBody>
      </p:sp>
      <p:sp>
        <p:nvSpPr>
          <p:cNvPr id="30" name="Shape 28"/>
          <p:cNvSpPr/>
          <p:nvPr/>
        </p:nvSpPr>
        <p:spPr>
          <a:xfrm>
            <a:off x="320040" y="5312664"/>
            <a:ext cx="36576" cy="256032"/>
          </a:xfrm>
          <a:prstGeom prst="rect">
            <a:avLst/>
          </a:prstGeom>
          <a:solidFill>
            <a:srgbClr val="1A3C5E"/>
          </a:solidFill>
          <a:ln/>
        </p:spPr>
      </p:sp>
      <p:sp>
        <p:nvSpPr>
          <p:cNvPr id="31" name="Text 29"/>
          <p:cNvSpPr/>
          <p:nvPr/>
        </p:nvSpPr>
        <p:spPr>
          <a:xfrm>
            <a:off x="438912" y="523951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tightenco/Ziggy</a:t>
            </a:r>
            <a:endParaRPr lang="en-US" sz="1000" dirty="0"/>
          </a:p>
        </p:txBody>
      </p:sp>
      <p:sp>
        <p:nvSpPr>
          <p:cNvPr id="32" name="Text 30"/>
          <p:cNvSpPr/>
          <p:nvPr/>
        </p:nvSpPr>
        <p:spPr>
          <a:xfrm>
            <a:off x="438912" y="5495544"/>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Rutas PHP disponibles en JS</a:t>
            </a:r>
            <a:endParaRPr lang="en-US" sz="850" dirty="0"/>
          </a:p>
        </p:txBody>
      </p:sp>
      <p:sp>
        <p:nvSpPr>
          <p:cNvPr id="33" name="Shape 31"/>
          <p:cNvSpPr/>
          <p:nvPr/>
        </p:nvSpPr>
        <p:spPr>
          <a:xfrm>
            <a:off x="320040" y="5852160"/>
            <a:ext cx="36576" cy="256032"/>
          </a:xfrm>
          <a:prstGeom prst="rect">
            <a:avLst/>
          </a:prstGeom>
          <a:solidFill>
            <a:srgbClr val="1A3C5E"/>
          </a:solidFill>
          <a:ln/>
        </p:spPr>
      </p:sp>
      <p:sp>
        <p:nvSpPr>
          <p:cNvPr id="34" name="Text 32"/>
          <p:cNvSpPr/>
          <p:nvPr/>
        </p:nvSpPr>
        <p:spPr>
          <a:xfrm>
            <a:off x="438912" y="5779008"/>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laravel/wayfinder</a:t>
            </a:r>
            <a:endParaRPr lang="en-US" sz="1000" dirty="0"/>
          </a:p>
        </p:txBody>
      </p:sp>
      <p:sp>
        <p:nvSpPr>
          <p:cNvPr id="35" name="Text 33"/>
          <p:cNvSpPr/>
          <p:nvPr/>
        </p:nvSpPr>
        <p:spPr>
          <a:xfrm>
            <a:off x="438912" y="6035040"/>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Tipado de rutas en TS</a:t>
            </a:r>
            <a:endParaRPr lang="en-US" sz="850" dirty="0"/>
          </a:p>
        </p:txBody>
      </p:sp>
      <p:sp>
        <p:nvSpPr>
          <p:cNvPr id="36" name="Shape 34"/>
          <p:cNvSpPr/>
          <p:nvPr/>
        </p:nvSpPr>
        <p:spPr>
          <a:xfrm>
            <a:off x="4261104" y="960120"/>
            <a:ext cx="3767328" cy="457200"/>
          </a:xfrm>
          <a:prstGeom prst="rect">
            <a:avLst/>
          </a:prstGeom>
          <a:solidFill>
            <a:srgbClr val="2563EB"/>
          </a:solidFill>
          <a:ln/>
        </p:spPr>
      </p:sp>
      <p:sp>
        <p:nvSpPr>
          <p:cNvPr id="37" name="Text 35"/>
          <p:cNvSpPr/>
          <p:nvPr/>
        </p:nvSpPr>
        <p:spPr>
          <a:xfrm>
            <a:off x="4261104" y="960120"/>
            <a:ext cx="376732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 JS</a:t>
            </a:r>
            <a:endParaRPr lang="en-US" sz="1300" dirty="0"/>
          </a:p>
        </p:txBody>
      </p:sp>
      <p:sp>
        <p:nvSpPr>
          <p:cNvPr id="38" name="Shape 36"/>
          <p:cNvSpPr/>
          <p:nvPr/>
        </p:nvSpPr>
        <p:spPr>
          <a:xfrm>
            <a:off x="4261104" y="1417320"/>
            <a:ext cx="3767328" cy="4937760"/>
          </a:xfrm>
          <a:prstGeom prst="rect">
            <a:avLst/>
          </a:prstGeom>
          <a:solidFill>
            <a:srgbClr val="FFFFFF"/>
          </a:solidFill>
          <a:ln/>
        </p:spPr>
      </p:sp>
      <p:sp>
        <p:nvSpPr>
          <p:cNvPr id="39" name="Shape 37"/>
          <p:cNvSpPr/>
          <p:nvPr/>
        </p:nvSpPr>
        <p:spPr>
          <a:xfrm>
            <a:off x="4306824" y="1536192"/>
            <a:ext cx="36576" cy="256032"/>
          </a:xfrm>
          <a:prstGeom prst="rect">
            <a:avLst/>
          </a:prstGeom>
          <a:solidFill>
            <a:srgbClr val="2563EB"/>
          </a:solidFill>
          <a:ln/>
        </p:spPr>
      </p:sp>
      <p:sp>
        <p:nvSpPr>
          <p:cNvPr id="40" name="Text 38"/>
          <p:cNvSpPr/>
          <p:nvPr/>
        </p:nvSpPr>
        <p:spPr>
          <a:xfrm>
            <a:off x="4425696" y="146304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Vue 3 (Composition API)</a:t>
            </a:r>
            <a:endParaRPr lang="en-US" sz="1000" dirty="0"/>
          </a:p>
        </p:txBody>
      </p:sp>
      <p:sp>
        <p:nvSpPr>
          <p:cNvPr id="41" name="Text 39"/>
          <p:cNvSpPr/>
          <p:nvPr/>
        </p:nvSpPr>
        <p:spPr>
          <a:xfrm>
            <a:off x="4425696" y="171907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Componentes reactivos</a:t>
            </a:r>
            <a:endParaRPr lang="en-US" sz="850" dirty="0"/>
          </a:p>
        </p:txBody>
      </p:sp>
      <p:sp>
        <p:nvSpPr>
          <p:cNvPr id="42" name="Shape 40"/>
          <p:cNvSpPr/>
          <p:nvPr/>
        </p:nvSpPr>
        <p:spPr>
          <a:xfrm>
            <a:off x="4306824" y="2075688"/>
            <a:ext cx="36576" cy="256032"/>
          </a:xfrm>
          <a:prstGeom prst="rect">
            <a:avLst/>
          </a:prstGeom>
          <a:solidFill>
            <a:srgbClr val="2563EB"/>
          </a:solidFill>
          <a:ln/>
        </p:spPr>
      </p:sp>
      <p:sp>
        <p:nvSpPr>
          <p:cNvPr id="43" name="Text 41"/>
          <p:cNvSpPr/>
          <p:nvPr/>
        </p:nvSpPr>
        <p:spPr>
          <a:xfrm>
            <a:off x="4425696" y="200253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@inertiajs/vue3</a:t>
            </a:r>
            <a:endParaRPr lang="en-US" sz="1000" dirty="0"/>
          </a:p>
        </p:txBody>
      </p:sp>
      <p:sp>
        <p:nvSpPr>
          <p:cNvPr id="44" name="Text 42"/>
          <p:cNvSpPr/>
          <p:nvPr/>
        </p:nvSpPr>
        <p:spPr>
          <a:xfrm>
            <a:off x="4425696" y="2258568"/>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SPA sin API REST explícita</a:t>
            </a:r>
            <a:endParaRPr lang="en-US" sz="850" dirty="0"/>
          </a:p>
        </p:txBody>
      </p:sp>
      <p:sp>
        <p:nvSpPr>
          <p:cNvPr id="45" name="Shape 43"/>
          <p:cNvSpPr/>
          <p:nvPr/>
        </p:nvSpPr>
        <p:spPr>
          <a:xfrm>
            <a:off x="4306824" y="2615184"/>
            <a:ext cx="36576" cy="256032"/>
          </a:xfrm>
          <a:prstGeom prst="rect">
            <a:avLst/>
          </a:prstGeom>
          <a:solidFill>
            <a:srgbClr val="2563EB"/>
          </a:solidFill>
          <a:ln/>
        </p:spPr>
      </p:sp>
      <p:sp>
        <p:nvSpPr>
          <p:cNvPr id="46" name="Text 44"/>
          <p:cNvSpPr/>
          <p:nvPr/>
        </p:nvSpPr>
        <p:spPr>
          <a:xfrm>
            <a:off x="4425696" y="254203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Tailwind CSS v4</a:t>
            </a:r>
            <a:endParaRPr lang="en-US" sz="1000" dirty="0"/>
          </a:p>
        </p:txBody>
      </p:sp>
      <p:sp>
        <p:nvSpPr>
          <p:cNvPr id="47" name="Text 45"/>
          <p:cNvSpPr/>
          <p:nvPr/>
        </p:nvSpPr>
        <p:spPr>
          <a:xfrm>
            <a:off x="4425696" y="2798064"/>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Utilidades CSS atómicas</a:t>
            </a:r>
            <a:endParaRPr lang="en-US" sz="850" dirty="0"/>
          </a:p>
        </p:txBody>
      </p:sp>
      <p:sp>
        <p:nvSpPr>
          <p:cNvPr id="48" name="Shape 46"/>
          <p:cNvSpPr/>
          <p:nvPr/>
        </p:nvSpPr>
        <p:spPr>
          <a:xfrm>
            <a:off x="4306824" y="3154680"/>
            <a:ext cx="36576" cy="256032"/>
          </a:xfrm>
          <a:prstGeom prst="rect">
            <a:avLst/>
          </a:prstGeom>
          <a:solidFill>
            <a:srgbClr val="2563EB"/>
          </a:solidFill>
          <a:ln/>
        </p:spPr>
      </p:sp>
      <p:sp>
        <p:nvSpPr>
          <p:cNvPr id="49" name="Text 47"/>
          <p:cNvSpPr/>
          <p:nvPr/>
        </p:nvSpPr>
        <p:spPr>
          <a:xfrm>
            <a:off x="4425696" y="3081528"/>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Reka-UI</a:t>
            </a:r>
            <a:endParaRPr lang="en-US" sz="1000" dirty="0"/>
          </a:p>
        </p:txBody>
      </p:sp>
      <p:sp>
        <p:nvSpPr>
          <p:cNvPr id="50" name="Text 48"/>
          <p:cNvSpPr/>
          <p:nvPr/>
        </p:nvSpPr>
        <p:spPr>
          <a:xfrm>
            <a:off x="4425696" y="3337560"/>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Biblioteca de componentes accesibles</a:t>
            </a:r>
            <a:endParaRPr lang="en-US" sz="850" dirty="0"/>
          </a:p>
        </p:txBody>
      </p:sp>
      <p:sp>
        <p:nvSpPr>
          <p:cNvPr id="51" name="Shape 49"/>
          <p:cNvSpPr/>
          <p:nvPr/>
        </p:nvSpPr>
        <p:spPr>
          <a:xfrm>
            <a:off x="4306824" y="3694176"/>
            <a:ext cx="36576" cy="256032"/>
          </a:xfrm>
          <a:prstGeom prst="rect">
            <a:avLst/>
          </a:prstGeom>
          <a:solidFill>
            <a:srgbClr val="2563EB"/>
          </a:solidFill>
          <a:ln/>
        </p:spPr>
      </p:sp>
      <p:sp>
        <p:nvSpPr>
          <p:cNvPr id="52" name="Text 50"/>
          <p:cNvSpPr/>
          <p:nvPr/>
        </p:nvSpPr>
        <p:spPr>
          <a:xfrm>
            <a:off x="4425696" y="3621024"/>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Pinia</a:t>
            </a:r>
            <a:endParaRPr lang="en-US" sz="1000" dirty="0"/>
          </a:p>
        </p:txBody>
      </p:sp>
      <p:sp>
        <p:nvSpPr>
          <p:cNvPr id="53" name="Text 51"/>
          <p:cNvSpPr/>
          <p:nvPr/>
        </p:nvSpPr>
        <p:spPr>
          <a:xfrm>
            <a:off x="4425696" y="3877056"/>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Gestión de estado global</a:t>
            </a:r>
            <a:endParaRPr lang="en-US" sz="850" dirty="0"/>
          </a:p>
        </p:txBody>
      </p:sp>
      <p:sp>
        <p:nvSpPr>
          <p:cNvPr id="54" name="Shape 52"/>
          <p:cNvSpPr/>
          <p:nvPr/>
        </p:nvSpPr>
        <p:spPr>
          <a:xfrm>
            <a:off x="4306824" y="4233672"/>
            <a:ext cx="36576" cy="256032"/>
          </a:xfrm>
          <a:prstGeom prst="rect">
            <a:avLst/>
          </a:prstGeom>
          <a:solidFill>
            <a:srgbClr val="2563EB"/>
          </a:solidFill>
          <a:ln/>
        </p:spPr>
      </p:sp>
      <p:sp>
        <p:nvSpPr>
          <p:cNvPr id="55" name="Text 53"/>
          <p:cNvSpPr/>
          <p:nvPr/>
        </p:nvSpPr>
        <p:spPr>
          <a:xfrm>
            <a:off x="4425696" y="416052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vue-select</a:t>
            </a:r>
            <a:endParaRPr lang="en-US" sz="1000" dirty="0"/>
          </a:p>
        </p:txBody>
      </p:sp>
      <p:sp>
        <p:nvSpPr>
          <p:cNvPr id="56" name="Text 54"/>
          <p:cNvSpPr/>
          <p:nvPr/>
        </p:nvSpPr>
        <p:spPr>
          <a:xfrm>
            <a:off x="4425696" y="441655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Selects dinámicos con búsqueda</a:t>
            </a:r>
            <a:endParaRPr lang="en-US" sz="850" dirty="0"/>
          </a:p>
        </p:txBody>
      </p:sp>
      <p:sp>
        <p:nvSpPr>
          <p:cNvPr id="57" name="Shape 55"/>
          <p:cNvSpPr/>
          <p:nvPr/>
        </p:nvSpPr>
        <p:spPr>
          <a:xfrm>
            <a:off x="4306824" y="4773168"/>
            <a:ext cx="36576" cy="256032"/>
          </a:xfrm>
          <a:prstGeom prst="rect">
            <a:avLst/>
          </a:prstGeom>
          <a:solidFill>
            <a:srgbClr val="2563EB"/>
          </a:solidFill>
          <a:ln/>
        </p:spPr>
      </p:sp>
      <p:sp>
        <p:nvSpPr>
          <p:cNvPr id="58" name="Text 56"/>
          <p:cNvSpPr/>
          <p:nvPr/>
        </p:nvSpPr>
        <p:spPr>
          <a:xfrm>
            <a:off x="4425696" y="470001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Chart.js</a:t>
            </a:r>
            <a:endParaRPr lang="en-US" sz="1000" dirty="0"/>
          </a:p>
        </p:txBody>
      </p:sp>
      <p:sp>
        <p:nvSpPr>
          <p:cNvPr id="59" name="Text 57"/>
          <p:cNvSpPr/>
          <p:nvPr/>
        </p:nvSpPr>
        <p:spPr>
          <a:xfrm>
            <a:off x="4425696" y="4956048"/>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Gráficas en dashboards admin/superadmin</a:t>
            </a:r>
            <a:endParaRPr lang="en-US" sz="850" dirty="0"/>
          </a:p>
        </p:txBody>
      </p:sp>
      <p:sp>
        <p:nvSpPr>
          <p:cNvPr id="60" name="Shape 58"/>
          <p:cNvSpPr/>
          <p:nvPr/>
        </p:nvSpPr>
        <p:spPr>
          <a:xfrm>
            <a:off x="4306824" y="5312664"/>
            <a:ext cx="36576" cy="256032"/>
          </a:xfrm>
          <a:prstGeom prst="rect">
            <a:avLst/>
          </a:prstGeom>
          <a:solidFill>
            <a:srgbClr val="2563EB"/>
          </a:solidFill>
          <a:ln/>
        </p:spPr>
      </p:sp>
      <p:sp>
        <p:nvSpPr>
          <p:cNvPr id="61" name="Text 59"/>
          <p:cNvSpPr/>
          <p:nvPr/>
        </p:nvSpPr>
        <p:spPr>
          <a:xfrm>
            <a:off x="4425696" y="523951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pdfjs-dist</a:t>
            </a:r>
            <a:endParaRPr lang="en-US" sz="1000" dirty="0"/>
          </a:p>
        </p:txBody>
      </p:sp>
      <p:sp>
        <p:nvSpPr>
          <p:cNvPr id="62" name="Text 60"/>
          <p:cNvSpPr/>
          <p:nvPr/>
        </p:nvSpPr>
        <p:spPr>
          <a:xfrm>
            <a:off x="4425696" y="5495544"/>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Visor de PDF integrado en el navegador</a:t>
            </a:r>
            <a:endParaRPr lang="en-US" sz="850" dirty="0"/>
          </a:p>
        </p:txBody>
      </p:sp>
      <p:sp>
        <p:nvSpPr>
          <p:cNvPr id="63" name="Shape 61"/>
          <p:cNvSpPr/>
          <p:nvPr/>
        </p:nvSpPr>
        <p:spPr>
          <a:xfrm>
            <a:off x="4306824" y="5852160"/>
            <a:ext cx="36576" cy="256032"/>
          </a:xfrm>
          <a:prstGeom prst="rect">
            <a:avLst/>
          </a:prstGeom>
          <a:solidFill>
            <a:srgbClr val="2563EB"/>
          </a:solidFill>
          <a:ln/>
        </p:spPr>
      </p:sp>
      <p:sp>
        <p:nvSpPr>
          <p:cNvPr id="64" name="Text 62"/>
          <p:cNvSpPr/>
          <p:nvPr/>
        </p:nvSpPr>
        <p:spPr>
          <a:xfrm>
            <a:off x="4425696" y="5779008"/>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SweetAlert2</a:t>
            </a:r>
            <a:endParaRPr lang="en-US" sz="1000" dirty="0"/>
          </a:p>
        </p:txBody>
      </p:sp>
      <p:sp>
        <p:nvSpPr>
          <p:cNvPr id="65" name="Text 63"/>
          <p:cNvSpPr/>
          <p:nvPr/>
        </p:nvSpPr>
        <p:spPr>
          <a:xfrm>
            <a:off x="4425696" y="6035040"/>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Modales de confirmación</a:t>
            </a:r>
            <a:endParaRPr lang="en-US" sz="850" dirty="0"/>
          </a:p>
        </p:txBody>
      </p:sp>
      <p:sp>
        <p:nvSpPr>
          <p:cNvPr id="66" name="Shape 64"/>
          <p:cNvSpPr/>
          <p:nvPr/>
        </p:nvSpPr>
        <p:spPr>
          <a:xfrm>
            <a:off x="8247888" y="960120"/>
            <a:ext cx="3767328" cy="457200"/>
          </a:xfrm>
          <a:prstGeom prst="rect">
            <a:avLst/>
          </a:prstGeom>
          <a:solidFill>
            <a:srgbClr val="0D9488"/>
          </a:solidFill>
          <a:ln/>
        </p:spPr>
      </p:sp>
      <p:sp>
        <p:nvSpPr>
          <p:cNvPr id="67" name="Text 65"/>
          <p:cNvSpPr/>
          <p:nvPr/>
        </p:nvSpPr>
        <p:spPr>
          <a:xfrm>
            <a:off x="8247888" y="960120"/>
            <a:ext cx="3767328"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Infraestructura</a:t>
            </a:r>
            <a:endParaRPr lang="en-US" sz="1300" dirty="0"/>
          </a:p>
        </p:txBody>
      </p:sp>
      <p:sp>
        <p:nvSpPr>
          <p:cNvPr id="68" name="Shape 66"/>
          <p:cNvSpPr/>
          <p:nvPr/>
        </p:nvSpPr>
        <p:spPr>
          <a:xfrm>
            <a:off x="8247888" y="1417320"/>
            <a:ext cx="3767328" cy="4937760"/>
          </a:xfrm>
          <a:prstGeom prst="rect">
            <a:avLst/>
          </a:prstGeom>
          <a:solidFill>
            <a:srgbClr val="FFFFFF"/>
          </a:solidFill>
          <a:ln/>
        </p:spPr>
      </p:sp>
      <p:sp>
        <p:nvSpPr>
          <p:cNvPr id="69" name="Shape 67"/>
          <p:cNvSpPr/>
          <p:nvPr/>
        </p:nvSpPr>
        <p:spPr>
          <a:xfrm>
            <a:off x="8293608" y="1536192"/>
            <a:ext cx="36576" cy="256032"/>
          </a:xfrm>
          <a:prstGeom prst="rect">
            <a:avLst/>
          </a:prstGeom>
          <a:solidFill>
            <a:srgbClr val="0D9488"/>
          </a:solidFill>
          <a:ln/>
        </p:spPr>
      </p:sp>
      <p:sp>
        <p:nvSpPr>
          <p:cNvPr id="70" name="Text 68"/>
          <p:cNvSpPr/>
          <p:nvPr/>
        </p:nvSpPr>
        <p:spPr>
          <a:xfrm>
            <a:off x="8412480" y="146304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MySQL</a:t>
            </a:r>
            <a:endParaRPr lang="en-US" sz="1000" dirty="0"/>
          </a:p>
        </p:txBody>
      </p:sp>
      <p:sp>
        <p:nvSpPr>
          <p:cNvPr id="71" name="Text 69"/>
          <p:cNvSpPr/>
          <p:nvPr/>
        </p:nvSpPr>
        <p:spPr>
          <a:xfrm>
            <a:off x="8412480" y="171907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Motor de base de datos relacional</a:t>
            </a:r>
            <a:endParaRPr lang="en-US" sz="850" dirty="0"/>
          </a:p>
        </p:txBody>
      </p:sp>
      <p:sp>
        <p:nvSpPr>
          <p:cNvPr id="72" name="Shape 70"/>
          <p:cNvSpPr/>
          <p:nvPr/>
        </p:nvSpPr>
        <p:spPr>
          <a:xfrm>
            <a:off x="8293608" y="2075688"/>
            <a:ext cx="36576" cy="256032"/>
          </a:xfrm>
          <a:prstGeom prst="rect">
            <a:avLst/>
          </a:prstGeom>
          <a:solidFill>
            <a:srgbClr val="0D9488"/>
          </a:solidFill>
          <a:ln/>
        </p:spPr>
      </p:sp>
      <p:sp>
        <p:nvSpPr>
          <p:cNvPr id="73" name="Text 71"/>
          <p:cNvSpPr/>
          <p:nvPr/>
        </p:nvSpPr>
        <p:spPr>
          <a:xfrm>
            <a:off x="8412480" y="200253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Session driver: database (tabla sessions)</a:t>
            </a:r>
            <a:endParaRPr lang="en-US" sz="1000" dirty="0"/>
          </a:p>
        </p:txBody>
      </p:sp>
      <p:sp>
        <p:nvSpPr>
          <p:cNvPr id="74" name="Shape 72"/>
          <p:cNvSpPr/>
          <p:nvPr/>
        </p:nvSpPr>
        <p:spPr>
          <a:xfrm>
            <a:off x="8293608" y="2615184"/>
            <a:ext cx="36576" cy="256032"/>
          </a:xfrm>
          <a:prstGeom prst="rect">
            <a:avLst/>
          </a:prstGeom>
          <a:solidFill>
            <a:srgbClr val="0D9488"/>
          </a:solidFill>
          <a:ln/>
        </p:spPr>
      </p:sp>
      <p:sp>
        <p:nvSpPr>
          <p:cNvPr id="75" name="Text 73"/>
          <p:cNvSpPr/>
          <p:nvPr/>
        </p:nvSpPr>
        <p:spPr>
          <a:xfrm>
            <a:off x="8412480" y="254203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Cache driver: database (tabla cache)</a:t>
            </a:r>
            <a:endParaRPr lang="en-US" sz="1000" dirty="0"/>
          </a:p>
        </p:txBody>
      </p:sp>
      <p:sp>
        <p:nvSpPr>
          <p:cNvPr id="76" name="Shape 74"/>
          <p:cNvSpPr/>
          <p:nvPr/>
        </p:nvSpPr>
        <p:spPr>
          <a:xfrm>
            <a:off x="8293608" y="3154680"/>
            <a:ext cx="36576" cy="256032"/>
          </a:xfrm>
          <a:prstGeom prst="rect">
            <a:avLst/>
          </a:prstGeom>
          <a:solidFill>
            <a:srgbClr val="0D9488"/>
          </a:solidFill>
          <a:ln/>
        </p:spPr>
      </p:sp>
      <p:sp>
        <p:nvSpPr>
          <p:cNvPr id="77" name="Text 75"/>
          <p:cNvSpPr/>
          <p:nvPr/>
        </p:nvSpPr>
        <p:spPr>
          <a:xfrm>
            <a:off x="8412480" y="3081528"/>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Queue driver: database (tabla jobs)</a:t>
            </a:r>
            <a:endParaRPr lang="en-US" sz="1000" dirty="0"/>
          </a:p>
        </p:txBody>
      </p:sp>
      <p:sp>
        <p:nvSpPr>
          <p:cNvPr id="78" name="Shape 76"/>
          <p:cNvSpPr/>
          <p:nvPr/>
        </p:nvSpPr>
        <p:spPr>
          <a:xfrm>
            <a:off x="8293608" y="3694176"/>
            <a:ext cx="36576" cy="256032"/>
          </a:xfrm>
          <a:prstGeom prst="rect">
            <a:avLst/>
          </a:prstGeom>
          <a:solidFill>
            <a:srgbClr val="0D9488"/>
          </a:solidFill>
          <a:ln/>
        </p:spPr>
      </p:sp>
      <p:sp>
        <p:nvSpPr>
          <p:cNvPr id="79" name="Text 77"/>
          <p:cNvSpPr/>
          <p:nvPr/>
        </p:nvSpPr>
        <p:spPr>
          <a:xfrm>
            <a:off x="8412480" y="3621024"/>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Brevo SMTP</a:t>
            </a:r>
            <a:endParaRPr lang="en-US" sz="1000" dirty="0"/>
          </a:p>
        </p:txBody>
      </p:sp>
      <p:sp>
        <p:nvSpPr>
          <p:cNvPr id="80" name="Text 78"/>
          <p:cNvSpPr/>
          <p:nvPr/>
        </p:nvSpPr>
        <p:spPr>
          <a:xfrm>
            <a:off x="8412480" y="3877056"/>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smtp-relay.brevo.com:2525</a:t>
            </a:r>
            <a:endParaRPr lang="en-US" sz="850" dirty="0"/>
          </a:p>
        </p:txBody>
      </p:sp>
      <p:sp>
        <p:nvSpPr>
          <p:cNvPr id="81" name="Shape 79"/>
          <p:cNvSpPr/>
          <p:nvPr/>
        </p:nvSpPr>
        <p:spPr>
          <a:xfrm>
            <a:off x="8293608" y="4233672"/>
            <a:ext cx="36576" cy="256032"/>
          </a:xfrm>
          <a:prstGeom prst="rect">
            <a:avLst/>
          </a:prstGeom>
          <a:solidFill>
            <a:srgbClr val="0D9488"/>
          </a:solidFill>
          <a:ln/>
        </p:spPr>
      </p:sp>
      <p:sp>
        <p:nvSpPr>
          <p:cNvPr id="82" name="Text 80"/>
          <p:cNvSpPr/>
          <p:nvPr/>
        </p:nvSpPr>
        <p:spPr>
          <a:xfrm>
            <a:off x="8412480" y="4160520"/>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Vite</a:t>
            </a:r>
            <a:endParaRPr lang="en-US" sz="1000" dirty="0"/>
          </a:p>
        </p:txBody>
      </p:sp>
      <p:sp>
        <p:nvSpPr>
          <p:cNvPr id="83" name="Text 81"/>
          <p:cNvSpPr/>
          <p:nvPr/>
        </p:nvSpPr>
        <p:spPr>
          <a:xfrm>
            <a:off x="8412480" y="4416552"/>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Bundler y HMR para desarrollo</a:t>
            </a:r>
            <a:endParaRPr lang="en-US" sz="850" dirty="0"/>
          </a:p>
        </p:txBody>
      </p:sp>
      <p:sp>
        <p:nvSpPr>
          <p:cNvPr id="84" name="Shape 82"/>
          <p:cNvSpPr/>
          <p:nvPr/>
        </p:nvSpPr>
        <p:spPr>
          <a:xfrm>
            <a:off x="8293608" y="4773168"/>
            <a:ext cx="36576" cy="256032"/>
          </a:xfrm>
          <a:prstGeom prst="rect">
            <a:avLst/>
          </a:prstGeom>
          <a:solidFill>
            <a:srgbClr val="0D9488"/>
          </a:solidFill>
          <a:ln/>
        </p:spPr>
      </p:sp>
      <p:sp>
        <p:nvSpPr>
          <p:cNvPr id="85" name="Text 83"/>
          <p:cNvSpPr/>
          <p:nvPr/>
        </p:nvSpPr>
        <p:spPr>
          <a:xfrm>
            <a:off x="8412480" y="4700016"/>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Playwright</a:t>
            </a:r>
            <a:endParaRPr lang="en-US" sz="1000" dirty="0"/>
          </a:p>
        </p:txBody>
      </p:sp>
      <p:sp>
        <p:nvSpPr>
          <p:cNvPr id="86" name="Text 84"/>
          <p:cNvSpPr/>
          <p:nvPr/>
        </p:nvSpPr>
        <p:spPr>
          <a:xfrm>
            <a:off x="8412480" y="4956048"/>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Suite de pruebas E2E</a:t>
            </a:r>
            <a:endParaRPr lang="en-US" sz="850" dirty="0"/>
          </a:p>
        </p:txBody>
      </p:sp>
      <p:sp>
        <p:nvSpPr>
          <p:cNvPr id="87" name="Shape 85"/>
          <p:cNvSpPr/>
          <p:nvPr/>
        </p:nvSpPr>
        <p:spPr>
          <a:xfrm>
            <a:off x="8293608" y="5312664"/>
            <a:ext cx="36576" cy="256032"/>
          </a:xfrm>
          <a:prstGeom prst="rect">
            <a:avLst/>
          </a:prstGeom>
          <a:solidFill>
            <a:srgbClr val="0D9488"/>
          </a:solidFill>
          <a:ln/>
        </p:spPr>
      </p:sp>
      <p:sp>
        <p:nvSpPr>
          <p:cNvPr id="88" name="Text 86"/>
          <p:cNvSpPr/>
          <p:nvPr/>
        </p:nvSpPr>
        <p:spPr>
          <a:xfrm>
            <a:off x="8412480" y="5239512"/>
            <a:ext cx="3474720" cy="274320"/>
          </a:xfrm>
          <a:prstGeom prst="rect">
            <a:avLst/>
          </a:prstGeom>
          <a:noFill/>
          <a:ln/>
        </p:spPr>
        <p:txBody>
          <a:bodyPr wrap="square"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Laragon</a:t>
            </a:r>
            <a:endParaRPr lang="en-US" sz="1000" dirty="0"/>
          </a:p>
        </p:txBody>
      </p:sp>
      <p:sp>
        <p:nvSpPr>
          <p:cNvPr id="89" name="Text 87"/>
          <p:cNvSpPr/>
          <p:nvPr/>
        </p:nvSpPr>
        <p:spPr>
          <a:xfrm>
            <a:off x="8412480" y="5495544"/>
            <a:ext cx="3474720" cy="228600"/>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Entorno de desarrollo local (Windows)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Arquitectura por Capas del Sistema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6537960" cy="749808"/>
          </a:xfrm>
          <a:prstGeom prst="rect">
            <a:avLst/>
          </a:prstGeom>
          <a:solidFill>
            <a:srgbClr val="2563EB"/>
          </a:solidFill>
          <a:ln/>
          <a:effectLst>
            <a:outerShdw sx="100000" sy="100000" kx="0" ky="0" algn="bl" rotWithShape="0" blurRad="38100" dist="12700" dir="16200000">
              <a:srgbClr val="000000">
                <a:alpha val="75000"/>
              </a:srgbClr>
            </a:outerShdw>
          </a:effectLst>
        </p:spPr>
      </p:sp>
      <p:sp>
        <p:nvSpPr>
          <p:cNvPr id="7" name="Text 5"/>
          <p:cNvSpPr/>
          <p:nvPr/>
        </p:nvSpPr>
        <p:spPr>
          <a:xfrm>
            <a:off x="457200" y="1051560"/>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 DE PRESENTACIÓN</a:t>
            </a:r>
            <a:endParaRPr lang="en-US" sz="1100" dirty="0"/>
          </a:p>
        </p:txBody>
      </p:sp>
      <p:sp>
        <p:nvSpPr>
          <p:cNvPr id="8" name="Text 6"/>
          <p:cNvSpPr/>
          <p:nvPr/>
        </p:nvSpPr>
        <p:spPr>
          <a:xfrm>
            <a:off x="457200" y="1344168"/>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resources/js/pages/  —  +40 páginas Vue 3 por rol de usuario</a:t>
            </a:r>
            <a:endParaRPr lang="en-US" sz="950" dirty="0"/>
          </a:p>
        </p:txBody>
      </p:sp>
      <p:sp>
        <p:nvSpPr>
          <p:cNvPr id="9" name="Text 7"/>
          <p:cNvSpPr/>
          <p:nvPr/>
        </p:nvSpPr>
        <p:spPr>
          <a:xfrm>
            <a:off x="3310128" y="1783080"/>
            <a:ext cx="457200" cy="128016"/>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10" name="Shape 8"/>
          <p:cNvSpPr/>
          <p:nvPr/>
        </p:nvSpPr>
        <p:spPr>
          <a:xfrm>
            <a:off x="320040" y="1892808"/>
            <a:ext cx="6537960" cy="749808"/>
          </a:xfrm>
          <a:prstGeom prst="rect">
            <a:avLst/>
          </a:prstGeom>
          <a:solidFill>
            <a:srgbClr val="0891B2"/>
          </a:solidFill>
          <a:ln/>
          <a:effectLst>
            <a:outerShdw sx="100000" sy="100000" kx="0" ky="0" algn="bl" rotWithShape="0" blurRad="38100" dist="12700" dir="16200000">
              <a:srgbClr val="000000">
                <a:alpha val="75000"/>
              </a:srgbClr>
            </a:outerShdw>
          </a:effectLst>
        </p:spPr>
      </p:sp>
      <p:sp>
        <p:nvSpPr>
          <p:cNvPr id="11" name="Text 9"/>
          <p:cNvSpPr/>
          <p:nvPr/>
        </p:nvSpPr>
        <p:spPr>
          <a:xfrm>
            <a:off x="457200" y="1938528"/>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 DE RUTAS / MIDDLEWARE</a:t>
            </a:r>
            <a:endParaRPr lang="en-US" sz="1100" dirty="0"/>
          </a:p>
        </p:txBody>
      </p:sp>
      <p:sp>
        <p:nvSpPr>
          <p:cNvPr id="12" name="Text 10"/>
          <p:cNvSpPr/>
          <p:nvPr/>
        </p:nvSpPr>
        <p:spPr>
          <a:xfrm>
            <a:off x="457200" y="2231136"/>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routes/web.php, api.php, settings.php  —  Ziggy expone rutas al frontend via @routes</a:t>
            </a:r>
            <a:endParaRPr lang="en-US" sz="950" dirty="0"/>
          </a:p>
        </p:txBody>
      </p:sp>
      <p:sp>
        <p:nvSpPr>
          <p:cNvPr id="13" name="Text 11"/>
          <p:cNvSpPr/>
          <p:nvPr/>
        </p:nvSpPr>
        <p:spPr>
          <a:xfrm>
            <a:off x="3310128" y="2670048"/>
            <a:ext cx="457200" cy="128016"/>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14" name="Shape 12"/>
          <p:cNvSpPr/>
          <p:nvPr/>
        </p:nvSpPr>
        <p:spPr>
          <a:xfrm>
            <a:off x="320040" y="2779776"/>
            <a:ext cx="6537960" cy="749808"/>
          </a:xfrm>
          <a:prstGeom prst="rect">
            <a:avLst/>
          </a:prstGeom>
          <a:solidFill>
            <a:srgbClr val="0D9488"/>
          </a:solidFill>
          <a:ln/>
          <a:effectLst>
            <a:outerShdw sx="100000" sy="100000" kx="0" ky="0" algn="bl" rotWithShape="0" blurRad="38100" dist="12700" dir="16200000">
              <a:srgbClr val="000000">
                <a:alpha val="75000"/>
              </a:srgbClr>
            </a:outerShdw>
          </a:effectLst>
        </p:spPr>
      </p:sp>
      <p:sp>
        <p:nvSpPr>
          <p:cNvPr id="15" name="Text 13"/>
          <p:cNvSpPr/>
          <p:nvPr/>
        </p:nvSpPr>
        <p:spPr>
          <a:xfrm>
            <a:off x="457200" y="2825496"/>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 DE CONTROLADORES</a:t>
            </a:r>
            <a:endParaRPr lang="en-US" sz="1100" dirty="0"/>
          </a:p>
        </p:txBody>
      </p:sp>
      <p:sp>
        <p:nvSpPr>
          <p:cNvPr id="16" name="Text 14"/>
          <p:cNvSpPr/>
          <p:nvPr/>
        </p:nvSpPr>
        <p:spPr>
          <a:xfrm>
            <a:off x="457200" y="3118104"/>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app/Http/Controllers/{Admin,Teacher,Evaluator,SuperAdmin,Public,Catalog,Security}  —  18 controladores</a:t>
            </a:r>
            <a:endParaRPr lang="en-US" sz="950" dirty="0"/>
          </a:p>
        </p:txBody>
      </p:sp>
      <p:sp>
        <p:nvSpPr>
          <p:cNvPr id="17" name="Text 15"/>
          <p:cNvSpPr/>
          <p:nvPr/>
        </p:nvSpPr>
        <p:spPr>
          <a:xfrm>
            <a:off x="3310128" y="3557016"/>
            <a:ext cx="457200" cy="128016"/>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18" name="Shape 16"/>
          <p:cNvSpPr/>
          <p:nvPr/>
        </p:nvSpPr>
        <p:spPr>
          <a:xfrm>
            <a:off x="320040" y="3666744"/>
            <a:ext cx="6537960" cy="749808"/>
          </a:xfrm>
          <a:prstGeom prst="rect">
            <a:avLst/>
          </a:prstGeom>
          <a:solidFill>
            <a:srgbClr val="059669"/>
          </a:solidFill>
          <a:ln/>
          <a:effectLst>
            <a:outerShdw sx="100000" sy="100000" kx="0" ky="0" algn="bl" rotWithShape="0" blurRad="38100" dist="12700" dir="16200000">
              <a:srgbClr val="000000">
                <a:alpha val="75000"/>
              </a:srgbClr>
            </a:outerShdw>
          </a:effectLst>
        </p:spPr>
      </p:sp>
      <p:sp>
        <p:nvSpPr>
          <p:cNvPr id="19" name="Text 17"/>
          <p:cNvSpPr/>
          <p:nvPr/>
        </p:nvSpPr>
        <p:spPr>
          <a:xfrm>
            <a:off x="457200" y="3712464"/>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 DE SERVICIOS (Business Logic)</a:t>
            </a:r>
            <a:endParaRPr lang="en-US" sz="1100" dirty="0"/>
          </a:p>
        </p:txBody>
      </p:sp>
      <p:sp>
        <p:nvSpPr>
          <p:cNvPr id="20" name="Text 18"/>
          <p:cNvSpPr/>
          <p:nvPr/>
        </p:nvSpPr>
        <p:spPr>
          <a:xfrm>
            <a:off x="457200" y="4005072"/>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app/Services/  —  10 clases: ApplicationService, PdfGenerationService, NotificationService, etc.</a:t>
            </a:r>
            <a:endParaRPr lang="en-US" sz="950" dirty="0"/>
          </a:p>
        </p:txBody>
      </p:sp>
      <p:sp>
        <p:nvSpPr>
          <p:cNvPr id="21" name="Text 19"/>
          <p:cNvSpPr/>
          <p:nvPr/>
        </p:nvSpPr>
        <p:spPr>
          <a:xfrm>
            <a:off x="3310128" y="4443984"/>
            <a:ext cx="457200" cy="128016"/>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22" name="Shape 20"/>
          <p:cNvSpPr/>
          <p:nvPr/>
        </p:nvSpPr>
        <p:spPr>
          <a:xfrm>
            <a:off x="320040" y="4553712"/>
            <a:ext cx="6537960" cy="749808"/>
          </a:xfrm>
          <a:prstGeom prst="rect">
            <a:avLst/>
          </a:prstGeom>
          <a:solidFill>
            <a:srgbClr val="CA8A04"/>
          </a:solidFill>
          <a:ln/>
          <a:effectLst>
            <a:outerShdw sx="100000" sy="100000" kx="0" ky="0" algn="bl" rotWithShape="0" blurRad="38100" dist="12700" dir="16200000">
              <a:srgbClr val="000000">
                <a:alpha val="75000"/>
              </a:srgbClr>
            </a:outerShdw>
          </a:effectLst>
        </p:spPr>
      </p:sp>
      <p:sp>
        <p:nvSpPr>
          <p:cNvPr id="23" name="Text 21"/>
          <p:cNvSpPr/>
          <p:nvPr/>
        </p:nvSpPr>
        <p:spPr>
          <a:xfrm>
            <a:off x="457200" y="4599432"/>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 DE MODELOS (Eloquent ORM)</a:t>
            </a:r>
            <a:endParaRPr lang="en-US" sz="1100" dirty="0"/>
          </a:p>
        </p:txBody>
      </p:sp>
      <p:sp>
        <p:nvSpPr>
          <p:cNvPr id="24" name="Text 22"/>
          <p:cNvSpPr/>
          <p:nvPr/>
        </p:nvSpPr>
        <p:spPr>
          <a:xfrm>
            <a:off x="457200" y="4892040"/>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app/Models/  —  24 modelos con relaciones, scopes, mutators y query builders</a:t>
            </a:r>
            <a:endParaRPr lang="en-US" sz="950" dirty="0"/>
          </a:p>
        </p:txBody>
      </p:sp>
      <p:sp>
        <p:nvSpPr>
          <p:cNvPr id="25" name="Text 23"/>
          <p:cNvSpPr/>
          <p:nvPr/>
        </p:nvSpPr>
        <p:spPr>
          <a:xfrm>
            <a:off x="3310128" y="5330952"/>
            <a:ext cx="457200" cy="128016"/>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26" name="Shape 24"/>
          <p:cNvSpPr/>
          <p:nvPr/>
        </p:nvSpPr>
        <p:spPr>
          <a:xfrm>
            <a:off x="320040" y="5440680"/>
            <a:ext cx="6537960" cy="749808"/>
          </a:xfrm>
          <a:prstGeom prst="rect">
            <a:avLst/>
          </a:prstGeom>
          <a:solidFill>
            <a:srgbClr val="1A3C5E"/>
          </a:solidFill>
          <a:ln/>
          <a:effectLst>
            <a:outerShdw sx="100000" sy="100000" kx="0" ky="0" algn="bl" rotWithShape="0" blurRad="38100" dist="12700" dir="16200000">
              <a:srgbClr val="000000">
                <a:alpha val="75000"/>
              </a:srgbClr>
            </a:outerShdw>
          </a:effectLst>
        </p:spPr>
      </p:sp>
      <p:sp>
        <p:nvSpPr>
          <p:cNvPr id="27" name="Text 25"/>
          <p:cNvSpPr/>
          <p:nvPr/>
        </p:nvSpPr>
        <p:spPr>
          <a:xfrm>
            <a:off x="457200" y="5486400"/>
            <a:ext cx="640080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INFRAESTRUCTURA (BD + Queue + Cache + Storage)</a:t>
            </a:r>
            <a:endParaRPr lang="en-US" sz="1100" dirty="0"/>
          </a:p>
        </p:txBody>
      </p:sp>
      <p:sp>
        <p:nvSpPr>
          <p:cNvPr id="28" name="Text 26"/>
          <p:cNvSpPr/>
          <p:nvPr/>
        </p:nvSpPr>
        <p:spPr>
          <a:xfrm>
            <a:off x="457200" y="5779008"/>
            <a:ext cx="6400800" cy="347472"/>
          </a:xfrm>
          <a:prstGeom prst="rect">
            <a:avLst/>
          </a:prstGeom>
          <a:noFill/>
          <a:ln/>
        </p:spPr>
        <p:txBody>
          <a:bodyPr wrap="square" rtlCol="0" anchor="ctr"/>
          <a:lstStyle/>
          <a:p>
            <a:pPr indent="0" marL="0">
              <a:buNone/>
            </a:pPr>
            <a:r>
              <a:rPr lang="en-US" sz="950" dirty="0">
                <a:solidFill>
                  <a:srgbClr val="D1FAE5"/>
                </a:solidFill>
                <a:latin typeface="Calibri" pitchFamily="34" charset="0"/>
                <a:ea typeface="Calibri" pitchFamily="34" charset="-122"/>
                <a:cs typeface="Calibri" pitchFamily="34" charset="-120"/>
              </a:rPr>
              <a:t>MySQL  ·  Tabla jobs (Queue)  ·  Tabla sessions  ·  Tabla cache  ·  storage/app/</a:t>
            </a:r>
            <a:endParaRPr lang="en-US" sz="950" dirty="0"/>
          </a:p>
        </p:txBody>
      </p:sp>
      <p:sp>
        <p:nvSpPr>
          <p:cNvPr id="29" name="Text 27"/>
          <p:cNvSpPr/>
          <p:nvPr/>
        </p:nvSpPr>
        <p:spPr>
          <a:xfrm>
            <a:off x="7223760" y="1005840"/>
            <a:ext cx="4800600" cy="384048"/>
          </a:xfrm>
          <a:prstGeom prst="rect">
            <a:avLst/>
          </a:prstGeom>
          <a:noFill/>
          <a:ln/>
        </p:spPr>
        <p:txBody>
          <a:bodyPr wrap="square" rtlCol="0" anchor="ctr"/>
          <a:lstStyle/>
          <a:p>
            <a:pPr indent="0" marL="0">
              <a:buNone/>
            </a:pPr>
            <a:r>
              <a:rPr lang="en-US" sz="1250" b="1" dirty="0">
                <a:solidFill>
                  <a:srgbClr val="1A3C5E"/>
                </a:solidFill>
                <a:latin typeface="Calibri" pitchFamily="34" charset="0"/>
                <a:ea typeface="Calibri" pitchFamily="34" charset="-122"/>
                <a:cs typeface="Calibri" pitchFamily="34" charset="-120"/>
              </a:rPr>
              <a:t>Servicios Transversales</a:t>
            </a:r>
            <a:endParaRPr lang="en-US" sz="1250" dirty="0"/>
          </a:p>
        </p:txBody>
      </p:sp>
      <p:sp>
        <p:nvSpPr>
          <p:cNvPr id="30" name="Shape 28"/>
          <p:cNvSpPr/>
          <p:nvPr/>
        </p:nvSpPr>
        <p:spPr>
          <a:xfrm>
            <a:off x="7223760" y="1481328"/>
            <a:ext cx="2240280" cy="1325880"/>
          </a:xfrm>
          <a:prstGeom prst="roundRect">
            <a:avLst>
              <a:gd name="adj" fmla="val 6897"/>
            </a:avLst>
          </a:prstGeom>
          <a:solidFill>
            <a:srgbClr val="7C3AED"/>
          </a:solidFill>
          <a:ln/>
          <a:effectLst>
            <a:outerShdw sx="100000" sy="100000" kx="0" ky="0" algn="bl" rotWithShape="0" blurRad="50800" dist="25400" dir="16200000">
              <a:srgbClr val="000000">
                <a:alpha val="75000"/>
              </a:srgbClr>
            </a:outerShdw>
          </a:effectLst>
        </p:spPr>
      </p:sp>
      <p:sp>
        <p:nvSpPr>
          <p:cNvPr id="31" name="Text 29"/>
          <p:cNvSpPr/>
          <p:nvPr/>
        </p:nvSpPr>
        <p:spPr>
          <a:xfrm>
            <a:off x="7223760" y="166420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Autenticación</a:t>
            </a:r>
            <a:endParaRPr lang="en-US" sz="1100" dirty="0"/>
          </a:p>
        </p:txBody>
      </p:sp>
      <p:sp>
        <p:nvSpPr>
          <p:cNvPr id="32" name="Text 30"/>
          <p:cNvSpPr/>
          <p:nvPr/>
        </p:nvSpPr>
        <p:spPr>
          <a:xfrm>
            <a:off x="7223760" y="212140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Fortify + 2FA + Email verify</a:t>
            </a:r>
            <a:endParaRPr lang="en-US" sz="950" dirty="0"/>
          </a:p>
        </p:txBody>
      </p:sp>
      <p:sp>
        <p:nvSpPr>
          <p:cNvPr id="33" name="Shape 31"/>
          <p:cNvSpPr/>
          <p:nvPr/>
        </p:nvSpPr>
        <p:spPr>
          <a:xfrm>
            <a:off x="9646920" y="1481328"/>
            <a:ext cx="2240280" cy="1325880"/>
          </a:xfrm>
          <a:prstGeom prst="roundRect">
            <a:avLst>
              <a:gd name="adj" fmla="val 6897"/>
            </a:avLst>
          </a:prstGeom>
          <a:solidFill>
            <a:srgbClr val="2563EB"/>
          </a:solidFill>
          <a:ln/>
          <a:effectLst>
            <a:outerShdw sx="100000" sy="100000" kx="0" ky="0" algn="bl" rotWithShape="0" blurRad="50800" dist="25400" dir="16200000">
              <a:srgbClr val="000000">
                <a:alpha val="75000"/>
              </a:srgbClr>
            </a:outerShdw>
          </a:effectLst>
        </p:spPr>
      </p:sp>
      <p:sp>
        <p:nvSpPr>
          <p:cNvPr id="34" name="Text 32"/>
          <p:cNvSpPr/>
          <p:nvPr/>
        </p:nvSpPr>
        <p:spPr>
          <a:xfrm>
            <a:off x="9646920" y="166420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Autorización</a:t>
            </a:r>
            <a:endParaRPr lang="en-US" sz="1100" dirty="0"/>
          </a:p>
        </p:txBody>
      </p:sp>
      <p:sp>
        <p:nvSpPr>
          <p:cNvPr id="35" name="Text 33"/>
          <p:cNvSpPr/>
          <p:nvPr/>
        </p:nvSpPr>
        <p:spPr>
          <a:xfrm>
            <a:off x="9646920" y="212140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Spatie RBAC + Gate::before()</a:t>
            </a:r>
            <a:endParaRPr lang="en-US" sz="950" dirty="0"/>
          </a:p>
        </p:txBody>
      </p:sp>
      <p:sp>
        <p:nvSpPr>
          <p:cNvPr id="36" name="Shape 34"/>
          <p:cNvSpPr/>
          <p:nvPr/>
        </p:nvSpPr>
        <p:spPr>
          <a:xfrm>
            <a:off x="7223760" y="3035808"/>
            <a:ext cx="2240280" cy="1325880"/>
          </a:xfrm>
          <a:prstGeom prst="roundRect">
            <a:avLst>
              <a:gd name="adj" fmla="val 6897"/>
            </a:avLst>
          </a:prstGeom>
          <a:solidFill>
            <a:srgbClr val="EA580C"/>
          </a:solidFill>
          <a:ln/>
          <a:effectLst>
            <a:outerShdw sx="100000" sy="100000" kx="0" ky="0" algn="bl" rotWithShape="0" blurRad="50800" dist="25400" dir="16200000">
              <a:srgbClr val="000000">
                <a:alpha val="75000"/>
              </a:srgbClr>
            </a:outerShdw>
          </a:effectLst>
        </p:spPr>
      </p:sp>
      <p:sp>
        <p:nvSpPr>
          <p:cNvPr id="37" name="Text 35"/>
          <p:cNvSpPr/>
          <p:nvPr/>
        </p:nvSpPr>
        <p:spPr>
          <a:xfrm>
            <a:off x="7223760" y="321868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Email Queue</a:t>
            </a:r>
            <a:endParaRPr lang="en-US" sz="1100" dirty="0"/>
          </a:p>
        </p:txBody>
      </p:sp>
      <p:sp>
        <p:nvSpPr>
          <p:cNvPr id="38" name="Text 36"/>
          <p:cNvSpPr/>
          <p:nvPr/>
        </p:nvSpPr>
        <p:spPr>
          <a:xfrm>
            <a:off x="7223760" y="367588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Brevo SMTP + jobs tabla</a:t>
            </a:r>
            <a:endParaRPr lang="en-US" sz="950" dirty="0"/>
          </a:p>
        </p:txBody>
      </p:sp>
      <p:sp>
        <p:nvSpPr>
          <p:cNvPr id="39" name="Shape 37"/>
          <p:cNvSpPr/>
          <p:nvPr/>
        </p:nvSpPr>
        <p:spPr>
          <a:xfrm>
            <a:off x="9646920" y="3035808"/>
            <a:ext cx="2240280" cy="1325880"/>
          </a:xfrm>
          <a:prstGeom prst="roundRect">
            <a:avLst>
              <a:gd name="adj" fmla="val 6897"/>
            </a:avLst>
          </a:prstGeom>
          <a:solidFill>
            <a:srgbClr val="DC2626"/>
          </a:solidFill>
          <a:ln/>
          <a:effectLst>
            <a:outerShdw sx="100000" sy="100000" kx="0" ky="0" algn="bl" rotWithShape="0" blurRad="50800" dist="25400" dir="16200000">
              <a:srgbClr val="000000">
                <a:alpha val="75000"/>
              </a:srgbClr>
            </a:outerShdw>
          </a:effectLst>
        </p:spPr>
      </p:sp>
      <p:sp>
        <p:nvSpPr>
          <p:cNvPr id="40" name="Text 38"/>
          <p:cNvSpPr/>
          <p:nvPr/>
        </p:nvSpPr>
        <p:spPr>
          <a:xfrm>
            <a:off x="9646920" y="321868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PDF &amp; QR</a:t>
            </a:r>
            <a:endParaRPr lang="en-US" sz="1100" dirty="0"/>
          </a:p>
        </p:txBody>
      </p:sp>
      <p:sp>
        <p:nvSpPr>
          <p:cNvPr id="41" name="Text 39"/>
          <p:cNvSpPr/>
          <p:nvPr/>
        </p:nvSpPr>
        <p:spPr>
          <a:xfrm>
            <a:off x="9646920" y="367588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FPDI + endroid/qr-code</a:t>
            </a:r>
            <a:endParaRPr lang="en-US" sz="950" dirty="0"/>
          </a:p>
        </p:txBody>
      </p:sp>
      <p:sp>
        <p:nvSpPr>
          <p:cNvPr id="42" name="Shape 40"/>
          <p:cNvSpPr/>
          <p:nvPr/>
        </p:nvSpPr>
        <p:spPr>
          <a:xfrm>
            <a:off x="7223760" y="4590288"/>
            <a:ext cx="2240280" cy="1325880"/>
          </a:xfrm>
          <a:prstGeom prst="roundRect">
            <a:avLst>
              <a:gd name="adj" fmla="val 6897"/>
            </a:avLst>
          </a:prstGeom>
          <a:solidFill>
            <a:srgbClr val="475569"/>
          </a:solidFill>
          <a:ln/>
          <a:effectLst>
            <a:outerShdw sx="100000" sy="100000" kx="0" ky="0" algn="bl" rotWithShape="0" blurRad="50800" dist="25400" dir="16200000">
              <a:srgbClr val="000000">
                <a:alpha val="75000"/>
              </a:srgbClr>
            </a:outerShdw>
          </a:effectLst>
        </p:spPr>
      </p:sp>
      <p:sp>
        <p:nvSpPr>
          <p:cNvPr id="43" name="Text 41"/>
          <p:cNvSpPr/>
          <p:nvPr/>
        </p:nvSpPr>
        <p:spPr>
          <a:xfrm>
            <a:off x="7223760" y="477316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Backups</a:t>
            </a:r>
            <a:endParaRPr lang="en-US" sz="1100" dirty="0"/>
          </a:p>
        </p:txBody>
      </p:sp>
      <p:sp>
        <p:nvSpPr>
          <p:cNvPr id="44" name="Text 42"/>
          <p:cNvSpPr/>
          <p:nvPr/>
        </p:nvSpPr>
        <p:spPr>
          <a:xfrm>
            <a:off x="7223760" y="523036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Full/incremental + schedule</a:t>
            </a:r>
            <a:endParaRPr lang="en-US" sz="950" dirty="0"/>
          </a:p>
        </p:txBody>
      </p:sp>
      <p:sp>
        <p:nvSpPr>
          <p:cNvPr id="45" name="Shape 43"/>
          <p:cNvSpPr/>
          <p:nvPr/>
        </p:nvSpPr>
        <p:spPr>
          <a:xfrm>
            <a:off x="9646920" y="4590288"/>
            <a:ext cx="2240280" cy="1325880"/>
          </a:xfrm>
          <a:prstGeom prst="roundRect">
            <a:avLst>
              <a:gd name="adj" fmla="val 6897"/>
            </a:avLst>
          </a:prstGeom>
          <a:solidFill>
            <a:srgbClr val="0D9488"/>
          </a:solidFill>
          <a:ln/>
          <a:effectLst>
            <a:outerShdw sx="100000" sy="100000" kx="0" ky="0" algn="bl" rotWithShape="0" blurRad="50800" dist="25400" dir="16200000">
              <a:srgbClr val="000000">
                <a:alpha val="75000"/>
              </a:srgbClr>
            </a:outerShdw>
          </a:effectLst>
        </p:spPr>
      </p:sp>
      <p:sp>
        <p:nvSpPr>
          <p:cNvPr id="46" name="Text 44"/>
          <p:cNvSpPr/>
          <p:nvPr/>
        </p:nvSpPr>
        <p:spPr>
          <a:xfrm>
            <a:off x="9646920" y="4773168"/>
            <a:ext cx="22402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RENAPO</a:t>
            </a:r>
            <a:endParaRPr lang="en-US" sz="1100" dirty="0"/>
          </a:p>
        </p:txBody>
      </p:sp>
      <p:sp>
        <p:nvSpPr>
          <p:cNvPr id="47" name="Text 45"/>
          <p:cNvSpPr/>
          <p:nvPr/>
        </p:nvSpPr>
        <p:spPr>
          <a:xfrm>
            <a:off x="9646920" y="5230368"/>
            <a:ext cx="2240280" cy="502920"/>
          </a:xfrm>
          <a:prstGeom prst="rect">
            <a:avLst/>
          </a:prstGeom>
          <a:noFill/>
          <a:ln/>
        </p:spPr>
        <p:txBody>
          <a:bodyPr wrap="square" rtlCol="0" anchor="ctr"/>
          <a:lstStyle/>
          <a:p>
            <a:pPr algn="ctr" indent="0" marL="0">
              <a:buNone/>
            </a:pPr>
            <a:r>
              <a:rPr lang="en-US" sz="950" dirty="0">
                <a:solidFill>
                  <a:srgbClr val="D1FAE5"/>
                </a:solidFill>
                <a:latin typeface="Calibri" pitchFamily="34" charset="0"/>
                <a:ea typeface="Calibri" pitchFamily="34" charset="-122"/>
                <a:cs typeface="Calibri" pitchFamily="34" charset="-120"/>
              </a:rPr>
              <a:t>Validación CURP externa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Roles y Matriz de Permisos (Spatie RBAC)</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960120"/>
            <a:ext cx="11430000" cy="502920"/>
          </a:xfrm>
          <a:prstGeom prst="roundRect">
            <a:avLst>
              <a:gd name="adj" fmla="val 12727"/>
            </a:avLst>
          </a:prstGeom>
          <a:solidFill>
            <a:srgbClr val="DBEAFE"/>
          </a:solidFill>
          <a:ln/>
        </p:spPr>
      </p:sp>
      <p:sp>
        <p:nvSpPr>
          <p:cNvPr id="7" name="Text 5"/>
          <p:cNvSpPr/>
          <p:nvPr/>
        </p:nvSpPr>
        <p:spPr>
          <a:xfrm>
            <a:off x="457200" y="978408"/>
            <a:ext cx="11155680" cy="448056"/>
          </a:xfrm>
          <a:prstGeom prst="rect">
            <a:avLst/>
          </a:prstGeom>
          <a:noFill/>
          <a:ln/>
        </p:spPr>
        <p:txBody>
          <a:bodyPr wrap="square" rtlCol="0" anchor="ctr"/>
          <a:lstStyle/>
          <a:p>
            <a:pPr indent="0" marL="0">
              <a:buNone/>
            </a:pPr>
            <a:r>
              <a:rPr lang="en-US" sz="1000" dirty="0">
                <a:solidFill>
                  <a:srgbClr val="1A3C5E"/>
                </a:solidFill>
                <a:latin typeface="Calibri" pitchFamily="34" charset="0"/>
                <a:ea typeface="Calibri" pitchFamily="34" charset="-122"/>
                <a:cs typeface="Calibri" pitchFamily="34" charset="-120"/>
              </a:rPr>
              <a:t>Los permisos siguen el patrón {módulo}.{acción}  (p.ej.: applications.index, applications.edit). El Super Admin tiene Gate::before() — bypass automático de todos los permisos. Las rutas protegen con middleware role/permission de Spatie.</a:t>
            </a:r>
            <a:endParaRPr lang="en-US" sz="1000" dirty="0"/>
          </a:p>
        </p:txBody>
      </p:sp>
      <p:sp>
        <p:nvSpPr>
          <p:cNvPr id="8" name="Shape 6"/>
          <p:cNvSpPr/>
          <p:nvPr/>
        </p:nvSpPr>
        <p:spPr>
          <a:xfrm>
            <a:off x="320040" y="1554480"/>
            <a:ext cx="2788920" cy="5029200"/>
          </a:xfrm>
          <a:prstGeom prst="roundRect">
            <a:avLst>
              <a:gd name="adj" fmla="val 3934"/>
            </a:avLst>
          </a:prstGeom>
          <a:solidFill>
            <a:srgbClr val="FFFFFF"/>
          </a:solidFill>
          <a:ln/>
          <a:effectLst>
            <a:outerShdw sx="100000" sy="100000" kx="0" ky="0" algn="bl" rotWithShape="0" blurRad="63500" dist="25400" dir="16200000">
              <a:srgbClr val="000000">
                <a:alpha val="75000"/>
              </a:srgbClr>
            </a:outerShdw>
          </a:effectLst>
        </p:spPr>
      </p:sp>
      <p:sp>
        <p:nvSpPr>
          <p:cNvPr id="9" name="Shape 7"/>
          <p:cNvSpPr/>
          <p:nvPr/>
        </p:nvSpPr>
        <p:spPr>
          <a:xfrm>
            <a:off x="320040" y="1554480"/>
            <a:ext cx="2788920" cy="822960"/>
          </a:xfrm>
          <a:prstGeom prst="roundRect">
            <a:avLst>
              <a:gd name="adj" fmla="val 13333"/>
            </a:avLst>
          </a:prstGeom>
          <a:solidFill>
            <a:srgbClr val="7C3AED"/>
          </a:solidFill>
          <a:ln/>
        </p:spPr>
      </p:sp>
      <p:sp>
        <p:nvSpPr>
          <p:cNvPr id="10" name="Shape 8"/>
          <p:cNvSpPr/>
          <p:nvPr/>
        </p:nvSpPr>
        <p:spPr>
          <a:xfrm>
            <a:off x="320040" y="1920240"/>
            <a:ext cx="2788920" cy="457200"/>
          </a:xfrm>
          <a:prstGeom prst="rect">
            <a:avLst/>
          </a:prstGeom>
          <a:solidFill>
            <a:srgbClr val="7C3AED"/>
          </a:solidFill>
          <a:ln/>
        </p:spPr>
      </p:sp>
      <p:sp>
        <p:nvSpPr>
          <p:cNvPr id="11" name="Text 9"/>
          <p:cNvSpPr/>
          <p:nvPr/>
        </p:nvSpPr>
        <p:spPr>
          <a:xfrm>
            <a:off x="320040" y="1581912"/>
            <a:ext cx="278892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20040" y="1993392"/>
            <a:ext cx="278892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Super Admin</a:t>
            </a:r>
            <a:endParaRPr lang="en-US" sz="1300" dirty="0"/>
          </a:p>
        </p:txBody>
      </p:sp>
      <p:sp>
        <p:nvSpPr>
          <p:cNvPr id="13" name="Text 11"/>
          <p:cNvSpPr/>
          <p:nvPr/>
        </p:nvSpPr>
        <p:spPr>
          <a:xfrm>
            <a:off x="429768" y="2468880"/>
            <a:ext cx="2578608" cy="868680"/>
          </a:xfrm>
          <a:prstGeom prst="rect">
            <a:avLst/>
          </a:prstGeom>
          <a:noFill/>
          <a:ln/>
        </p:spPr>
        <p:txBody>
          <a:bodyPr wrap="square" rtlCol="0" anchor="ctr"/>
          <a:lstStyle/>
          <a:p>
            <a:pPr algn="just" indent="0" marL="0">
              <a:buNone/>
            </a:pPr>
            <a:r>
              <a:rPr lang="en-US" sz="850" dirty="0">
                <a:solidFill>
                  <a:srgbClr val="6B7280"/>
                </a:solidFill>
                <a:latin typeface="Calibri" pitchFamily="34" charset="0"/>
                <a:ea typeface="Calibri" pitchFamily="34" charset="-122"/>
                <a:cs typeface="Calibri" pitchFamily="34" charset="-120"/>
              </a:rPr>
              <a:t>Acceso irrestricto. La clase AuthServiceProvider registra Gate::before() que devuelve true para este rol antes de evaluar cualquier permiso.</a:t>
            </a:r>
            <a:endParaRPr lang="en-US" sz="850" dirty="0"/>
          </a:p>
        </p:txBody>
      </p:sp>
      <p:sp>
        <p:nvSpPr>
          <p:cNvPr id="14" name="Shape 12"/>
          <p:cNvSpPr/>
          <p:nvPr/>
        </p:nvSpPr>
        <p:spPr>
          <a:xfrm>
            <a:off x="429768" y="3566160"/>
            <a:ext cx="36576" cy="228600"/>
          </a:xfrm>
          <a:prstGeom prst="rect">
            <a:avLst/>
          </a:prstGeom>
          <a:solidFill>
            <a:srgbClr val="7C3AED"/>
          </a:solidFill>
          <a:ln/>
        </p:spPr>
      </p:sp>
      <p:sp>
        <p:nvSpPr>
          <p:cNvPr id="15" name="Text 13"/>
          <p:cNvSpPr/>
          <p:nvPr/>
        </p:nvSpPr>
        <p:spPr>
          <a:xfrm>
            <a:off x="539496" y="34198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modules.*  — CRUD de módulos del sistema</a:t>
            </a:r>
            <a:endParaRPr lang="en-US" sz="850" dirty="0"/>
          </a:p>
        </p:txBody>
      </p:sp>
      <p:sp>
        <p:nvSpPr>
          <p:cNvPr id="16" name="Shape 14"/>
          <p:cNvSpPr/>
          <p:nvPr/>
        </p:nvSpPr>
        <p:spPr>
          <a:xfrm>
            <a:off x="429768" y="4069080"/>
            <a:ext cx="36576" cy="228600"/>
          </a:xfrm>
          <a:prstGeom prst="rect">
            <a:avLst/>
          </a:prstGeom>
          <a:solidFill>
            <a:srgbClr val="7C3AED"/>
          </a:solidFill>
          <a:ln/>
        </p:spPr>
      </p:sp>
      <p:sp>
        <p:nvSpPr>
          <p:cNvPr id="17" name="Text 15"/>
          <p:cNvSpPr/>
          <p:nvPr/>
        </p:nvSpPr>
        <p:spPr>
          <a:xfrm>
            <a:off x="539496" y="392277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permissions.*  — CRUD de permisos</a:t>
            </a:r>
            <a:endParaRPr lang="en-US" sz="850" dirty="0"/>
          </a:p>
        </p:txBody>
      </p:sp>
      <p:sp>
        <p:nvSpPr>
          <p:cNvPr id="18" name="Shape 16"/>
          <p:cNvSpPr/>
          <p:nvPr/>
        </p:nvSpPr>
        <p:spPr>
          <a:xfrm>
            <a:off x="429768" y="4572000"/>
            <a:ext cx="36576" cy="228600"/>
          </a:xfrm>
          <a:prstGeom prst="rect">
            <a:avLst/>
          </a:prstGeom>
          <a:solidFill>
            <a:srgbClr val="7C3AED"/>
          </a:solidFill>
          <a:ln/>
        </p:spPr>
      </p:sp>
      <p:sp>
        <p:nvSpPr>
          <p:cNvPr id="19" name="Text 17"/>
          <p:cNvSpPr/>
          <p:nvPr/>
        </p:nvSpPr>
        <p:spPr>
          <a:xfrm>
            <a:off x="539496" y="442569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roles.*  — CRUD de roles</a:t>
            </a:r>
            <a:endParaRPr lang="en-US" sz="850" dirty="0"/>
          </a:p>
        </p:txBody>
      </p:sp>
      <p:sp>
        <p:nvSpPr>
          <p:cNvPr id="20" name="Shape 18"/>
          <p:cNvSpPr/>
          <p:nvPr/>
        </p:nvSpPr>
        <p:spPr>
          <a:xfrm>
            <a:off x="429768" y="5074920"/>
            <a:ext cx="36576" cy="228600"/>
          </a:xfrm>
          <a:prstGeom prst="rect">
            <a:avLst/>
          </a:prstGeom>
          <a:solidFill>
            <a:srgbClr val="7C3AED"/>
          </a:solidFill>
          <a:ln/>
        </p:spPr>
      </p:sp>
      <p:sp>
        <p:nvSpPr>
          <p:cNvPr id="21" name="Text 19"/>
          <p:cNvSpPr/>
          <p:nvPr/>
        </p:nvSpPr>
        <p:spPr>
          <a:xfrm>
            <a:off x="539496" y="492861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backup.*  — Gestión de backups BD</a:t>
            </a:r>
            <a:endParaRPr lang="en-US" sz="850" dirty="0"/>
          </a:p>
        </p:txBody>
      </p:sp>
      <p:sp>
        <p:nvSpPr>
          <p:cNvPr id="22" name="Shape 20"/>
          <p:cNvSpPr/>
          <p:nvPr/>
        </p:nvSpPr>
        <p:spPr>
          <a:xfrm>
            <a:off x="429768" y="5577840"/>
            <a:ext cx="36576" cy="228600"/>
          </a:xfrm>
          <a:prstGeom prst="rect">
            <a:avLst/>
          </a:prstGeom>
          <a:solidFill>
            <a:srgbClr val="7C3AED"/>
          </a:solidFill>
          <a:ln/>
        </p:spPr>
      </p:sp>
      <p:sp>
        <p:nvSpPr>
          <p:cNvPr id="23" name="Text 21"/>
          <p:cNvSpPr/>
          <p:nvPr/>
        </p:nvSpPr>
        <p:spPr>
          <a:xfrm>
            <a:off x="539496" y="543153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superadmin.dashboard  — Panel exclusivo</a:t>
            </a:r>
            <a:endParaRPr lang="en-US" sz="850" dirty="0"/>
          </a:p>
        </p:txBody>
      </p:sp>
      <p:sp>
        <p:nvSpPr>
          <p:cNvPr id="24" name="Shape 22"/>
          <p:cNvSpPr/>
          <p:nvPr/>
        </p:nvSpPr>
        <p:spPr>
          <a:xfrm>
            <a:off x="429768" y="6080760"/>
            <a:ext cx="36576" cy="228600"/>
          </a:xfrm>
          <a:prstGeom prst="rect">
            <a:avLst/>
          </a:prstGeom>
          <a:solidFill>
            <a:srgbClr val="7C3AED"/>
          </a:solidFill>
          <a:ln/>
        </p:spPr>
      </p:sp>
      <p:sp>
        <p:nvSpPr>
          <p:cNvPr id="25" name="Text 23"/>
          <p:cNvSpPr/>
          <p:nvPr/>
        </p:nvSpPr>
        <p:spPr>
          <a:xfrm>
            <a:off x="539496" y="59344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requests.*  — Control global de solicitudes</a:t>
            </a:r>
            <a:endParaRPr lang="en-US" sz="850" dirty="0"/>
          </a:p>
        </p:txBody>
      </p:sp>
      <p:sp>
        <p:nvSpPr>
          <p:cNvPr id="26" name="Shape 24"/>
          <p:cNvSpPr/>
          <p:nvPr/>
        </p:nvSpPr>
        <p:spPr>
          <a:xfrm>
            <a:off x="3291840" y="1554480"/>
            <a:ext cx="2788920" cy="5029200"/>
          </a:xfrm>
          <a:prstGeom prst="roundRect">
            <a:avLst>
              <a:gd name="adj" fmla="val 3934"/>
            </a:avLst>
          </a:prstGeom>
          <a:solidFill>
            <a:srgbClr val="FFFFFF"/>
          </a:solidFill>
          <a:ln/>
          <a:effectLst>
            <a:outerShdw sx="100000" sy="100000" kx="0" ky="0" algn="bl" rotWithShape="0" blurRad="63500" dist="25400" dir="16200000">
              <a:srgbClr val="000000">
                <a:alpha val="75000"/>
              </a:srgbClr>
            </a:outerShdw>
          </a:effectLst>
        </p:spPr>
      </p:sp>
      <p:sp>
        <p:nvSpPr>
          <p:cNvPr id="27" name="Shape 25"/>
          <p:cNvSpPr/>
          <p:nvPr/>
        </p:nvSpPr>
        <p:spPr>
          <a:xfrm>
            <a:off x="3291840" y="1554480"/>
            <a:ext cx="2788920" cy="822960"/>
          </a:xfrm>
          <a:prstGeom prst="roundRect">
            <a:avLst>
              <a:gd name="adj" fmla="val 13333"/>
            </a:avLst>
          </a:prstGeom>
          <a:solidFill>
            <a:srgbClr val="2563EB"/>
          </a:solidFill>
          <a:ln/>
        </p:spPr>
      </p:sp>
      <p:sp>
        <p:nvSpPr>
          <p:cNvPr id="28" name="Shape 26"/>
          <p:cNvSpPr/>
          <p:nvPr/>
        </p:nvSpPr>
        <p:spPr>
          <a:xfrm>
            <a:off x="3291840" y="1920240"/>
            <a:ext cx="2788920" cy="457200"/>
          </a:xfrm>
          <a:prstGeom prst="rect">
            <a:avLst/>
          </a:prstGeom>
          <a:solidFill>
            <a:srgbClr val="2563EB"/>
          </a:solidFill>
          <a:ln/>
        </p:spPr>
      </p:sp>
      <p:sp>
        <p:nvSpPr>
          <p:cNvPr id="29" name="Text 27"/>
          <p:cNvSpPr/>
          <p:nvPr/>
        </p:nvSpPr>
        <p:spPr>
          <a:xfrm>
            <a:off x="3291840" y="1581912"/>
            <a:ext cx="278892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0" name="Text 28"/>
          <p:cNvSpPr/>
          <p:nvPr/>
        </p:nvSpPr>
        <p:spPr>
          <a:xfrm>
            <a:off x="3291840" y="1993392"/>
            <a:ext cx="278892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p>
        </p:txBody>
      </p:sp>
      <p:sp>
        <p:nvSpPr>
          <p:cNvPr id="31" name="Text 29"/>
          <p:cNvSpPr/>
          <p:nvPr/>
        </p:nvSpPr>
        <p:spPr>
          <a:xfrm>
            <a:off x="3401568" y="2468880"/>
            <a:ext cx="2578608" cy="868680"/>
          </a:xfrm>
          <a:prstGeom prst="rect">
            <a:avLst/>
          </a:prstGeom>
          <a:noFill/>
          <a:ln/>
        </p:spPr>
        <p:txBody>
          <a:bodyPr wrap="square" rtlCol="0" anchor="ctr"/>
          <a:lstStyle/>
          <a:p>
            <a:pPr algn="just" indent="0" marL="0">
              <a:buNone/>
            </a:pPr>
            <a:r>
              <a:rPr lang="en-US" sz="850" dirty="0">
                <a:solidFill>
                  <a:srgbClr val="6B7280"/>
                </a:solidFill>
                <a:latin typeface="Calibri" pitchFamily="34" charset="0"/>
                <a:ea typeface="Calibri" pitchFamily="34" charset="-122"/>
                <a:cs typeface="Calibri" pitchFamily="34" charset="-120"/>
              </a:rPr>
              <a:t>Gestiona el flujo operativo completo: convocatorias, solicitudes, evaluadores y veredictos. Puede exportar данные a Excel.</a:t>
            </a:r>
            <a:endParaRPr lang="en-US" sz="850" dirty="0"/>
          </a:p>
        </p:txBody>
      </p:sp>
      <p:sp>
        <p:nvSpPr>
          <p:cNvPr id="32" name="Shape 30"/>
          <p:cNvSpPr/>
          <p:nvPr/>
        </p:nvSpPr>
        <p:spPr>
          <a:xfrm>
            <a:off x="3401568" y="3566160"/>
            <a:ext cx="36576" cy="228600"/>
          </a:xfrm>
          <a:prstGeom prst="rect">
            <a:avLst/>
          </a:prstGeom>
          <a:solidFill>
            <a:srgbClr val="2563EB"/>
          </a:solidFill>
          <a:ln/>
        </p:spPr>
      </p:sp>
      <p:sp>
        <p:nvSpPr>
          <p:cNvPr id="33" name="Text 31"/>
          <p:cNvSpPr/>
          <p:nvPr/>
        </p:nvSpPr>
        <p:spPr>
          <a:xfrm>
            <a:off x="3511296" y="34198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applications.index / show / edit</a:t>
            </a:r>
            <a:endParaRPr lang="en-US" sz="850" dirty="0"/>
          </a:p>
        </p:txBody>
      </p:sp>
      <p:sp>
        <p:nvSpPr>
          <p:cNvPr id="34" name="Shape 32"/>
          <p:cNvSpPr/>
          <p:nvPr/>
        </p:nvSpPr>
        <p:spPr>
          <a:xfrm>
            <a:off x="3401568" y="4069080"/>
            <a:ext cx="36576" cy="228600"/>
          </a:xfrm>
          <a:prstGeom prst="rect">
            <a:avLst/>
          </a:prstGeom>
          <a:solidFill>
            <a:srgbClr val="2563EB"/>
          </a:solidFill>
          <a:ln/>
        </p:spPr>
      </p:sp>
      <p:sp>
        <p:nvSpPr>
          <p:cNvPr id="35" name="Text 33"/>
          <p:cNvSpPr/>
          <p:nvPr/>
        </p:nvSpPr>
        <p:spPr>
          <a:xfrm>
            <a:off x="3511296" y="392277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evaluators.index / store / destroy</a:t>
            </a:r>
            <a:endParaRPr lang="en-US" sz="850" dirty="0"/>
          </a:p>
        </p:txBody>
      </p:sp>
      <p:sp>
        <p:nvSpPr>
          <p:cNvPr id="36" name="Shape 34"/>
          <p:cNvSpPr/>
          <p:nvPr/>
        </p:nvSpPr>
        <p:spPr>
          <a:xfrm>
            <a:off x="3401568" y="4572000"/>
            <a:ext cx="36576" cy="228600"/>
          </a:xfrm>
          <a:prstGeom prst="rect">
            <a:avLst/>
          </a:prstGeom>
          <a:solidFill>
            <a:srgbClr val="2563EB"/>
          </a:solidFill>
          <a:ln/>
        </p:spPr>
      </p:sp>
      <p:sp>
        <p:nvSpPr>
          <p:cNvPr id="37" name="Text 35"/>
          <p:cNvSpPr/>
          <p:nvPr/>
        </p:nvSpPr>
        <p:spPr>
          <a:xfrm>
            <a:off x="3511296" y="442569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recognitions.index / store</a:t>
            </a:r>
            <a:endParaRPr lang="en-US" sz="850" dirty="0"/>
          </a:p>
        </p:txBody>
      </p:sp>
      <p:sp>
        <p:nvSpPr>
          <p:cNvPr id="38" name="Shape 36"/>
          <p:cNvSpPr/>
          <p:nvPr/>
        </p:nvSpPr>
        <p:spPr>
          <a:xfrm>
            <a:off x="3401568" y="5074920"/>
            <a:ext cx="36576" cy="228600"/>
          </a:xfrm>
          <a:prstGeom prst="rect">
            <a:avLst/>
          </a:prstGeom>
          <a:solidFill>
            <a:srgbClr val="2563EB"/>
          </a:solidFill>
          <a:ln/>
        </p:spPr>
      </p:sp>
      <p:sp>
        <p:nvSpPr>
          <p:cNvPr id="39" name="Text 37"/>
          <p:cNvSpPr/>
          <p:nvPr/>
        </p:nvSpPr>
        <p:spPr>
          <a:xfrm>
            <a:off x="3511296" y="492861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announcements.* (catálogo)</a:t>
            </a:r>
            <a:endParaRPr lang="en-US" sz="850" dirty="0"/>
          </a:p>
        </p:txBody>
      </p:sp>
      <p:sp>
        <p:nvSpPr>
          <p:cNvPr id="40" name="Shape 38"/>
          <p:cNvSpPr/>
          <p:nvPr/>
        </p:nvSpPr>
        <p:spPr>
          <a:xfrm>
            <a:off x="3401568" y="5577840"/>
            <a:ext cx="36576" cy="228600"/>
          </a:xfrm>
          <a:prstGeom prst="rect">
            <a:avLst/>
          </a:prstGeom>
          <a:solidFill>
            <a:srgbClr val="2563EB"/>
          </a:solidFill>
          <a:ln/>
        </p:spPr>
      </p:sp>
      <p:sp>
        <p:nvSpPr>
          <p:cNvPr id="41" name="Text 39"/>
          <p:cNvSpPr/>
          <p:nvPr/>
        </p:nvSpPr>
        <p:spPr>
          <a:xfrm>
            <a:off x="3511296" y="543153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notifications.index / store</a:t>
            </a:r>
            <a:endParaRPr lang="en-US" sz="850" dirty="0"/>
          </a:p>
        </p:txBody>
      </p:sp>
      <p:sp>
        <p:nvSpPr>
          <p:cNvPr id="42" name="Shape 40"/>
          <p:cNvSpPr/>
          <p:nvPr/>
        </p:nvSpPr>
        <p:spPr>
          <a:xfrm>
            <a:off x="3401568" y="6080760"/>
            <a:ext cx="36576" cy="228600"/>
          </a:xfrm>
          <a:prstGeom prst="rect">
            <a:avLst/>
          </a:prstGeom>
          <a:solidFill>
            <a:srgbClr val="2563EB"/>
          </a:solidFill>
          <a:ln/>
        </p:spPr>
      </p:sp>
      <p:sp>
        <p:nvSpPr>
          <p:cNvPr id="43" name="Text 41"/>
          <p:cNvSpPr/>
          <p:nvPr/>
        </p:nvSpPr>
        <p:spPr>
          <a:xfrm>
            <a:off x="3511296" y="59344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Exportar reportes Excel</a:t>
            </a:r>
            <a:endParaRPr lang="en-US" sz="850" dirty="0"/>
          </a:p>
        </p:txBody>
      </p:sp>
      <p:sp>
        <p:nvSpPr>
          <p:cNvPr id="44" name="Shape 42"/>
          <p:cNvSpPr/>
          <p:nvPr/>
        </p:nvSpPr>
        <p:spPr>
          <a:xfrm>
            <a:off x="6263640" y="1554480"/>
            <a:ext cx="2788920" cy="5029200"/>
          </a:xfrm>
          <a:prstGeom prst="roundRect">
            <a:avLst>
              <a:gd name="adj" fmla="val 3934"/>
            </a:avLst>
          </a:prstGeom>
          <a:solidFill>
            <a:srgbClr val="FFFFFF"/>
          </a:solidFill>
          <a:ln/>
          <a:effectLst>
            <a:outerShdw sx="100000" sy="100000" kx="0" ky="0" algn="bl" rotWithShape="0" blurRad="63500" dist="25400" dir="16200000">
              <a:srgbClr val="000000">
                <a:alpha val="75000"/>
              </a:srgbClr>
            </a:outerShdw>
          </a:effectLst>
        </p:spPr>
      </p:sp>
      <p:sp>
        <p:nvSpPr>
          <p:cNvPr id="45" name="Shape 43"/>
          <p:cNvSpPr/>
          <p:nvPr/>
        </p:nvSpPr>
        <p:spPr>
          <a:xfrm>
            <a:off x="6263640" y="1554480"/>
            <a:ext cx="2788920" cy="822960"/>
          </a:xfrm>
          <a:prstGeom prst="roundRect">
            <a:avLst>
              <a:gd name="adj" fmla="val 13333"/>
            </a:avLst>
          </a:prstGeom>
          <a:solidFill>
            <a:srgbClr val="0D9488"/>
          </a:solidFill>
          <a:ln/>
        </p:spPr>
      </p:sp>
      <p:sp>
        <p:nvSpPr>
          <p:cNvPr id="46" name="Shape 44"/>
          <p:cNvSpPr/>
          <p:nvPr/>
        </p:nvSpPr>
        <p:spPr>
          <a:xfrm>
            <a:off x="6263640" y="1920240"/>
            <a:ext cx="2788920" cy="457200"/>
          </a:xfrm>
          <a:prstGeom prst="rect">
            <a:avLst/>
          </a:prstGeom>
          <a:solidFill>
            <a:srgbClr val="0D9488"/>
          </a:solidFill>
          <a:ln/>
        </p:spPr>
      </p:sp>
      <p:sp>
        <p:nvSpPr>
          <p:cNvPr id="47" name="Text 45"/>
          <p:cNvSpPr/>
          <p:nvPr/>
        </p:nvSpPr>
        <p:spPr>
          <a:xfrm>
            <a:off x="6263640" y="1581912"/>
            <a:ext cx="278892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48" name="Text 46"/>
          <p:cNvSpPr/>
          <p:nvPr/>
        </p:nvSpPr>
        <p:spPr>
          <a:xfrm>
            <a:off x="6263640" y="1993392"/>
            <a:ext cx="278892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Evaluador</a:t>
            </a:r>
            <a:endParaRPr lang="en-US" sz="1300" dirty="0"/>
          </a:p>
        </p:txBody>
      </p:sp>
      <p:sp>
        <p:nvSpPr>
          <p:cNvPr id="49" name="Text 47"/>
          <p:cNvSpPr/>
          <p:nvPr/>
        </p:nvSpPr>
        <p:spPr>
          <a:xfrm>
            <a:off x="6373368" y="2468880"/>
            <a:ext cx="2578608" cy="868680"/>
          </a:xfrm>
          <a:prstGeom prst="rect">
            <a:avLst/>
          </a:prstGeom>
          <a:noFill/>
          <a:ln/>
        </p:spPr>
        <p:txBody>
          <a:bodyPr wrap="square" rtlCol="0" anchor="ctr"/>
          <a:lstStyle/>
          <a:p>
            <a:pPr algn="just" indent="0" marL="0">
              <a:buNone/>
            </a:pPr>
            <a:r>
              <a:rPr lang="en-US" sz="850" dirty="0">
                <a:solidFill>
                  <a:srgbClr val="6B7280"/>
                </a:solidFill>
                <a:latin typeface="Calibri" pitchFamily="34" charset="0"/>
                <a:ea typeface="Calibri" pitchFamily="34" charset="-122"/>
                <a:cs typeface="Calibri" pitchFamily="34" charset="-120"/>
              </a:rPr>
              <a:t>Recibe asignaciones de evaluación con plazo. Califica usando la rúbrica configurada y descarga su reconocimiento en PDF.</a:t>
            </a:r>
            <a:endParaRPr lang="en-US" sz="850" dirty="0"/>
          </a:p>
        </p:txBody>
      </p:sp>
      <p:sp>
        <p:nvSpPr>
          <p:cNvPr id="50" name="Shape 48"/>
          <p:cNvSpPr/>
          <p:nvPr/>
        </p:nvSpPr>
        <p:spPr>
          <a:xfrm>
            <a:off x="6373368" y="3566160"/>
            <a:ext cx="36576" cy="228600"/>
          </a:xfrm>
          <a:prstGeom prst="rect">
            <a:avLst/>
          </a:prstGeom>
          <a:solidFill>
            <a:srgbClr val="0D9488"/>
          </a:solidFill>
          <a:ln/>
        </p:spPr>
      </p:sp>
      <p:sp>
        <p:nvSpPr>
          <p:cNvPr id="51" name="Text 49"/>
          <p:cNvSpPr/>
          <p:nvPr/>
        </p:nvSpPr>
        <p:spPr>
          <a:xfrm>
            <a:off x="6483096" y="34198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evaluations.index / show / edit</a:t>
            </a:r>
            <a:endParaRPr lang="en-US" sz="850" dirty="0"/>
          </a:p>
        </p:txBody>
      </p:sp>
      <p:sp>
        <p:nvSpPr>
          <p:cNvPr id="52" name="Shape 50"/>
          <p:cNvSpPr/>
          <p:nvPr/>
        </p:nvSpPr>
        <p:spPr>
          <a:xfrm>
            <a:off x="6373368" y="4069080"/>
            <a:ext cx="36576" cy="228600"/>
          </a:xfrm>
          <a:prstGeom prst="rect">
            <a:avLst/>
          </a:prstGeom>
          <a:solidFill>
            <a:srgbClr val="0D9488"/>
          </a:solidFill>
          <a:ln/>
        </p:spPr>
      </p:sp>
      <p:sp>
        <p:nvSpPr>
          <p:cNvPr id="53" name="Text 51"/>
          <p:cNvSpPr/>
          <p:nvPr/>
        </p:nvSpPr>
        <p:spPr>
          <a:xfrm>
            <a:off x="6483096" y="392277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evaluations.submit  — enviar calificación</a:t>
            </a:r>
            <a:endParaRPr lang="en-US" sz="850" dirty="0"/>
          </a:p>
        </p:txBody>
      </p:sp>
      <p:sp>
        <p:nvSpPr>
          <p:cNvPr id="54" name="Shape 52"/>
          <p:cNvSpPr/>
          <p:nvPr/>
        </p:nvSpPr>
        <p:spPr>
          <a:xfrm>
            <a:off x="6373368" y="4572000"/>
            <a:ext cx="36576" cy="228600"/>
          </a:xfrm>
          <a:prstGeom prst="rect">
            <a:avLst/>
          </a:prstGeom>
          <a:solidFill>
            <a:srgbClr val="0D9488"/>
          </a:solidFill>
          <a:ln/>
        </p:spPr>
      </p:sp>
      <p:sp>
        <p:nvSpPr>
          <p:cNvPr id="55" name="Text 53"/>
          <p:cNvSpPr/>
          <p:nvPr/>
        </p:nvSpPr>
        <p:spPr>
          <a:xfrm>
            <a:off x="6483096" y="442569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recognitions.index / download</a:t>
            </a:r>
            <a:endParaRPr lang="en-US" sz="850" dirty="0"/>
          </a:p>
        </p:txBody>
      </p:sp>
      <p:sp>
        <p:nvSpPr>
          <p:cNvPr id="56" name="Shape 54"/>
          <p:cNvSpPr/>
          <p:nvPr/>
        </p:nvSpPr>
        <p:spPr>
          <a:xfrm>
            <a:off x="6373368" y="5074920"/>
            <a:ext cx="36576" cy="228600"/>
          </a:xfrm>
          <a:prstGeom prst="rect">
            <a:avLst/>
          </a:prstGeom>
          <a:solidFill>
            <a:srgbClr val="0D9488"/>
          </a:solidFill>
          <a:ln/>
        </p:spPr>
      </p:sp>
      <p:sp>
        <p:nvSpPr>
          <p:cNvPr id="57" name="Text 55"/>
          <p:cNvSpPr/>
          <p:nvPr/>
        </p:nvSpPr>
        <p:spPr>
          <a:xfrm>
            <a:off x="6483096" y="492861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documents.download  — ver adjuntos</a:t>
            </a:r>
            <a:endParaRPr lang="en-US" sz="850" dirty="0"/>
          </a:p>
        </p:txBody>
      </p:sp>
      <p:sp>
        <p:nvSpPr>
          <p:cNvPr id="58" name="Shape 56"/>
          <p:cNvSpPr/>
          <p:nvPr/>
        </p:nvSpPr>
        <p:spPr>
          <a:xfrm>
            <a:off x="6373368" y="5577840"/>
            <a:ext cx="36576" cy="228600"/>
          </a:xfrm>
          <a:prstGeom prst="rect">
            <a:avLst/>
          </a:prstGeom>
          <a:solidFill>
            <a:srgbClr val="0D9488"/>
          </a:solidFill>
          <a:ln/>
        </p:spPr>
      </p:sp>
      <p:sp>
        <p:nvSpPr>
          <p:cNvPr id="59" name="Text 57"/>
          <p:cNvSpPr/>
          <p:nvPr/>
        </p:nvSpPr>
        <p:spPr>
          <a:xfrm>
            <a:off x="6483096" y="543153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Notificaciones de asignación y recordatorio</a:t>
            </a:r>
            <a:endParaRPr lang="en-US" sz="850" dirty="0"/>
          </a:p>
        </p:txBody>
      </p:sp>
      <p:sp>
        <p:nvSpPr>
          <p:cNvPr id="60" name="Shape 58"/>
          <p:cNvSpPr/>
          <p:nvPr/>
        </p:nvSpPr>
        <p:spPr>
          <a:xfrm>
            <a:off x="9235440" y="1554480"/>
            <a:ext cx="2788920" cy="5029200"/>
          </a:xfrm>
          <a:prstGeom prst="roundRect">
            <a:avLst>
              <a:gd name="adj" fmla="val 3934"/>
            </a:avLst>
          </a:prstGeom>
          <a:solidFill>
            <a:srgbClr val="FFFFFF"/>
          </a:solidFill>
          <a:ln/>
          <a:effectLst>
            <a:outerShdw sx="100000" sy="100000" kx="0" ky="0" algn="bl" rotWithShape="0" blurRad="63500" dist="25400" dir="16200000">
              <a:srgbClr val="000000">
                <a:alpha val="75000"/>
              </a:srgbClr>
            </a:outerShdw>
          </a:effectLst>
        </p:spPr>
      </p:sp>
      <p:sp>
        <p:nvSpPr>
          <p:cNvPr id="61" name="Shape 59"/>
          <p:cNvSpPr/>
          <p:nvPr/>
        </p:nvSpPr>
        <p:spPr>
          <a:xfrm>
            <a:off x="9235440" y="1554480"/>
            <a:ext cx="2788920" cy="822960"/>
          </a:xfrm>
          <a:prstGeom prst="roundRect">
            <a:avLst>
              <a:gd name="adj" fmla="val 13333"/>
            </a:avLst>
          </a:prstGeom>
          <a:solidFill>
            <a:srgbClr val="EA580C"/>
          </a:solidFill>
          <a:ln/>
        </p:spPr>
      </p:sp>
      <p:sp>
        <p:nvSpPr>
          <p:cNvPr id="62" name="Shape 60"/>
          <p:cNvSpPr/>
          <p:nvPr/>
        </p:nvSpPr>
        <p:spPr>
          <a:xfrm>
            <a:off x="9235440" y="1920240"/>
            <a:ext cx="2788920" cy="457200"/>
          </a:xfrm>
          <a:prstGeom prst="rect">
            <a:avLst/>
          </a:prstGeom>
          <a:solidFill>
            <a:srgbClr val="EA580C"/>
          </a:solidFill>
          <a:ln/>
        </p:spPr>
      </p:sp>
      <p:sp>
        <p:nvSpPr>
          <p:cNvPr id="63" name="Text 61"/>
          <p:cNvSpPr/>
          <p:nvPr/>
        </p:nvSpPr>
        <p:spPr>
          <a:xfrm>
            <a:off x="9235440" y="1581912"/>
            <a:ext cx="278892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64" name="Text 62"/>
          <p:cNvSpPr/>
          <p:nvPr/>
        </p:nvSpPr>
        <p:spPr>
          <a:xfrm>
            <a:off x="9235440" y="1993392"/>
            <a:ext cx="278892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Docente</a:t>
            </a:r>
            <a:endParaRPr lang="en-US" sz="1300" dirty="0"/>
          </a:p>
        </p:txBody>
      </p:sp>
      <p:sp>
        <p:nvSpPr>
          <p:cNvPr id="65" name="Text 63"/>
          <p:cNvSpPr/>
          <p:nvPr/>
        </p:nvSpPr>
        <p:spPr>
          <a:xfrm>
            <a:off x="9345168" y="2468880"/>
            <a:ext cx="2578608" cy="868680"/>
          </a:xfrm>
          <a:prstGeom prst="rect">
            <a:avLst/>
          </a:prstGeom>
          <a:noFill/>
          <a:ln/>
        </p:spPr>
        <p:txBody>
          <a:bodyPr wrap="square" rtlCol="0" anchor="ctr"/>
          <a:lstStyle/>
          <a:p>
            <a:pPr algn="just" indent="0" marL="0">
              <a:buNone/>
            </a:pPr>
            <a:r>
              <a:rPr lang="en-US" sz="850" dirty="0">
                <a:solidFill>
                  <a:srgbClr val="6B7280"/>
                </a:solidFill>
                <a:latin typeface="Calibri" pitchFamily="34" charset="0"/>
                <a:ea typeface="Calibri" pitchFamily="34" charset="-122"/>
                <a:cs typeface="Calibri" pitchFamily="34" charset="-120"/>
              </a:rPr>
              <a:t>Usuario final del sistema. Aplica a la convocatoria vigente, sube documentos y descarga su carta de aceptación y reconocimientos.</a:t>
            </a:r>
            <a:endParaRPr lang="en-US" sz="850" dirty="0"/>
          </a:p>
        </p:txBody>
      </p:sp>
      <p:sp>
        <p:nvSpPr>
          <p:cNvPr id="66" name="Shape 64"/>
          <p:cNvSpPr/>
          <p:nvPr/>
        </p:nvSpPr>
        <p:spPr>
          <a:xfrm>
            <a:off x="9345168" y="3566160"/>
            <a:ext cx="36576" cy="228600"/>
          </a:xfrm>
          <a:prstGeom prst="rect">
            <a:avLst/>
          </a:prstGeom>
          <a:solidFill>
            <a:srgbClr val="EA580C"/>
          </a:solidFill>
          <a:ln/>
        </p:spPr>
      </p:sp>
      <p:sp>
        <p:nvSpPr>
          <p:cNvPr id="67" name="Text 65"/>
          <p:cNvSpPr/>
          <p:nvPr/>
        </p:nvSpPr>
        <p:spPr>
          <a:xfrm>
            <a:off x="9454896" y="341985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applications.create / index / show</a:t>
            </a:r>
            <a:endParaRPr lang="en-US" sz="850" dirty="0"/>
          </a:p>
        </p:txBody>
      </p:sp>
      <p:sp>
        <p:nvSpPr>
          <p:cNvPr id="68" name="Shape 66"/>
          <p:cNvSpPr/>
          <p:nvPr/>
        </p:nvSpPr>
        <p:spPr>
          <a:xfrm>
            <a:off x="9345168" y="4069080"/>
            <a:ext cx="36576" cy="228600"/>
          </a:xfrm>
          <a:prstGeom prst="rect">
            <a:avLst/>
          </a:prstGeom>
          <a:solidFill>
            <a:srgbClr val="EA580C"/>
          </a:solidFill>
          <a:ln/>
        </p:spPr>
      </p:sp>
      <p:sp>
        <p:nvSpPr>
          <p:cNvPr id="69" name="Text 67"/>
          <p:cNvSpPr/>
          <p:nvPr/>
        </p:nvSpPr>
        <p:spPr>
          <a:xfrm>
            <a:off x="9454896" y="392277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documents.upload / delete</a:t>
            </a:r>
            <a:endParaRPr lang="en-US" sz="850" dirty="0"/>
          </a:p>
        </p:txBody>
      </p:sp>
      <p:sp>
        <p:nvSpPr>
          <p:cNvPr id="70" name="Shape 68"/>
          <p:cNvSpPr/>
          <p:nvPr/>
        </p:nvSpPr>
        <p:spPr>
          <a:xfrm>
            <a:off x="9345168" y="4572000"/>
            <a:ext cx="36576" cy="228600"/>
          </a:xfrm>
          <a:prstGeom prst="rect">
            <a:avLst/>
          </a:prstGeom>
          <a:solidFill>
            <a:srgbClr val="EA580C"/>
          </a:solidFill>
          <a:ln/>
        </p:spPr>
      </p:sp>
      <p:sp>
        <p:nvSpPr>
          <p:cNvPr id="71" name="Text 69"/>
          <p:cNvSpPr/>
          <p:nvPr/>
        </p:nvSpPr>
        <p:spPr>
          <a:xfrm>
            <a:off x="9454896" y="442569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recognitions.index / download</a:t>
            </a:r>
            <a:endParaRPr lang="en-US" sz="850" dirty="0"/>
          </a:p>
        </p:txBody>
      </p:sp>
      <p:sp>
        <p:nvSpPr>
          <p:cNvPr id="72" name="Shape 70"/>
          <p:cNvSpPr/>
          <p:nvPr/>
        </p:nvSpPr>
        <p:spPr>
          <a:xfrm>
            <a:off x="9345168" y="5074920"/>
            <a:ext cx="36576" cy="228600"/>
          </a:xfrm>
          <a:prstGeom prst="rect">
            <a:avLst/>
          </a:prstGeom>
          <a:solidFill>
            <a:srgbClr val="EA580C"/>
          </a:solidFill>
          <a:ln/>
        </p:spPr>
      </p:sp>
      <p:sp>
        <p:nvSpPr>
          <p:cNvPr id="73" name="Text 71"/>
          <p:cNvSpPr/>
          <p:nvPr/>
        </p:nvSpPr>
        <p:spPr>
          <a:xfrm>
            <a:off x="9454896" y="492861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announcements.view  — solo lectura</a:t>
            </a:r>
            <a:endParaRPr lang="en-US" sz="850" dirty="0"/>
          </a:p>
        </p:txBody>
      </p:sp>
      <p:sp>
        <p:nvSpPr>
          <p:cNvPr id="74" name="Shape 72"/>
          <p:cNvSpPr/>
          <p:nvPr/>
        </p:nvSpPr>
        <p:spPr>
          <a:xfrm>
            <a:off x="9345168" y="5577840"/>
            <a:ext cx="36576" cy="228600"/>
          </a:xfrm>
          <a:prstGeom prst="rect">
            <a:avLst/>
          </a:prstGeom>
          <a:solidFill>
            <a:srgbClr val="EA580C"/>
          </a:solidFill>
          <a:ln/>
        </p:spPr>
      </p:sp>
      <p:sp>
        <p:nvSpPr>
          <p:cNvPr id="75" name="Text 73"/>
          <p:cNvSpPr/>
          <p:nvPr/>
        </p:nvSpPr>
        <p:spPr>
          <a:xfrm>
            <a:off x="9454896" y="5431536"/>
            <a:ext cx="2487168" cy="438912"/>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profile.edit  — perfil y contraseña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Flujo Completo de una Solicitud de Beca — Paso a Paso</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256032" y="1005840"/>
            <a:ext cx="2816352" cy="5257800"/>
          </a:xfrm>
          <a:prstGeom prst="roundRect">
            <a:avLst>
              <a:gd name="adj" fmla="val 3247"/>
            </a:avLst>
          </a:prstGeom>
          <a:solidFill>
            <a:srgbClr val="F3F4F6"/>
          </a:solidFill>
          <a:ln/>
          <a:effectLst>
            <a:outerShdw sx="100000" sy="100000" kx="0" ky="0" algn="bl" rotWithShape="0" blurRad="63500" dist="25400" dir="16200000">
              <a:srgbClr val="000000">
                <a:alpha val="75000"/>
              </a:srgbClr>
            </a:outerShdw>
          </a:effectLst>
        </p:spPr>
      </p:sp>
      <p:sp>
        <p:nvSpPr>
          <p:cNvPr id="7" name="Shape 5"/>
          <p:cNvSpPr/>
          <p:nvPr/>
        </p:nvSpPr>
        <p:spPr>
          <a:xfrm>
            <a:off x="256032" y="1005840"/>
            <a:ext cx="2816352" cy="804672"/>
          </a:xfrm>
          <a:prstGeom prst="roundRect">
            <a:avLst>
              <a:gd name="adj" fmla="val 11364"/>
            </a:avLst>
          </a:prstGeom>
          <a:solidFill>
            <a:srgbClr val="2563EB"/>
          </a:solidFill>
          <a:ln/>
        </p:spPr>
      </p:sp>
      <p:sp>
        <p:nvSpPr>
          <p:cNvPr id="8" name="Shape 6"/>
          <p:cNvSpPr/>
          <p:nvPr/>
        </p:nvSpPr>
        <p:spPr>
          <a:xfrm>
            <a:off x="256032" y="1371600"/>
            <a:ext cx="2816352" cy="438912"/>
          </a:xfrm>
          <a:prstGeom prst="rect">
            <a:avLst/>
          </a:prstGeom>
          <a:solidFill>
            <a:srgbClr val="2563EB"/>
          </a:solidFill>
          <a:ln/>
        </p:spPr>
      </p:sp>
      <p:sp>
        <p:nvSpPr>
          <p:cNvPr id="9" name="Shape 7"/>
          <p:cNvSpPr/>
          <p:nvPr/>
        </p:nvSpPr>
        <p:spPr>
          <a:xfrm>
            <a:off x="1298448" y="1042416"/>
            <a:ext cx="694944" cy="694944"/>
          </a:xfrm>
          <a:prstGeom prst="ellipse">
            <a:avLst/>
          </a:prstGeom>
          <a:solidFill>
            <a:srgbClr val="FFFFFF"/>
          </a:solidFill>
          <a:ln/>
        </p:spPr>
      </p:sp>
      <p:sp>
        <p:nvSpPr>
          <p:cNvPr id="10" name="Text 8"/>
          <p:cNvSpPr/>
          <p:nvPr/>
        </p:nvSpPr>
        <p:spPr>
          <a:xfrm>
            <a:off x="1298448" y="1060704"/>
            <a:ext cx="694944" cy="658368"/>
          </a:xfrm>
          <a:prstGeom prst="rect">
            <a:avLst/>
          </a:prstGeom>
          <a:noFill/>
          <a:ln/>
        </p:spPr>
        <p:txBody>
          <a:bodyPr wrap="square" rtlCol="0" anchor="ctr"/>
          <a:lstStyle/>
          <a:p>
            <a:pPr algn="ctr" indent="0" marL="0">
              <a:buNone/>
            </a:pPr>
            <a:r>
              <a:rPr lang="en-US" sz="2200" b="1" dirty="0">
                <a:solidFill>
                  <a:srgbClr val="2563EB"/>
                </a:solidFill>
                <a:latin typeface="Calibri" pitchFamily="34" charset="0"/>
                <a:ea typeface="Calibri" pitchFamily="34" charset="-122"/>
                <a:cs typeface="Calibri" pitchFamily="34" charset="-120"/>
              </a:rPr>
              <a:t>1</a:t>
            </a:r>
            <a:endParaRPr lang="en-US" sz="2200" dirty="0"/>
          </a:p>
        </p:txBody>
      </p:sp>
      <p:sp>
        <p:nvSpPr>
          <p:cNvPr id="11" name="Text 9"/>
          <p:cNvSpPr/>
          <p:nvPr/>
        </p:nvSpPr>
        <p:spPr>
          <a:xfrm>
            <a:off x="329184" y="1865376"/>
            <a:ext cx="267004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Docente aplica</a:t>
            </a:r>
            <a:endParaRPr lang="en-US" sz="1200" dirty="0"/>
          </a:p>
        </p:txBody>
      </p:sp>
      <p:sp>
        <p:nvSpPr>
          <p:cNvPr id="12" name="Shape 10"/>
          <p:cNvSpPr/>
          <p:nvPr/>
        </p:nvSpPr>
        <p:spPr>
          <a:xfrm>
            <a:off x="758952" y="2304288"/>
            <a:ext cx="1828800" cy="292608"/>
          </a:xfrm>
          <a:prstGeom prst="roundRect">
            <a:avLst>
              <a:gd name="adj" fmla="val 21875"/>
            </a:avLst>
          </a:prstGeom>
          <a:solidFill>
            <a:srgbClr val="2563EB"/>
          </a:solidFill>
          <a:ln/>
        </p:spPr>
      </p:sp>
      <p:sp>
        <p:nvSpPr>
          <p:cNvPr id="13" name="Text 11"/>
          <p:cNvSpPr/>
          <p:nvPr/>
        </p:nvSpPr>
        <p:spPr>
          <a:xfrm>
            <a:off x="758952" y="2304288"/>
            <a:ext cx="182880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Actor: Docente</a:t>
            </a:r>
            <a:endParaRPr lang="en-US" sz="950" dirty="0"/>
          </a:p>
        </p:txBody>
      </p:sp>
      <p:sp>
        <p:nvSpPr>
          <p:cNvPr id="14" name="Shape 12"/>
          <p:cNvSpPr/>
          <p:nvPr/>
        </p:nvSpPr>
        <p:spPr>
          <a:xfrm>
            <a:off x="420624" y="2852928"/>
            <a:ext cx="91440" cy="91440"/>
          </a:xfrm>
          <a:prstGeom prst="ellipse">
            <a:avLst/>
          </a:prstGeom>
          <a:solidFill>
            <a:srgbClr val="2563EB"/>
          </a:solidFill>
          <a:ln/>
        </p:spPr>
      </p:sp>
      <p:sp>
        <p:nvSpPr>
          <p:cNvPr id="15" name="Text 13"/>
          <p:cNvSpPr/>
          <p:nvPr/>
        </p:nvSpPr>
        <p:spPr>
          <a:xfrm>
            <a:off x="576072" y="2724912"/>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Convocatoria debe estar en etapa 'registro'</a:t>
            </a:r>
            <a:endParaRPr lang="en-US" sz="900" dirty="0"/>
          </a:p>
        </p:txBody>
      </p:sp>
      <p:sp>
        <p:nvSpPr>
          <p:cNvPr id="16" name="Shape 14"/>
          <p:cNvSpPr/>
          <p:nvPr/>
        </p:nvSpPr>
        <p:spPr>
          <a:xfrm>
            <a:off x="420624" y="3346704"/>
            <a:ext cx="91440" cy="91440"/>
          </a:xfrm>
          <a:prstGeom prst="ellipse">
            <a:avLst/>
          </a:prstGeom>
          <a:solidFill>
            <a:srgbClr val="2563EB"/>
          </a:solidFill>
          <a:ln/>
        </p:spPr>
      </p:sp>
      <p:sp>
        <p:nvSpPr>
          <p:cNvPr id="17" name="Text 15"/>
          <p:cNvSpPr/>
          <p:nvPr/>
        </p:nvSpPr>
        <p:spPr>
          <a:xfrm>
            <a:off x="576072" y="3218688"/>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Sistema verifica: sin solicitud previa</a:t>
            </a:r>
            <a:endParaRPr lang="en-US" sz="900" dirty="0"/>
          </a:p>
        </p:txBody>
      </p:sp>
      <p:sp>
        <p:nvSpPr>
          <p:cNvPr id="18" name="Shape 16"/>
          <p:cNvSpPr/>
          <p:nvPr/>
        </p:nvSpPr>
        <p:spPr>
          <a:xfrm>
            <a:off x="420624" y="3840480"/>
            <a:ext cx="91440" cy="91440"/>
          </a:xfrm>
          <a:prstGeom prst="ellipse">
            <a:avLst/>
          </a:prstGeom>
          <a:solidFill>
            <a:srgbClr val="2563EB"/>
          </a:solidFill>
          <a:ln/>
        </p:spPr>
      </p:sp>
      <p:sp>
        <p:nvSpPr>
          <p:cNvPr id="19" name="Text 17"/>
          <p:cNvSpPr/>
          <p:nvPr/>
        </p:nvSpPr>
        <p:spPr>
          <a:xfrm>
            <a:off x="576072" y="3712464"/>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Sube documentos requeridos (CatalogDocument)</a:t>
            </a:r>
            <a:endParaRPr lang="en-US" sz="900" dirty="0"/>
          </a:p>
        </p:txBody>
      </p:sp>
      <p:sp>
        <p:nvSpPr>
          <p:cNvPr id="20" name="Shape 18"/>
          <p:cNvSpPr/>
          <p:nvPr/>
        </p:nvSpPr>
        <p:spPr>
          <a:xfrm>
            <a:off x="420624" y="4334256"/>
            <a:ext cx="91440" cy="91440"/>
          </a:xfrm>
          <a:prstGeom prst="ellipse">
            <a:avLst/>
          </a:prstGeom>
          <a:solidFill>
            <a:srgbClr val="059669"/>
          </a:solidFill>
          <a:ln/>
        </p:spPr>
      </p:sp>
      <p:sp>
        <p:nvSpPr>
          <p:cNvPr id="21" name="Text 19"/>
          <p:cNvSpPr/>
          <p:nvPr/>
        </p:nvSpPr>
        <p:spPr>
          <a:xfrm>
            <a:off x="576072" y="4206240"/>
            <a:ext cx="2377440" cy="438912"/>
          </a:xfrm>
          <a:prstGeom prst="rect">
            <a:avLst/>
          </a:prstGeom>
          <a:noFill/>
          <a:ln/>
        </p:spPr>
        <p:txBody>
          <a:bodyPr wrap="square" rtlCol="0" anchor="ctr"/>
          <a:lstStyle/>
          <a:p>
            <a:pPr indent="0" marL="0">
              <a:buNone/>
            </a:pPr>
            <a:r>
              <a:rPr lang="en-US" sz="900" dirty="0">
                <a:solidFill>
                  <a:srgbClr val="059669"/>
                </a:solidFill>
                <a:latin typeface="Calibri" pitchFamily="34" charset="0"/>
                <a:ea typeface="Calibri" pitchFamily="34" charset="-122"/>
                <a:cs typeface="Calibri" pitchFamily="34" charset="-120"/>
              </a:rPr>
              <a:t>BD: applications { status = 'pending' }</a:t>
            </a:r>
            <a:endParaRPr lang="en-US" sz="900" dirty="0"/>
          </a:p>
        </p:txBody>
      </p:sp>
      <p:sp>
        <p:nvSpPr>
          <p:cNvPr id="22" name="Shape 20"/>
          <p:cNvSpPr/>
          <p:nvPr/>
        </p:nvSpPr>
        <p:spPr>
          <a:xfrm>
            <a:off x="420624" y="4828032"/>
            <a:ext cx="91440" cy="91440"/>
          </a:xfrm>
          <a:prstGeom prst="ellipse">
            <a:avLst/>
          </a:prstGeom>
          <a:solidFill>
            <a:srgbClr val="EA580C"/>
          </a:solidFill>
          <a:ln/>
        </p:spPr>
      </p:sp>
      <p:sp>
        <p:nvSpPr>
          <p:cNvPr id="23" name="Text 21"/>
          <p:cNvSpPr/>
          <p:nvPr/>
        </p:nvSpPr>
        <p:spPr>
          <a:xfrm>
            <a:off x="576072" y="4700016"/>
            <a:ext cx="2377440" cy="438912"/>
          </a:xfrm>
          <a:prstGeom prst="rect">
            <a:avLst/>
          </a:prstGeom>
          <a:noFill/>
          <a:ln/>
        </p:spPr>
        <p:txBody>
          <a:bodyPr wrap="square" rtlCol="0" anchor="ctr"/>
          <a:lstStyle/>
          <a:p>
            <a:pPr indent="0" marL="0">
              <a:buNone/>
            </a:pPr>
            <a:r>
              <a:rPr lang="en-US" sz="900" dirty="0">
                <a:solidFill>
                  <a:srgbClr val="EA580C"/>
                </a:solidFill>
                <a:latin typeface="Calibri" pitchFamily="34" charset="0"/>
                <a:ea typeface="Calibri" pitchFamily="34" charset="-122"/>
                <a:cs typeface="Calibri" pitchFamily="34" charset="-120"/>
              </a:rPr>
              <a:t>Email: ninguno en este momento</a:t>
            </a:r>
            <a:endParaRPr lang="en-US" sz="900" dirty="0"/>
          </a:p>
        </p:txBody>
      </p:sp>
      <p:sp>
        <p:nvSpPr>
          <p:cNvPr id="24" name="Text 22"/>
          <p:cNvSpPr/>
          <p:nvPr/>
        </p:nvSpPr>
        <p:spPr>
          <a:xfrm>
            <a:off x="2999232" y="3474720"/>
            <a:ext cx="274320" cy="411480"/>
          </a:xfrm>
          <a:prstGeom prst="rect">
            <a:avLst/>
          </a:prstGeom>
          <a:noFill/>
          <a:ln/>
        </p:spPr>
        <p:txBody>
          <a:bodyPr wrap="square" rtlCol="0" anchor="ctr"/>
          <a:lstStyle/>
          <a:p>
            <a:pPr algn="ctr" indent="0" marL="0">
              <a:buNone/>
            </a:pPr>
            <a:r>
              <a:rPr lang="en-US" sz="2200" b="1" dirty="0">
                <a:solidFill>
                  <a:srgbClr val="CBD5E1"/>
                </a:solidFill>
              </a:rPr>
              <a:t>→</a:t>
            </a:r>
            <a:endParaRPr lang="en-US" sz="2200" dirty="0"/>
          </a:p>
        </p:txBody>
      </p:sp>
      <p:sp>
        <p:nvSpPr>
          <p:cNvPr id="25" name="Shape 23"/>
          <p:cNvSpPr/>
          <p:nvPr/>
        </p:nvSpPr>
        <p:spPr>
          <a:xfrm>
            <a:off x="3236976" y="1005840"/>
            <a:ext cx="2816352" cy="5257800"/>
          </a:xfrm>
          <a:prstGeom prst="roundRect">
            <a:avLst>
              <a:gd name="adj" fmla="val 3247"/>
            </a:avLst>
          </a:prstGeom>
          <a:solidFill>
            <a:srgbClr val="F3F4F6"/>
          </a:solidFill>
          <a:ln/>
          <a:effectLst>
            <a:outerShdw sx="100000" sy="100000" kx="0" ky="0" algn="bl" rotWithShape="0" blurRad="63500" dist="25400" dir="16200000">
              <a:srgbClr val="000000">
                <a:alpha val="75000"/>
              </a:srgbClr>
            </a:outerShdw>
          </a:effectLst>
        </p:spPr>
      </p:sp>
      <p:sp>
        <p:nvSpPr>
          <p:cNvPr id="26" name="Shape 24"/>
          <p:cNvSpPr/>
          <p:nvPr/>
        </p:nvSpPr>
        <p:spPr>
          <a:xfrm>
            <a:off x="3236976" y="1005840"/>
            <a:ext cx="2816352" cy="804672"/>
          </a:xfrm>
          <a:prstGeom prst="roundRect">
            <a:avLst>
              <a:gd name="adj" fmla="val 11364"/>
            </a:avLst>
          </a:prstGeom>
          <a:solidFill>
            <a:srgbClr val="7C3AED"/>
          </a:solidFill>
          <a:ln/>
        </p:spPr>
      </p:sp>
      <p:sp>
        <p:nvSpPr>
          <p:cNvPr id="27" name="Shape 25"/>
          <p:cNvSpPr/>
          <p:nvPr/>
        </p:nvSpPr>
        <p:spPr>
          <a:xfrm>
            <a:off x="3236976" y="1371600"/>
            <a:ext cx="2816352" cy="438912"/>
          </a:xfrm>
          <a:prstGeom prst="rect">
            <a:avLst/>
          </a:prstGeom>
          <a:solidFill>
            <a:srgbClr val="7C3AED"/>
          </a:solidFill>
          <a:ln/>
        </p:spPr>
      </p:sp>
      <p:sp>
        <p:nvSpPr>
          <p:cNvPr id="28" name="Shape 26"/>
          <p:cNvSpPr/>
          <p:nvPr/>
        </p:nvSpPr>
        <p:spPr>
          <a:xfrm>
            <a:off x="4279392" y="1042416"/>
            <a:ext cx="694944" cy="694944"/>
          </a:xfrm>
          <a:prstGeom prst="ellipse">
            <a:avLst/>
          </a:prstGeom>
          <a:solidFill>
            <a:srgbClr val="FFFFFF"/>
          </a:solidFill>
          <a:ln/>
        </p:spPr>
      </p:sp>
      <p:sp>
        <p:nvSpPr>
          <p:cNvPr id="29" name="Text 27"/>
          <p:cNvSpPr/>
          <p:nvPr/>
        </p:nvSpPr>
        <p:spPr>
          <a:xfrm>
            <a:off x="4279392" y="1060704"/>
            <a:ext cx="694944" cy="658368"/>
          </a:xfrm>
          <a:prstGeom prst="rect">
            <a:avLst/>
          </a:prstGeom>
          <a:noFill/>
          <a:ln/>
        </p:spPr>
        <p:txBody>
          <a:bodyPr wrap="square" rtlCol="0" anchor="ctr"/>
          <a:lstStyle/>
          <a:p>
            <a:pPr algn="ctr" indent="0" marL="0">
              <a:buNone/>
            </a:pPr>
            <a:r>
              <a:rPr lang="en-US" sz="2200" b="1" dirty="0">
                <a:solidFill>
                  <a:srgbClr val="7C3AED"/>
                </a:solidFill>
                <a:latin typeface="Calibri" pitchFamily="34" charset="0"/>
                <a:ea typeface="Calibri" pitchFamily="34" charset="-122"/>
                <a:cs typeface="Calibri" pitchFamily="34" charset="-120"/>
              </a:rPr>
              <a:t>2</a:t>
            </a:r>
            <a:endParaRPr lang="en-US" sz="2200" dirty="0"/>
          </a:p>
        </p:txBody>
      </p:sp>
      <p:sp>
        <p:nvSpPr>
          <p:cNvPr id="30" name="Text 28"/>
          <p:cNvSpPr/>
          <p:nvPr/>
        </p:nvSpPr>
        <p:spPr>
          <a:xfrm>
            <a:off x="3310128" y="1865376"/>
            <a:ext cx="267004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Admin asigna evaluadores</a:t>
            </a:r>
            <a:endParaRPr lang="en-US" sz="1200" dirty="0"/>
          </a:p>
        </p:txBody>
      </p:sp>
      <p:sp>
        <p:nvSpPr>
          <p:cNvPr id="31" name="Shape 29"/>
          <p:cNvSpPr/>
          <p:nvPr/>
        </p:nvSpPr>
        <p:spPr>
          <a:xfrm>
            <a:off x="3739896" y="2304288"/>
            <a:ext cx="1828800" cy="292608"/>
          </a:xfrm>
          <a:prstGeom prst="roundRect">
            <a:avLst>
              <a:gd name="adj" fmla="val 21875"/>
            </a:avLst>
          </a:prstGeom>
          <a:solidFill>
            <a:srgbClr val="7C3AED"/>
          </a:solidFill>
          <a:ln/>
        </p:spPr>
      </p:sp>
      <p:sp>
        <p:nvSpPr>
          <p:cNvPr id="32" name="Text 30"/>
          <p:cNvSpPr/>
          <p:nvPr/>
        </p:nvSpPr>
        <p:spPr>
          <a:xfrm>
            <a:off x="3739896" y="2304288"/>
            <a:ext cx="182880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Actor: Admin</a:t>
            </a:r>
            <a:endParaRPr lang="en-US" sz="950" dirty="0"/>
          </a:p>
        </p:txBody>
      </p:sp>
      <p:sp>
        <p:nvSpPr>
          <p:cNvPr id="33" name="Shape 31"/>
          <p:cNvSpPr/>
          <p:nvPr/>
        </p:nvSpPr>
        <p:spPr>
          <a:xfrm>
            <a:off x="3401568" y="2852928"/>
            <a:ext cx="91440" cy="91440"/>
          </a:xfrm>
          <a:prstGeom prst="ellipse">
            <a:avLst/>
          </a:prstGeom>
          <a:solidFill>
            <a:srgbClr val="7C3AED"/>
          </a:solidFill>
          <a:ln/>
        </p:spPr>
      </p:sp>
      <p:sp>
        <p:nvSpPr>
          <p:cNvPr id="34" name="Text 32"/>
          <p:cNvSpPr/>
          <p:nvPr/>
        </p:nvSpPr>
        <p:spPr>
          <a:xfrm>
            <a:off x="3557016" y="2724912"/>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Admin selecciona 1 ó más evaluadores</a:t>
            </a:r>
            <a:endParaRPr lang="en-US" sz="900" dirty="0"/>
          </a:p>
        </p:txBody>
      </p:sp>
      <p:sp>
        <p:nvSpPr>
          <p:cNvPr id="35" name="Shape 33"/>
          <p:cNvSpPr/>
          <p:nvPr/>
        </p:nvSpPr>
        <p:spPr>
          <a:xfrm>
            <a:off x="3401568" y="3346704"/>
            <a:ext cx="91440" cy="91440"/>
          </a:xfrm>
          <a:prstGeom prst="ellipse">
            <a:avLst/>
          </a:prstGeom>
          <a:solidFill>
            <a:srgbClr val="7C3AED"/>
          </a:solidFill>
          <a:ln/>
        </p:spPr>
      </p:sp>
      <p:sp>
        <p:nvSpPr>
          <p:cNvPr id="36" name="Text 34"/>
          <p:cNvSpPr/>
          <p:nvPr/>
        </p:nvSpPr>
        <p:spPr>
          <a:xfrm>
            <a:off x="3557016" y="3218688"/>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Se crean Evaluation records por evaluador</a:t>
            </a:r>
            <a:endParaRPr lang="en-US" sz="900" dirty="0"/>
          </a:p>
        </p:txBody>
      </p:sp>
      <p:sp>
        <p:nvSpPr>
          <p:cNvPr id="37" name="Shape 35"/>
          <p:cNvSpPr/>
          <p:nvPr/>
        </p:nvSpPr>
        <p:spPr>
          <a:xfrm>
            <a:off x="3401568" y="3840480"/>
            <a:ext cx="91440" cy="91440"/>
          </a:xfrm>
          <a:prstGeom prst="ellipse">
            <a:avLst/>
          </a:prstGeom>
          <a:solidFill>
            <a:srgbClr val="7C3AED"/>
          </a:solidFill>
          <a:ln/>
        </p:spPr>
      </p:sp>
      <p:sp>
        <p:nvSpPr>
          <p:cNvPr id="38" name="Text 36"/>
          <p:cNvSpPr/>
          <p:nvPr/>
        </p:nvSpPr>
        <p:spPr>
          <a:xfrm>
            <a:off x="3557016" y="3712464"/>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deadline_at = +7 días hábiles automático</a:t>
            </a:r>
            <a:endParaRPr lang="en-US" sz="900" dirty="0"/>
          </a:p>
        </p:txBody>
      </p:sp>
      <p:sp>
        <p:nvSpPr>
          <p:cNvPr id="39" name="Shape 37"/>
          <p:cNvSpPr/>
          <p:nvPr/>
        </p:nvSpPr>
        <p:spPr>
          <a:xfrm>
            <a:off x="3401568" y="4334256"/>
            <a:ext cx="91440" cy="91440"/>
          </a:xfrm>
          <a:prstGeom prst="ellipse">
            <a:avLst/>
          </a:prstGeom>
          <a:solidFill>
            <a:srgbClr val="059669"/>
          </a:solidFill>
          <a:ln/>
        </p:spPr>
      </p:sp>
      <p:sp>
        <p:nvSpPr>
          <p:cNvPr id="40" name="Text 38"/>
          <p:cNvSpPr/>
          <p:nvPr/>
        </p:nvSpPr>
        <p:spPr>
          <a:xfrm>
            <a:off x="3557016" y="4206240"/>
            <a:ext cx="2377440" cy="438912"/>
          </a:xfrm>
          <a:prstGeom prst="rect">
            <a:avLst/>
          </a:prstGeom>
          <a:noFill/>
          <a:ln/>
        </p:spPr>
        <p:txBody>
          <a:bodyPr wrap="square" rtlCol="0" anchor="ctr"/>
          <a:lstStyle/>
          <a:p>
            <a:pPr indent="0" marL="0">
              <a:buNone/>
            </a:pPr>
            <a:r>
              <a:rPr lang="en-US" sz="900" dirty="0">
                <a:solidFill>
                  <a:srgbClr val="059669"/>
                </a:solidFill>
                <a:latin typeface="Calibri" pitchFamily="34" charset="0"/>
                <a:ea typeface="Calibri" pitchFamily="34" charset="-122"/>
                <a:cs typeface="Calibri" pitchFamily="34" charset="-120"/>
              </a:rPr>
              <a:t>BD: evaluations { status = 'pending' }</a:t>
            </a:r>
            <a:endParaRPr lang="en-US" sz="900" dirty="0"/>
          </a:p>
        </p:txBody>
      </p:sp>
      <p:sp>
        <p:nvSpPr>
          <p:cNvPr id="41" name="Shape 39"/>
          <p:cNvSpPr/>
          <p:nvPr/>
        </p:nvSpPr>
        <p:spPr>
          <a:xfrm>
            <a:off x="3401568" y="4828032"/>
            <a:ext cx="91440" cy="91440"/>
          </a:xfrm>
          <a:prstGeom prst="ellipse">
            <a:avLst/>
          </a:prstGeom>
          <a:solidFill>
            <a:srgbClr val="EA580C"/>
          </a:solidFill>
          <a:ln/>
        </p:spPr>
      </p:sp>
      <p:sp>
        <p:nvSpPr>
          <p:cNvPr id="42" name="Text 40"/>
          <p:cNvSpPr/>
          <p:nvPr/>
        </p:nvSpPr>
        <p:spPr>
          <a:xfrm>
            <a:off x="3557016" y="4700016"/>
            <a:ext cx="2377440" cy="438912"/>
          </a:xfrm>
          <a:prstGeom prst="rect">
            <a:avLst/>
          </a:prstGeom>
          <a:noFill/>
          <a:ln/>
        </p:spPr>
        <p:txBody>
          <a:bodyPr wrap="square" rtlCol="0" anchor="ctr"/>
          <a:lstStyle/>
          <a:p>
            <a:pPr indent="0" marL="0">
              <a:buNone/>
            </a:pPr>
            <a:r>
              <a:rPr lang="en-US" sz="900" dirty="0">
                <a:solidFill>
                  <a:srgbClr val="EA580C"/>
                </a:solidFill>
                <a:latin typeface="Calibri" pitchFamily="34" charset="0"/>
                <a:ea typeface="Calibri" pitchFamily="34" charset="-122"/>
                <a:cs typeface="Calibri" pitchFamily="34" charset="-120"/>
              </a:rPr>
              <a:t>Email: EvaluatorAssigned → a cada evaluador</a:t>
            </a:r>
            <a:endParaRPr lang="en-US" sz="900" dirty="0"/>
          </a:p>
        </p:txBody>
      </p:sp>
      <p:sp>
        <p:nvSpPr>
          <p:cNvPr id="43" name="Text 41"/>
          <p:cNvSpPr/>
          <p:nvPr/>
        </p:nvSpPr>
        <p:spPr>
          <a:xfrm>
            <a:off x="5980176" y="3474720"/>
            <a:ext cx="274320" cy="411480"/>
          </a:xfrm>
          <a:prstGeom prst="rect">
            <a:avLst/>
          </a:prstGeom>
          <a:noFill/>
          <a:ln/>
        </p:spPr>
        <p:txBody>
          <a:bodyPr wrap="square" rtlCol="0" anchor="ctr"/>
          <a:lstStyle/>
          <a:p>
            <a:pPr algn="ctr" indent="0" marL="0">
              <a:buNone/>
            </a:pPr>
            <a:r>
              <a:rPr lang="en-US" sz="2200" b="1" dirty="0">
                <a:solidFill>
                  <a:srgbClr val="CBD5E1"/>
                </a:solidFill>
              </a:rPr>
              <a:t>→</a:t>
            </a:r>
            <a:endParaRPr lang="en-US" sz="2200" dirty="0"/>
          </a:p>
        </p:txBody>
      </p:sp>
      <p:sp>
        <p:nvSpPr>
          <p:cNvPr id="44" name="Shape 42"/>
          <p:cNvSpPr/>
          <p:nvPr/>
        </p:nvSpPr>
        <p:spPr>
          <a:xfrm>
            <a:off x="6217920" y="1005840"/>
            <a:ext cx="2816352" cy="5257800"/>
          </a:xfrm>
          <a:prstGeom prst="roundRect">
            <a:avLst>
              <a:gd name="adj" fmla="val 3247"/>
            </a:avLst>
          </a:prstGeom>
          <a:solidFill>
            <a:srgbClr val="F3F4F6"/>
          </a:solidFill>
          <a:ln/>
          <a:effectLst>
            <a:outerShdw sx="100000" sy="100000" kx="0" ky="0" algn="bl" rotWithShape="0" blurRad="63500" dist="25400" dir="16200000">
              <a:srgbClr val="000000">
                <a:alpha val="75000"/>
              </a:srgbClr>
            </a:outerShdw>
          </a:effectLst>
        </p:spPr>
      </p:sp>
      <p:sp>
        <p:nvSpPr>
          <p:cNvPr id="45" name="Shape 43"/>
          <p:cNvSpPr/>
          <p:nvPr/>
        </p:nvSpPr>
        <p:spPr>
          <a:xfrm>
            <a:off x="6217920" y="1005840"/>
            <a:ext cx="2816352" cy="804672"/>
          </a:xfrm>
          <a:prstGeom prst="roundRect">
            <a:avLst>
              <a:gd name="adj" fmla="val 11364"/>
            </a:avLst>
          </a:prstGeom>
          <a:solidFill>
            <a:srgbClr val="0D9488"/>
          </a:solidFill>
          <a:ln/>
        </p:spPr>
      </p:sp>
      <p:sp>
        <p:nvSpPr>
          <p:cNvPr id="46" name="Shape 44"/>
          <p:cNvSpPr/>
          <p:nvPr/>
        </p:nvSpPr>
        <p:spPr>
          <a:xfrm>
            <a:off x="6217920" y="1371600"/>
            <a:ext cx="2816352" cy="438912"/>
          </a:xfrm>
          <a:prstGeom prst="rect">
            <a:avLst/>
          </a:prstGeom>
          <a:solidFill>
            <a:srgbClr val="0D9488"/>
          </a:solidFill>
          <a:ln/>
        </p:spPr>
      </p:sp>
      <p:sp>
        <p:nvSpPr>
          <p:cNvPr id="47" name="Shape 45"/>
          <p:cNvSpPr/>
          <p:nvPr/>
        </p:nvSpPr>
        <p:spPr>
          <a:xfrm>
            <a:off x="7260336" y="1042416"/>
            <a:ext cx="694944" cy="694944"/>
          </a:xfrm>
          <a:prstGeom prst="ellipse">
            <a:avLst/>
          </a:prstGeom>
          <a:solidFill>
            <a:srgbClr val="FFFFFF"/>
          </a:solidFill>
          <a:ln/>
        </p:spPr>
      </p:sp>
      <p:sp>
        <p:nvSpPr>
          <p:cNvPr id="48" name="Text 46"/>
          <p:cNvSpPr/>
          <p:nvPr/>
        </p:nvSpPr>
        <p:spPr>
          <a:xfrm>
            <a:off x="7260336" y="1060704"/>
            <a:ext cx="694944" cy="658368"/>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3</a:t>
            </a:r>
            <a:endParaRPr lang="en-US" sz="2200" dirty="0"/>
          </a:p>
        </p:txBody>
      </p:sp>
      <p:sp>
        <p:nvSpPr>
          <p:cNvPr id="49" name="Text 47"/>
          <p:cNvSpPr/>
          <p:nvPr/>
        </p:nvSpPr>
        <p:spPr>
          <a:xfrm>
            <a:off x="6291072" y="1865376"/>
            <a:ext cx="267004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Evaluador califica</a:t>
            </a:r>
            <a:endParaRPr lang="en-US" sz="1200" dirty="0"/>
          </a:p>
        </p:txBody>
      </p:sp>
      <p:sp>
        <p:nvSpPr>
          <p:cNvPr id="50" name="Shape 48"/>
          <p:cNvSpPr/>
          <p:nvPr/>
        </p:nvSpPr>
        <p:spPr>
          <a:xfrm>
            <a:off x="6720840" y="2304288"/>
            <a:ext cx="1828800" cy="292608"/>
          </a:xfrm>
          <a:prstGeom prst="roundRect">
            <a:avLst>
              <a:gd name="adj" fmla="val 21875"/>
            </a:avLst>
          </a:prstGeom>
          <a:solidFill>
            <a:srgbClr val="0D9488"/>
          </a:solidFill>
          <a:ln/>
        </p:spPr>
      </p:sp>
      <p:sp>
        <p:nvSpPr>
          <p:cNvPr id="51" name="Text 49"/>
          <p:cNvSpPr/>
          <p:nvPr/>
        </p:nvSpPr>
        <p:spPr>
          <a:xfrm>
            <a:off x="6720840" y="2304288"/>
            <a:ext cx="182880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Actor: Evaluador</a:t>
            </a:r>
            <a:endParaRPr lang="en-US" sz="950" dirty="0"/>
          </a:p>
        </p:txBody>
      </p:sp>
      <p:sp>
        <p:nvSpPr>
          <p:cNvPr id="52" name="Shape 50"/>
          <p:cNvSpPr/>
          <p:nvPr/>
        </p:nvSpPr>
        <p:spPr>
          <a:xfrm>
            <a:off x="6382512" y="2852928"/>
            <a:ext cx="91440" cy="91440"/>
          </a:xfrm>
          <a:prstGeom prst="ellipse">
            <a:avLst/>
          </a:prstGeom>
          <a:solidFill>
            <a:srgbClr val="0D9488"/>
          </a:solidFill>
          <a:ln/>
        </p:spPr>
      </p:sp>
      <p:sp>
        <p:nvSpPr>
          <p:cNvPr id="53" name="Text 51"/>
          <p:cNvSpPr/>
          <p:nvPr/>
        </p:nvSpPr>
        <p:spPr>
          <a:xfrm>
            <a:off x="6537960" y="2724912"/>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Descarga documentos adjuntos del docente</a:t>
            </a:r>
            <a:endParaRPr lang="en-US" sz="900" dirty="0"/>
          </a:p>
        </p:txBody>
      </p:sp>
      <p:sp>
        <p:nvSpPr>
          <p:cNvPr id="54" name="Shape 52"/>
          <p:cNvSpPr/>
          <p:nvPr/>
        </p:nvSpPr>
        <p:spPr>
          <a:xfrm>
            <a:off x="6382512" y="3346704"/>
            <a:ext cx="91440" cy="91440"/>
          </a:xfrm>
          <a:prstGeom prst="ellipse">
            <a:avLst/>
          </a:prstGeom>
          <a:solidFill>
            <a:srgbClr val="0D9488"/>
          </a:solidFill>
          <a:ln/>
        </p:spPr>
      </p:sp>
      <p:sp>
        <p:nvSpPr>
          <p:cNvPr id="55" name="Text 53"/>
          <p:cNvSpPr/>
          <p:nvPr/>
        </p:nvSpPr>
        <p:spPr>
          <a:xfrm>
            <a:off x="6537960" y="3218688"/>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Responde RubricQuestion por RubricQuestion</a:t>
            </a:r>
            <a:endParaRPr lang="en-US" sz="900" dirty="0"/>
          </a:p>
        </p:txBody>
      </p:sp>
      <p:sp>
        <p:nvSpPr>
          <p:cNvPr id="56" name="Shape 54"/>
          <p:cNvSpPr/>
          <p:nvPr/>
        </p:nvSpPr>
        <p:spPr>
          <a:xfrm>
            <a:off x="6382512" y="3840480"/>
            <a:ext cx="91440" cy="91440"/>
          </a:xfrm>
          <a:prstGeom prst="ellipse">
            <a:avLst/>
          </a:prstGeom>
          <a:solidFill>
            <a:srgbClr val="0D9488"/>
          </a:solidFill>
          <a:ln/>
        </p:spPr>
      </p:sp>
      <p:sp>
        <p:nvSpPr>
          <p:cNvPr id="57" name="Text 55"/>
          <p:cNvSpPr/>
          <p:nvPr/>
        </p:nvSpPr>
        <p:spPr>
          <a:xfrm>
            <a:off x="6537960" y="3712464"/>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Selecciona RubricQuestionOption (con puntaje)</a:t>
            </a:r>
            <a:endParaRPr lang="en-US" sz="900" dirty="0"/>
          </a:p>
        </p:txBody>
      </p:sp>
      <p:sp>
        <p:nvSpPr>
          <p:cNvPr id="58" name="Shape 56"/>
          <p:cNvSpPr/>
          <p:nvPr/>
        </p:nvSpPr>
        <p:spPr>
          <a:xfrm>
            <a:off x="6382512" y="4334256"/>
            <a:ext cx="91440" cy="91440"/>
          </a:xfrm>
          <a:prstGeom prst="ellipse">
            <a:avLst/>
          </a:prstGeom>
          <a:solidFill>
            <a:srgbClr val="0D9488"/>
          </a:solidFill>
          <a:ln/>
        </p:spPr>
      </p:sp>
      <p:sp>
        <p:nvSpPr>
          <p:cNvPr id="59" name="Text 57"/>
          <p:cNvSpPr/>
          <p:nvPr/>
        </p:nvSpPr>
        <p:spPr>
          <a:xfrm>
            <a:off x="6537960" y="4206240"/>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Score calculado automáticamente al enviar</a:t>
            </a:r>
            <a:endParaRPr lang="en-US" sz="900" dirty="0"/>
          </a:p>
        </p:txBody>
      </p:sp>
      <p:sp>
        <p:nvSpPr>
          <p:cNvPr id="60" name="Shape 58"/>
          <p:cNvSpPr/>
          <p:nvPr/>
        </p:nvSpPr>
        <p:spPr>
          <a:xfrm>
            <a:off x="6382512" y="4828032"/>
            <a:ext cx="91440" cy="91440"/>
          </a:xfrm>
          <a:prstGeom prst="ellipse">
            <a:avLst/>
          </a:prstGeom>
          <a:solidFill>
            <a:srgbClr val="059669"/>
          </a:solidFill>
          <a:ln/>
        </p:spPr>
      </p:sp>
      <p:sp>
        <p:nvSpPr>
          <p:cNvPr id="61" name="Text 59"/>
          <p:cNvSpPr/>
          <p:nvPr/>
        </p:nvSpPr>
        <p:spPr>
          <a:xfrm>
            <a:off x="6537960" y="4700016"/>
            <a:ext cx="2377440" cy="438912"/>
          </a:xfrm>
          <a:prstGeom prst="rect">
            <a:avLst/>
          </a:prstGeom>
          <a:noFill/>
          <a:ln/>
        </p:spPr>
        <p:txBody>
          <a:bodyPr wrap="square" rtlCol="0" anchor="ctr"/>
          <a:lstStyle/>
          <a:p>
            <a:pPr indent="0" marL="0">
              <a:buNone/>
            </a:pPr>
            <a:r>
              <a:rPr lang="en-US" sz="900" dirty="0">
                <a:solidFill>
                  <a:srgbClr val="059669"/>
                </a:solidFill>
                <a:latin typeface="Calibri" pitchFamily="34" charset="0"/>
                <a:ea typeface="Calibri" pitchFamily="34" charset="-122"/>
                <a:cs typeface="Calibri" pitchFamily="34" charset="-120"/>
              </a:rPr>
              <a:t>BD: evaluations { status = approved/rejected }</a:t>
            </a:r>
            <a:endParaRPr lang="en-US" sz="900" dirty="0"/>
          </a:p>
        </p:txBody>
      </p:sp>
      <p:sp>
        <p:nvSpPr>
          <p:cNvPr id="62" name="Text 60"/>
          <p:cNvSpPr/>
          <p:nvPr/>
        </p:nvSpPr>
        <p:spPr>
          <a:xfrm>
            <a:off x="8961120" y="3474720"/>
            <a:ext cx="274320" cy="411480"/>
          </a:xfrm>
          <a:prstGeom prst="rect">
            <a:avLst/>
          </a:prstGeom>
          <a:noFill/>
          <a:ln/>
        </p:spPr>
        <p:txBody>
          <a:bodyPr wrap="square" rtlCol="0" anchor="ctr"/>
          <a:lstStyle/>
          <a:p>
            <a:pPr algn="ctr" indent="0" marL="0">
              <a:buNone/>
            </a:pPr>
            <a:r>
              <a:rPr lang="en-US" sz="2200" b="1" dirty="0">
                <a:solidFill>
                  <a:srgbClr val="CBD5E1"/>
                </a:solidFill>
              </a:rPr>
              <a:t>→</a:t>
            </a:r>
            <a:endParaRPr lang="en-US" sz="2200" dirty="0"/>
          </a:p>
        </p:txBody>
      </p:sp>
      <p:sp>
        <p:nvSpPr>
          <p:cNvPr id="63" name="Shape 61"/>
          <p:cNvSpPr/>
          <p:nvPr/>
        </p:nvSpPr>
        <p:spPr>
          <a:xfrm>
            <a:off x="9198864" y="1005840"/>
            <a:ext cx="2816352" cy="5257800"/>
          </a:xfrm>
          <a:prstGeom prst="roundRect">
            <a:avLst>
              <a:gd name="adj" fmla="val 3247"/>
            </a:avLst>
          </a:prstGeom>
          <a:solidFill>
            <a:srgbClr val="F3F4F6"/>
          </a:solidFill>
          <a:ln/>
          <a:effectLst>
            <a:outerShdw sx="100000" sy="100000" kx="0" ky="0" algn="bl" rotWithShape="0" blurRad="63500" dist="25400" dir="16200000">
              <a:srgbClr val="000000">
                <a:alpha val="75000"/>
              </a:srgbClr>
            </a:outerShdw>
          </a:effectLst>
        </p:spPr>
      </p:sp>
      <p:sp>
        <p:nvSpPr>
          <p:cNvPr id="64" name="Shape 62"/>
          <p:cNvSpPr/>
          <p:nvPr/>
        </p:nvSpPr>
        <p:spPr>
          <a:xfrm>
            <a:off x="9198864" y="1005840"/>
            <a:ext cx="2816352" cy="804672"/>
          </a:xfrm>
          <a:prstGeom prst="roundRect">
            <a:avLst>
              <a:gd name="adj" fmla="val 11364"/>
            </a:avLst>
          </a:prstGeom>
          <a:solidFill>
            <a:srgbClr val="EA580C"/>
          </a:solidFill>
          <a:ln/>
        </p:spPr>
      </p:sp>
      <p:sp>
        <p:nvSpPr>
          <p:cNvPr id="65" name="Shape 63"/>
          <p:cNvSpPr/>
          <p:nvPr/>
        </p:nvSpPr>
        <p:spPr>
          <a:xfrm>
            <a:off x="9198864" y="1371600"/>
            <a:ext cx="2816352" cy="438912"/>
          </a:xfrm>
          <a:prstGeom prst="rect">
            <a:avLst/>
          </a:prstGeom>
          <a:solidFill>
            <a:srgbClr val="EA580C"/>
          </a:solidFill>
          <a:ln/>
        </p:spPr>
      </p:sp>
      <p:sp>
        <p:nvSpPr>
          <p:cNvPr id="66" name="Shape 64"/>
          <p:cNvSpPr/>
          <p:nvPr/>
        </p:nvSpPr>
        <p:spPr>
          <a:xfrm>
            <a:off x="10241280" y="1042416"/>
            <a:ext cx="694944" cy="694944"/>
          </a:xfrm>
          <a:prstGeom prst="ellipse">
            <a:avLst/>
          </a:prstGeom>
          <a:solidFill>
            <a:srgbClr val="FFFFFF"/>
          </a:solidFill>
          <a:ln/>
        </p:spPr>
      </p:sp>
      <p:sp>
        <p:nvSpPr>
          <p:cNvPr id="67" name="Text 65"/>
          <p:cNvSpPr/>
          <p:nvPr/>
        </p:nvSpPr>
        <p:spPr>
          <a:xfrm>
            <a:off x="10241280" y="1060704"/>
            <a:ext cx="694944" cy="658368"/>
          </a:xfrm>
          <a:prstGeom prst="rect">
            <a:avLst/>
          </a:prstGeom>
          <a:noFill/>
          <a:ln/>
        </p:spPr>
        <p:txBody>
          <a:bodyPr wrap="square" rtlCol="0" anchor="ctr"/>
          <a:lstStyle/>
          <a:p>
            <a:pPr algn="ctr" indent="0" marL="0">
              <a:buNone/>
            </a:pPr>
            <a:r>
              <a:rPr lang="en-US" sz="2200" b="1" dirty="0">
                <a:solidFill>
                  <a:srgbClr val="EA580C"/>
                </a:solidFill>
                <a:latin typeface="Calibri" pitchFamily="34" charset="0"/>
                <a:ea typeface="Calibri" pitchFamily="34" charset="-122"/>
                <a:cs typeface="Calibri" pitchFamily="34" charset="-120"/>
              </a:rPr>
              <a:t>4</a:t>
            </a:r>
            <a:endParaRPr lang="en-US" sz="2200" dirty="0"/>
          </a:p>
        </p:txBody>
      </p:sp>
      <p:sp>
        <p:nvSpPr>
          <p:cNvPr id="68" name="Text 66"/>
          <p:cNvSpPr/>
          <p:nvPr/>
        </p:nvSpPr>
        <p:spPr>
          <a:xfrm>
            <a:off x="9272016" y="1865376"/>
            <a:ext cx="2670048"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Admin emite veredicto</a:t>
            </a:r>
            <a:endParaRPr lang="en-US" sz="1200" dirty="0"/>
          </a:p>
        </p:txBody>
      </p:sp>
      <p:sp>
        <p:nvSpPr>
          <p:cNvPr id="69" name="Shape 67"/>
          <p:cNvSpPr/>
          <p:nvPr/>
        </p:nvSpPr>
        <p:spPr>
          <a:xfrm>
            <a:off x="9701784" y="2304288"/>
            <a:ext cx="1828800" cy="292608"/>
          </a:xfrm>
          <a:prstGeom prst="roundRect">
            <a:avLst>
              <a:gd name="adj" fmla="val 21875"/>
            </a:avLst>
          </a:prstGeom>
          <a:solidFill>
            <a:srgbClr val="EA580C"/>
          </a:solidFill>
          <a:ln/>
        </p:spPr>
      </p:sp>
      <p:sp>
        <p:nvSpPr>
          <p:cNvPr id="70" name="Text 68"/>
          <p:cNvSpPr/>
          <p:nvPr/>
        </p:nvSpPr>
        <p:spPr>
          <a:xfrm>
            <a:off x="9701784" y="2304288"/>
            <a:ext cx="182880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Actor: Admin</a:t>
            </a:r>
            <a:endParaRPr lang="en-US" sz="950" dirty="0"/>
          </a:p>
        </p:txBody>
      </p:sp>
      <p:sp>
        <p:nvSpPr>
          <p:cNvPr id="71" name="Shape 69"/>
          <p:cNvSpPr/>
          <p:nvPr/>
        </p:nvSpPr>
        <p:spPr>
          <a:xfrm>
            <a:off x="9363456" y="2852928"/>
            <a:ext cx="91440" cy="91440"/>
          </a:xfrm>
          <a:prstGeom prst="ellipse">
            <a:avLst/>
          </a:prstGeom>
          <a:solidFill>
            <a:srgbClr val="EA580C"/>
          </a:solidFill>
          <a:ln/>
        </p:spPr>
      </p:sp>
      <p:sp>
        <p:nvSpPr>
          <p:cNvPr id="72" name="Text 70"/>
          <p:cNvSpPr/>
          <p:nvPr/>
        </p:nvSpPr>
        <p:spPr>
          <a:xfrm>
            <a:off x="9518904" y="2724912"/>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Revisa evaluaciones y puntajes asignados</a:t>
            </a:r>
            <a:endParaRPr lang="en-US" sz="900" dirty="0"/>
          </a:p>
        </p:txBody>
      </p:sp>
      <p:sp>
        <p:nvSpPr>
          <p:cNvPr id="73" name="Shape 71"/>
          <p:cNvSpPr/>
          <p:nvPr/>
        </p:nvSpPr>
        <p:spPr>
          <a:xfrm>
            <a:off x="9363456" y="3346704"/>
            <a:ext cx="91440" cy="91440"/>
          </a:xfrm>
          <a:prstGeom prst="ellipse">
            <a:avLst/>
          </a:prstGeom>
          <a:solidFill>
            <a:srgbClr val="EA580C"/>
          </a:solidFill>
          <a:ln/>
        </p:spPr>
      </p:sp>
      <p:sp>
        <p:nvSpPr>
          <p:cNvPr id="74" name="Text 72"/>
          <p:cNvSpPr/>
          <p:nvPr/>
        </p:nvSpPr>
        <p:spPr>
          <a:xfrm>
            <a:off x="9518904" y="3218688"/>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Clic en 'Aprobar' o 'Rechazar' solicitud</a:t>
            </a:r>
            <a:endParaRPr lang="en-US" sz="900" dirty="0"/>
          </a:p>
        </p:txBody>
      </p:sp>
      <p:sp>
        <p:nvSpPr>
          <p:cNvPr id="75" name="Shape 73"/>
          <p:cNvSpPr/>
          <p:nvPr/>
        </p:nvSpPr>
        <p:spPr>
          <a:xfrm>
            <a:off x="9363456" y="3840480"/>
            <a:ext cx="91440" cy="91440"/>
          </a:xfrm>
          <a:prstGeom prst="ellipse">
            <a:avLst/>
          </a:prstGeom>
          <a:solidFill>
            <a:srgbClr val="EA580C"/>
          </a:solidFill>
          <a:ln/>
        </p:spPr>
      </p:sp>
      <p:sp>
        <p:nvSpPr>
          <p:cNvPr id="76" name="Text 74"/>
          <p:cNvSpPr/>
          <p:nvPr/>
        </p:nvSpPr>
        <p:spPr>
          <a:xfrm>
            <a:off x="9518904" y="3712464"/>
            <a:ext cx="2377440" cy="438912"/>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Si aprueba: PDF generado + identifier a BD</a:t>
            </a:r>
            <a:endParaRPr lang="en-US" sz="900" dirty="0"/>
          </a:p>
        </p:txBody>
      </p:sp>
      <p:sp>
        <p:nvSpPr>
          <p:cNvPr id="77" name="Shape 75"/>
          <p:cNvSpPr/>
          <p:nvPr/>
        </p:nvSpPr>
        <p:spPr>
          <a:xfrm>
            <a:off x="9363456" y="4334256"/>
            <a:ext cx="91440" cy="91440"/>
          </a:xfrm>
          <a:prstGeom prst="ellipse">
            <a:avLst/>
          </a:prstGeom>
          <a:solidFill>
            <a:srgbClr val="059669"/>
          </a:solidFill>
          <a:ln/>
        </p:spPr>
      </p:sp>
      <p:sp>
        <p:nvSpPr>
          <p:cNvPr id="78" name="Text 76"/>
          <p:cNvSpPr/>
          <p:nvPr/>
        </p:nvSpPr>
        <p:spPr>
          <a:xfrm>
            <a:off x="9518904" y="4206240"/>
            <a:ext cx="2377440" cy="438912"/>
          </a:xfrm>
          <a:prstGeom prst="rect">
            <a:avLst/>
          </a:prstGeom>
          <a:noFill/>
          <a:ln/>
        </p:spPr>
        <p:txBody>
          <a:bodyPr wrap="square" rtlCol="0" anchor="ctr"/>
          <a:lstStyle/>
          <a:p>
            <a:pPr indent="0" marL="0">
              <a:buNone/>
            </a:pPr>
            <a:r>
              <a:rPr lang="en-US" sz="900" dirty="0">
                <a:solidFill>
                  <a:srgbClr val="059669"/>
                </a:solidFill>
                <a:latin typeface="Calibri" pitchFamily="34" charset="0"/>
                <a:ea typeface="Calibri" pitchFamily="34" charset="-122"/>
                <a:cs typeface="Calibri" pitchFamily="34" charset="-120"/>
              </a:rPr>
              <a:t>BD: applications { status = approved/rejected }</a:t>
            </a:r>
            <a:endParaRPr lang="en-US" sz="900" dirty="0"/>
          </a:p>
        </p:txBody>
      </p:sp>
      <p:sp>
        <p:nvSpPr>
          <p:cNvPr id="79" name="Shape 77"/>
          <p:cNvSpPr/>
          <p:nvPr/>
        </p:nvSpPr>
        <p:spPr>
          <a:xfrm>
            <a:off x="9363456" y="4828032"/>
            <a:ext cx="91440" cy="91440"/>
          </a:xfrm>
          <a:prstGeom prst="ellipse">
            <a:avLst/>
          </a:prstGeom>
          <a:solidFill>
            <a:srgbClr val="EA580C"/>
          </a:solidFill>
          <a:ln/>
        </p:spPr>
      </p:sp>
      <p:sp>
        <p:nvSpPr>
          <p:cNvPr id="80" name="Text 78"/>
          <p:cNvSpPr/>
          <p:nvPr/>
        </p:nvSpPr>
        <p:spPr>
          <a:xfrm>
            <a:off x="9518904" y="4700016"/>
            <a:ext cx="2377440" cy="438912"/>
          </a:xfrm>
          <a:prstGeom prst="rect">
            <a:avLst/>
          </a:prstGeom>
          <a:noFill/>
          <a:ln/>
        </p:spPr>
        <p:txBody>
          <a:bodyPr wrap="square" rtlCol="0" anchor="ctr"/>
          <a:lstStyle/>
          <a:p>
            <a:pPr indent="0" marL="0">
              <a:buNone/>
            </a:pPr>
            <a:r>
              <a:rPr lang="en-US" sz="900" dirty="0">
                <a:solidFill>
                  <a:srgbClr val="EA580C"/>
                </a:solidFill>
                <a:latin typeface="Calibri" pitchFamily="34" charset="0"/>
                <a:ea typeface="Calibri" pitchFamily="34" charset="-122"/>
                <a:cs typeface="Calibri" pitchFamily="34" charset="-120"/>
              </a:rPr>
              <a:t>Email: ApplicationVerdict → al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Ciclo de Vida de una Convocatoria — 5 Etapas Automáticas</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256032" y="1005840"/>
            <a:ext cx="2240280" cy="640080"/>
          </a:xfrm>
          <a:prstGeom prst="rect">
            <a:avLst/>
          </a:prstGeom>
          <a:solidFill>
            <a:srgbClr val="059669"/>
          </a:solidFill>
          <a:ln/>
        </p:spPr>
      </p:sp>
      <p:sp>
        <p:nvSpPr>
          <p:cNvPr id="7" name="Text 5"/>
          <p:cNvSpPr/>
          <p:nvPr/>
        </p:nvSpPr>
        <p:spPr>
          <a:xfrm>
            <a:off x="256032" y="1005840"/>
            <a:ext cx="224028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Publicación</a:t>
            </a:r>
            <a:endParaRPr lang="en-US" sz="1350" dirty="0"/>
          </a:p>
        </p:txBody>
      </p:sp>
      <p:sp>
        <p:nvSpPr>
          <p:cNvPr id="8" name="Text 6"/>
          <p:cNvSpPr/>
          <p:nvPr/>
        </p:nvSpPr>
        <p:spPr>
          <a:xfrm>
            <a:off x="2377440" y="1097280"/>
            <a:ext cx="365760" cy="457200"/>
          </a:xfrm>
          <a:prstGeom prst="rect">
            <a:avLst/>
          </a:prstGeom>
          <a:noFill/>
          <a:ln/>
        </p:spPr>
        <p:txBody>
          <a:bodyPr wrap="square" rtlCol="0" anchor="ctr"/>
          <a:lstStyle/>
          <a:p>
            <a:pPr algn="ctr" indent="0" marL="0">
              <a:buNone/>
            </a:pPr>
            <a:r>
              <a:rPr lang="en-US" sz="2800" b="1" dirty="0">
                <a:solidFill>
                  <a:srgbClr val="059669"/>
                </a:solidFill>
              </a:rPr>
              <a:t>›</a:t>
            </a:r>
            <a:endParaRPr lang="en-US" sz="2800" dirty="0"/>
          </a:p>
        </p:txBody>
      </p:sp>
      <p:sp>
        <p:nvSpPr>
          <p:cNvPr id="9" name="Shape 7"/>
          <p:cNvSpPr/>
          <p:nvPr/>
        </p:nvSpPr>
        <p:spPr>
          <a:xfrm>
            <a:off x="256032" y="1691640"/>
            <a:ext cx="2240280" cy="4389120"/>
          </a:xfrm>
          <a:prstGeom prst="roundRect">
            <a:avLst>
              <a:gd name="adj" fmla="val 3673"/>
            </a:avLst>
          </a:prstGeom>
          <a:solidFill>
            <a:srgbClr val="FFFFFF"/>
          </a:solidFill>
          <a:ln/>
          <a:effectLst>
            <a:outerShdw sx="100000" sy="100000" kx="0" ky="0" algn="bl" rotWithShape="0" blurRad="38100" dist="12700" dir="16200000">
              <a:srgbClr val="000000">
                <a:alpha val="75000"/>
              </a:srgbClr>
            </a:outerShdw>
          </a:effectLst>
        </p:spPr>
      </p:sp>
      <p:sp>
        <p:nvSpPr>
          <p:cNvPr id="10" name="Text 8"/>
          <p:cNvSpPr/>
          <p:nvPr/>
        </p:nvSpPr>
        <p:spPr>
          <a:xfrm>
            <a:off x="347472" y="182880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Disparador</a:t>
            </a:r>
            <a:endParaRPr lang="en-US" sz="900" dirty="0"/>
          </a:p>
        </p:txBody>
      </p:sp>
      <p:sp>
        <p:nvSpPr>
          <p:cNvPr id="11" name="Shape 9"/>
          <p:cNvSpPr/>
          <p:nvPr/>
        </p:nvSpPr>
        <p:spPr>
          <a:xfrm>
            <a:off x="347472" y="2103120"/>
            <a:ext cx="2084832" cy="475488"/>
          </a:xfrm>
          <a:prstGeom prst="roundRect">
            <a:avLst>
              <a:gd name="adj" fmla="val 11538"/>
            </a:avLst>
          </a:prstGeom>
          <a:solidFill>
            <a:srgbClr val="F3F4F6"/>
          </a:solidFill>
          <a:ln/>
        </p:spPr>
      </p:sp>
      <p:sp>
        <p:nvSpPr>
          <p:cNvPr id="12" name="Text 10"/>
          <p:cNvSpPr/>
          <p:nvPr/>
        </p:nvSpPr>
        <p:spPr>
          <a:xfrm>
            <a:off x="393192" y="2103120"/>
            <a:ext cx="2011680" cy="475488"/>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 calendar.publication_start</a:t>
            </a:r>
            <a:endParaRPr lang="en-US" sz="850" dirty="0"/>
          </a:p>
        </p:txBody>
      </p:sp>
      <p:sp>
        <p:nvSpPr>
          <p:cNvPr id="13" name="Text 11"/>
          <p:cNvSpPr/>
          <p:nvPr/>
        </p:nvSpPr>
        <p:spPr>
          <a:xfrm>
            <a:off x="347472" y="269748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Notificación</a:t>
            </a:r>
            <a:endParaRPr lang="en-US" sz="900" dirty="0"/>
          </a:p>
        </p:txBody>
      </p:sp>
      <p:sp>
        <p:nvSpPr>
          <p:cNvPr id="14" name="Shape 12"/>
          <p:cNvSpPr/>
          <p:nvPr/>
        </p:nvSpPr>
        <p:spPr>
          <a:xfrm>
            <a:off x="347472" y="2971800"/>
            <a:ext cx="2084832" cy="658368"/>
          </a:xfrm>
          <a:prstGeom prst="roundRect">
            <a:avLst>
              <a:gd name="adj" fmla="val 8333"/>
            </a:avLst>
          </a:prstGeom>
          <a:solidFill>
            <a:srgbClr val="FEF3C7"/>
          </a:solidFill>
          <a:ln/>
        </p:spPr>
      </p:sp>
      <p:sp>
        <p:nvSpPr>
          <p:cNvPr id="15" name="Text 13"/>
          <p:cNvSpPr/>
          <p:nvPr/>
        </p:nvSpPr>
        <p:spPr>
          <a:xfrm>
            <a:off x="393192" y="2990088"/>
            <a:ext cx="2011680" cy="621792"/>
          </a:xfrm>
          <a:prstGeom prst="rect">
            <a:avLst/>
          </a:prstGeom>
          <a:noFill/>
          <a:ln/>
        </p:spPr>
        <p:txBody>
          <a:bodyPr wrap="square" rtlCol="0" anchor="ctr"/>
          <a:lstStyle/>
          <a:p>
            <a:pPr indent="0" marL="0">
              <a:buNone/>
            </a:pPr>
            <a:r>
              <a:rPr lang="en-US" sz="850" dirty="0">
                <a:solidFill>
                  <a:srgbClr val="92400E"/>
                </a:solidFill>
                <a:latin typeface="Calibri" pitchFamily="34" charset="0"/>
                <a:ea typeface="Calibri" pitchFamily="34" charset="-122"/>
                <a:cs typeface="Calibri" pitchFamily="34" charset="-120"/>
              </a:rPr>
              <a:t>Sin email (visible para todos)</a:t>
            </a:r>
            <a:endParaRPr lang="en-US" sz="850" dirty="0"/>
          </a:p>
        </p:txBody>
      </p:sp>
      <p:sp>
        <p:nvSpPr>
          <p:cNvPr id="16" name="Text 14"/>
          <p:cNvSpPr/>
          <p:nvPr/>
        </p:nvSpPr>
        <p:spPr>
          <a:xfrm>
            <a:off x="347472" y="370332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Acciones habilitadas</a:t>
            </a:r>
            <a:endParaRPr lang="en-US" sz="900" dirty="0"/>
          </a:p>
        </p:txBody>
      </p:sp>
      <p:sp>
        <p:nvSpPr>
          <p:cNvPr id="17" name="Shape 15"/>
          <p:cNvSpPr/>
          <p:nvPr/>
        </p:nvSpPr>
        <p:spPr>
          <a:xfrm>
            <a:off x="347472" y="3977640"/>
            <a:ext cx="2084832" cy="502920"/>
          </a:xfrm>
          <a:prstGeom prst="roundRect">
            <a:avLst>
              <a:gd name="adj" fmla="val 10909"/>
            </a:avLst>
          </a:prstGeom>
          <a:solidFill>
            <a:srgbClr val="F0FDF4"/>
          </a:solidFill>
          <a:ln/>
        </p:spPr>
      </p:sp>
      <p:sp>
        <p:nvSpPr>
          <p:cNvPr id="18" name="Text 16"/>
          <p:cNvSpPr/>
          <p:nvPr/>
        </p:nvSpPr>
        <p:spPr>
          <a:xfrm>
            <a:off x="393192" y="3995928"/>
            <a:ext cx="2011680" cy="457200"/>
          </a:xfrm>
          <a:prstGeom prst="rect">
            <a:avLst/>
          </a:prstGeom>
          <a:noFill/>
          <a:ln/>
        </p:spPr>
        <p:txBody>
          <a:bodyPr wrap="square" rtlCol="0" anchor="ctr"/>
          <a:lstStyle/>
          <a:p>
            <a:pPr indent="0" marL="0">
              <a:buNone/>
            </a:pPr>
            <a:r>
              <a:rPr lang="en-US" sz="850" dirty="0">
                <a:solidFill>
                  <a:srgbClr val="065F46"/>
                </a:solidFill>
                <a:latin typeface="Calibri" pitchFamily="34" charset="0"/>
                <a:ea typeface="Calibri" pitchFamily="34" charset="-122"/>
                <a:cs typeface="Calibri" pitchFamily="34" charset="-120"/>
              </a:rPr>
              <a:t>Docentes consultan requisitos</a:t>
            </a:r>
            <a:endParaRPr lang="en-US" sz="850" dirty="0"/>
          </a:p>
        </p:txBody>
      </p:sp>
      <p:sp>
        <p:nvSpPr>
          <p:cNvPr id="19" name="Shape 17"/>
          <p:cNvSpPr/>
          <p:nvPr/>
        </p:nvSpPr>
        <p:spPr>
          <a:xfrm>
            <a:off x="2624328" y="1005840"/>
            <a:ext cx="2240280" cy="640080"/>
          </a:xfrm>
          <a:prstGeom prst="rect">
            <a:avLst/>
          </a:prstGeom>
          <a:solidFill>
            <a:srgbClr val="2563EB"/>
          </a:solidFill>
          <a:ln/>
        </p:spPr>
      </p:sp>
      <p:sp>
        <p:nvSpPr>
          <p:cNvPr id="20" name="Text 18"/>
          <p:cNvSpPr/>
          <p:nvPr/>
        </p:nvSpPr>
        <p:spPr>
          <a:xfrm>
            <a:off x="2624328" y="1005840"/>
            <a:ext cx="224028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Registro</a:t>
            </a:r>
            <a:endParaRPr lang="en-US" sz="1350" dirty="0"/>
          </a:p>
        </p:txBody>
      </p:sp>
      <p:sp>
        <p:nvSpPr>
          <p:cNvPr id="21" name="Text 19"/>
          <p:cNvSpPr/>
          <p:nvPr/>
        </p:nvSpPr>
        <p:spPr>
          <a:xfrm>
            <a:off x="4745736" y="1097280"/>
            <a:ext cx="365760" cy="457200"/>
          </a:xfrm>
          <a:prstGeom prst="rect">
            <a:avLst/>
          </a:prstGeom>
          <a:noFill/>
          <a:ln/>
        </p:spPr>
        <p:txBody>
          <a:bodyPr wrap="square" rtlCol="0" anchor="ctr"/>
          <a:lstStyle/>
          <a:p>
            <a:pPr algn="ctr" indent="0" marL="0">
              <a:buNone/>
            </a:pPr>
            <a:r>
              <a:rPr lang="en-US" sz="2800" b="1" dirty="0">
                <a:solidFill>
                  <a:srgbClr val="2563EB"/>
                </a:solidFill>
              </a:rPr>
              <a:t>›</a:t>
            </a:r>
            <a:endParaRPr lang="en-US" sz="2800" dirty="0"/>
          </a:p>
        </p:txBody>
      </p:sp>
      <p:sp>
        <p:nvSpPr>
          <p:cNvPr id="22" name="Shape 20"/>
          <p:cNvSpPr/>
          <p:nvPr/>
        </p:nvSpPr>
        <p:spPr>
          <a:xfrm>
            <a:off x="2624328" y="1691640"/>
            <a:ext cx="2240280" cy="4389120"/>
          </a:xfrm>
          <a:prstGeom prst="roundRect">
            <a:avLst>
              <a:gd name="adj" fmla="val 3673"/>
            </a:avLst>
          </a:prstGeom>
          <a:solidFill>
            <a:srgbClr val="FFFFFF"/>
          </a:solidFill>
          <a:ln/>
          <a:effectLst>
            <a:outerShdw sx="100000" sy="100000" kx="0" ky="0" algn="bl" rotWithShape="0" blurRad="38100" dist="12700" dir="16200000">
              <a:srgbClr val="000000">
                <a:alpha val="75000"/>
              </a:srgbClr>
            </a:outerShdw>
          </a:effectLst>
        </p:spPr>
      </p:sp>
      <p:sp>
        <p:nvSpPr>
          <p:cNvPr id="23" name="Text 21"/>
          <p:cNvSpPr/>
          <p:nvPr/>
        </p:nvSpPr>
        <p:spPr>
          <a:xfrm>
            <a:off x="2715768" y="1828800"/>
            <a:ext cx="2103120" cy="274320"/>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 Disparador</a:t>
            </a:r>
            <a:endParaRPr lang="en-US" sz="900" dirty="0"/>
          </a:p>
        </p:txBody>
      </p:sp>
      <p:sp>
        <p:nvSpPr>
          <p:cNvPr id="24" name="Shape 22"/>
          <p:cNvSpPr/>
          <p:nvPr/>
        </p:nvSpPr>
        <p:spPr>
          <a:xfrm>
            <a:off x="2715768" y="2103120"/>
            <a:ext cx="2084832" cy="475488"/>
          </a:xfrm>
          <a:prstGeom prst="roundRect">
            <a:avLst>
              <a:gd name="adj" fmla="val 11538"/>
            </a:avLst>
          </a:prstGeom>
          <a:solidFill>
            <a:srgbClr val="F3F4F6"/>
          </a:solidFill>
          <a:ln/>
        </p:spPr>
      </p:sp>
      <p:sp>
        <p:nvSpPr>
          <p:cNvPr id="25" name="Text 23"/>
          <p:cNvSpPr/>
          <p:nvPr/>
        </p:nvSpPr>
        <p:spPr>
          <a:xfrm>
            <a:off x="2761488" y="2103120"/>
            <a:ext cx="2011680" cy="475488"/>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 calendar.registration_start</a:t>
            </a:r>
            <a:endParaRPr lang="en-US" sz="850" dirty="0"/>
          </a:p>
        </p:txBody>
      </p:sp>
      <p:sp>
        <p:nvSpPr>
          <p:cNvPr id="26" name="Text 24"/>
          <p:cNvSpPr/>
          <p:nvPr/>
        </p:nvSpPr>
        <p:spPr>
          <a:xfrm>
            <a:off x="2715768" y="269748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Notificación</a:t>
            </a:r>
            <a:endParaRPr lang="en-US" sz="900" dirty="0"/>
          </a:p>
        </p:txBody>
      </p:sp>
      <p:sp>
        <p:nvSpPr>
          <p:cNvPr id="27" name="Shape 25"/>
          <p:cNvSpPr/>
          <p:nvPr/>
        </p:nvSpPr>
        <p:spPr>
          <a:xfrm>
            <a:off x="2715768" y="2971800"/>
            <a:ext cx="2084832" cy="658368"/>
          </a:xfrm>
          <a:prstGeom prst="roundRect">
            <a:avLst>
              <a:gd name="adj" fmla="val 8333"/>
            </a:avLst>
          </a:prstGeom>
          <a:solidFill>
            <a:srgbClr val="FEF3C7"/>
          </a:solidFill>
          <a:ln/>
        </p:spPr>
      </p:sp>
      <p:sp>
        <p:nvSpPr>
          <p:cNvPr id="28" name="Text 26"/>
          <p:cNvSpPr/>
          <p:nvPr/>
        </p:nvSpPr>
        <p:spPr>
          <a:xfrm>
            <a:off x="2761488" y="2990088"/>
            <a:ext cx="2011680" cy="621792"/>
          </a:xfrm>
          <a:prstGeom prst="rect">
            <a:avLst/>
          </a:prstGeom>
          <a:noFill/>
          <a:ln/>
        </p:spPr>
        <p:txBody>
          <a:bodyPr wrap="square" rtlCol="0" anchor="ctr"/>
          <a:lstStyle/>
          <a:p>
            <a:pPr indent="0" marL="0">
              <a:buNone/>
            </a:pPr>
            <a:r>
              <a:rPr lang="en-US" sz="850" dirty="0">
                <a:solidFill>
                  <a:srgbClr val="92400E"/>
                </a:solidFill>
                <a:latin typeface="Calibri" pitchFamily="34" charset="0"/>
                <a:ea typeface="Calibri" pitchFamily="34" charset="-122"/>
                <a:cs typeface="Calibri" pitchFamily="34" charset="-120"/>
              </a:rPr>
              <a:t>NewAnnouncement → todos los docentes</a:t>
            </a:r>
            <a:endParaRPr lang="en-US" sz="850" dirty="0"/>
          </a:p>
        </p:txBody>
      </p:sp>
      <p:sp>
        <p:nvSpPr>
          <p:cNvPr id="29" name="Text 27"/>
          <p:cNvSpPr/>
          <p:nvPr/>
        </p:nvSpPr>
        <p:spPr>
          <a:xfrm>
            <a:off x="2715768" y="370332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Acciones habilitadas</a:t>
            </a:r>
            <a:endParaRPr lang="en-US" sz="900" dirty="0"/>
          </a:p>
        </p:txBody>
      </p:sp>
      <p:sp>
        <p:nvSpPr>
          <p:cNvPr id="30" name="Shape 28"/>
          <p:cNvSpPr/>
          <p:nvPr/>
        </p:nvSpPr>
        <p:spPr>
          <a:xfrm>
            <a:off x="2715768" y="3977640"/>
            <a:ext cx="2084832" cy="502920"/>
          </a:xfrm>
          <a:prstGeom prst="roundRect">
            <a:avLst>
              <a:gd name="adj" fmla="val 10909"/>
            </a:avLst>
          </a:prstGeom>
          <a:solidFill>
            <a:srgbClr val="F0FDF4"/>
          </a:solidFill>
          <a:ln/>
        </p:spPr>
      </p:sp>
      <p:sp>
        <p:nvSpPr>
          <p:cNvPr id="31" name="Text 29"/>
          <p:cNvSpPr/>
          <p:nvPr/>
        </p:nvSpPr>
        <p:spPr>
          <a:xfrm>
            <a:off x="2761488" y="3995928"/>
            <a:ext cx="2011680" cy="457200"/>
          </a:xfrm>
          <a:prstGeom prst="rect">
            <a:avLst/>
          </a:prstGeom>
          <a:noFill/>
          <a:ln/>
        </p:spPr>
        <p:txBody>
          <a:bodyPr wrap="square" rtlCol="0" anchor="ctr"/>
          <a:lstStyle/>
          <a:p>
            <a:pPr indent="0" marL="0">
              <a:buNone/>
            </a:pPr>
            <a:r>
              <a:rPr lang="en-US" sz="850" dirty="0">
                <a:solidFill>
                  <a:srgbClr val="065F46"/>
                </a:solidFill>
                <a:latin typeface="Calibri" pitchFamily="34" charset="0"/>
                <a:ea typeface="Calibri" pitchFamily="34" charset="-122"/>
                <a:cs typeface="Calibri" pitchFamily="34" charset="-120"/>
              </a:rPr>
              <a:t>Docentes envían solicitudes</a:t>
            </a:r>
            <a:endParaRPr lang="en-US" sz="850" dirty="0"/>
          </a:p>
        </p:txBody>
      </p:sp>
      <p:sp>
        <p:nvSpPr>
          <p:cNvPr id="32" name="Shape 30"/>
          <p:cNvSpPr/>
          <p:nvPr/>
        </p:nvSpPr>
        <p:spPr>
          <a:xfrm>
            <a:off x="4992624" y="1005840"/>
            <a:ext cx="2240280" cy="640080"/>
          </a:xfrm>
          <a:prstGeom prst="rect">
            <a:avLst/>
          </a:prstGeom>
          <a:solidFill>
            <a:srgbClr val="7C3AED"/>
          </a:solidFill>
          <a:ln/>
        </p:spPr>
      </p:sp>
      <p:sp>
        <p:nvSpPr>
          <p:cNvPr id="33" name="Text 31"/>
          <p:cNvSpPr/>
          <p:nvPr/>
        </p:nvSpPr>
        <p:spPr>
          <a:xfrm>
            <a:off x="4992624" y="1005840"/>
            <a:ext cx="224028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Evaluación</a:t>
            </a:r>
            <a:endParaRPr lang="en-US" sz="1350" dirty="0"/>
          </a:p>
        </p:txBody>
      </p:sp>
      <p:sp>
        <p:nvSpPr>
          <p:cNvPr id="34" name="Text 32"/>
          <p:cNvSpPr/>
          <p:nvPr/>
        </p:nvSpPr>
        <p:spPr>
          <a:xfrm>
            <a:off x="7114032" y="1097280"/>
            <a:ext cx="365760" cy="457200"/>
          </a:xfrm>
          <a:prstGeom prst="rect">
            <a:avLst/>
          </a:prstGeom>
          <a:noFill/>
          <a:ln/>
        </p:spPr>
        <p:txBody>
          <a:bodyPr wrap="square" rtlCol="0" anchor="ctr"/>
          <a:lstStyle/>
          <a:p>
            <a:pPr algn="ctr" indent="0" marL="0">
              <a:buNone/>
            </a:pPr>
            <a:r>
              <a:rPr lang="en-US" sz="2800" b="1" dirty="0">
                <a:solidFill>
                  <a:srgbClr val="7C3AED"/>
                </a:solidFill>
              </a:rPr>
              <a:t>›</a:t>
            </a:r>
            <a:endParaRPr lang="en-US" sz="2800" dirty="0"/>
          </a:p>
        </p:txBody>
      </p:sp>
      <p:sp>
        <p:nvSpPr>
          <p:cNvPr id="35" name="Shape 33"/>
          <p:cNvSpPr/>
          <p:nvPr/>
        </p:nvSpPr>
        <p:spPr>
          <a:xfrm>
            <a:off x="4992624" y="1691640"/>
            <a:ext cx="2240280" cy="4389120"/>
          </a:xfrm>
          <a:prstGeom prst="roundRect">
            <a:avLst>
              <a:gd name="adj" fmla="val 3673"/>
            </a:avLst>
          </a:prstGeom>
          <a:solidFill>
            <a:srgbClr val="FFFFFF"/>
          </a:solidFill>
          <a:ln/>
          <a:effectLst>
            <a:outerShdw sx="100000" sy="100000" kx="0" ky="0" algn="bl" rotWithShape="0" blurRad="38100" dist="12700" dir="16200000">
              <a:srgbClr val="000000">
                <a:alpha val="75000"/>
              </a:srgbClr>
            </a:outerShdw>
          </a:effectLst>
        </p:spPr>
      </p:sp>
      <p:sp>
        <p:nvSpPr>
          <p:cNvPr id="36" name="Text 34"/>
          <p:cNvSpPr/>
          <p:nvPr/>
        </p:nvSpPr>
        <p:spPr>
          <a:xfrm>
            <a:off x="5084064" y="1828800"/>
            <a:ext cx="2103120" cy="274320"/>
          </a:xfrm>
          <a:prstGeom prst="rect">
            <a:avLst/>
          </a:prstGeom>
          <a:noFill/>
          <a:ln/>
        </p:spPr>
        <p:txBody>
          <a:bodyPr wrap="square"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 Disparador</a:t>
            </a:r>
            <a:endParaRPr lang="en-US" sz="900" dirty="0"/>
          </a:p>
        </p:txBody>
      </p:sp>
      <p:sp>
        <p:nvSpPr>
          <p:cNvPr id="37" name="Shape 35"/>
          <p:cNvSpPr/>
          <p:nvPr/>
        </p:nvSpPr>
        <p:spPr>
          <a:xfrm>
            <a:off x="5084064" y="2103120"/>
            <a:ext cx="2084832" cy="475488"/>
          </a:xfrm>
          <a:prstGeom prst="roundRect">
            <a:avLst>
              <a:gd name="adj" fmla="val 11538"/>
            </a:avLst>
          </a:prstGeom>
          <a:solidFill>
            <a:srgbClr val="F3F4F6"/>
          </a:solidFill>
          <a:ln/>
        </p:spPr>
      </p:sp>
      <p:sp>
        <p:nvSpPr>
          <p:cNvPr id="38" name="Text 36"/>
          <p:cNvSpPr/>
          <p:nvPr/>
        </p:nvSpPr>
        <p:spPr>
          <a:xfrm>
            <a:off x="5129784" y="2103120"/>
            <a:ext cx="2011680" cy="475488"/>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 calendar.evaluation_start</a:t>
            </a:r>
            <a:endParaRPr lang="en-US" sz="850" dirty="0"/>
          </a:p>
        </p:txBody>
      </p:sp>
      <p:sp>
        <p:nvSpPr>
          <p:cNvPr id="39" name="Text 37"/>
          <p:cNvSpPr/>
          <p:nvPr/>
        </p:nvSpPr>
        <p:spPr>
          <a:xfrm>
            <a:off x="5084064" y="269748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Notificación</a:t>
            </a:r>
            <a:endParaRPr lang="en-US" sz="900" dirty="0"/>
          </a:p>
        </p:txBody>
      </p:sp>
      <p:sp>
        <p:nvSpPr>
          <p:cNvPr id="40" name="Shape 38"/>
          <p:cNvSpPr/>
          <p:nvPr/>
        </p:nvSpPr>
        <p:spPr>
          <a:xfrm>
            <a:off x="5084064" y="2971800"/>
            <a:ext cx="2084832" cy="658368"/>
          </a:xfrm>
          <a:prstGeom prst="roundRect">
            <a:avLst>
              <a:gd name="adj" fmla="val 8333"/>
            </a:avLst>
          </a:prstGeom>
          <a:solidFill>
            <a:srgbClr val="FEF3C7"/>
          </a:solidFill>
          <a:ln/>
        </p:spPr>
      </p:sp>
      <p:sp>
        <p:nvSpPr>
          <p:cNvPr id="41" name="Text 39"/>
          <p:cNvSpPr/>
          <p:nvPr/>
        </p:nvSpPr>
        <p:spPr>
          <a:xfrm>
            <a:off x="5129784" y="2990088"/>
            <a:ext cx="2011680" cy="621792"/>
          </a:xfrm>
          <a:prstGeom prst="rect">
            <a:avLst/>
          </a:prstGeom>
          <a:noFill/>
          <a:ln/>
        </p:spPr>
        <p:txBody>
          <a:bodyPr wrap="square" rtlCol="0" anchor="ctr"/>
          <a:lstStyle/>
          <a:p>
            <a:pPr indent="0" marL="0">
              <a:buNone/>
            </a:pPr>
            <a:r>
              <a:rPr lang="en-US" sz="850" dirty="0">
                <a:solidFill>
                  <a:srgbClr val="92400E"/>
                </a:solidFill>
                <a:latin typeface="Calibri" pitchFamily="34" charset="0"/>
                <a:ea typeface="Calibri" pitchFamily="34" charset="-122"/>
                <a:cs typeface="Calibri" pitchFamily="34" charset="-120"/>
              </a:rPr>
              <a:t>AnnouncementStageChange → admin+evaluadores</a:t>
            </a:r>
            <a:endParaRPr lang="en-US" sz="850" dirty="0"/>
          </a:p>
        </p:txBody>
      </p:sp>
      <p:sp>
        <p:nvSpPr>
          <p:cNvPr id="42" name="Text 40"/>
          <p:cNvSpPr/>
          <p:nvPr/>
        </p:nvSpPr>
        <p:spPr>
          <a:xfrm>
            <a:off x="5084064" y="370332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Acciones habilitadas</a:t>
            </a:r>
            <a:endParaRPr lang="en-US" sz="900" dirty="0"/>
          </a:p>
        </p:txBody>
      </p:sp>
      <p:sp>
        <p:nvSpPr>
          <p:cNvPr id="43" name="Shape 41"/>
          <p:cNvSpPr/>
          <p:nvPr/>
        </p:nvSpPr>
        <p:spPr>
          <a:xfrm>
            <a:off x="5084064" y="3977640"/>
            <a:ext cx="2084832" cy="502920"/>
          </a:xfrm>
          <a:prstGeom prst="roundRect">
            <a:avLst>
              <a:gd name="adj" fmla="val 10909"/>
            </a:avLst>
          </a:prstGeom>
          <a:solidFill>
            <a:srgbClr val="F0FDF4"/>
          </a:solidFill>
          <a:ln/>
        </p:spPr>
      </p:sp>
      <p:sp>
        <p:nvSpPr>
          <p:cNvPr id="44" name="Text 42"/>
          <p:cNvSpPr/>
          <p:nvPr/>
        </p:nvSpPr>
        <p:spPr>
          <a:xfrm>
            <a:off x="5129784" y="3995928"/>
            <a:ext cx="2011680" cy="457200"/>
          </a:xfrm>
          <a:prstGeom prst="rect">
            <a:avLst/>
          </a:prstGeom>
          <a:noFill/>
          <a:ln/>
        </p:spPr>
        <p:txBody>
          <a:bodyPr wrap="square" rtlCol="0" anchor="ctr"/>
          <a:lstStyle/>
          <a:p>
            <a:pPr indent="0" marL="0">
              <a:buNone/>
            </a:pPr>
            <a:r>
              <a:rPr lang="en-US" sz="850" dirty="0">
                <a:solidFill>
                  <a:srgbClr val="065F46"/>
                </a:solidFill>
                <a:latin typeface="Calibri" pitchFamily="34" charset="0"/>
                <a:ea typeface="Calibri" pitchFamily="34" charset="-122"/>
                <a:cs typeface="Calibri" pitchFamily="34" charset="-120"/>
              </a:rPr>
              <a:t>Admin asigna evaluadores</a:t>
            </a:r>
            <a:endParaRPr lang="en-US" sz="850" dirty="0"/>
          </a:p>
        </p:txBody>
      </p:sp>
      <p:sp>
        <p:nvSpPr>
          <p:cNvPr id="45" name="Shape 43"/>
          <p:cNvSpPr/>
          <p:nvPr/>
        </p:nvSpPr>
        <p:spPr>
          <a:xfrm>
            <a:off x="7360920" y="1005840"/>
            <a:ext cx="2240280" cy="640080"/>
          </a:xfrm>
          <a:prstGeom prst="rect">
            <a:avLst/>
          </a:prstGeom>
          <a:solidFill>
            <a:srgbClr val="EA580C"/>
          </a:solidFill>
          <a:ln/>
        </p:spPr>
      </p:sp>
      <p:sp>
        <p:nvSpPr>
          <p:cNvPr id="46" name="Text 44"/>
          <p:cNvSpPr/>
          <p:nvPr/>
        </p:nvSpPr>
        <p:spPr>
          <a:xfrm>
            <a:off x="7360920" y="1005840"/>
            <a:ext cx="224028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Resultados</a:t>
            </a:r>
            <a:endParaRPr lang="en-US" sz="1350" dirty="0"/>
          </a:p>
        </p:txBody>
      </p:sp>
      <p:sp>
        <p:nvSpPr>
          <p:cNvPr id="47" name="Text 45"/>
          <p:cNvSpPr/>
          <p:nvPr/>
        </p:nvSpPr>
        <p:spPr>
          <a:xfrm>
            <a:off x="9482328" y="1097280"/>
            <a:ext cx="365760" cy="457200"/>
          </a:xfrm>
          <a:prstGeom prst="rect">
            <a:avLst/>
          </a:prstGeom>
          <a:noFill/>
          <a:ln/>
        </p:spPr>
        <p:txBody>
          <a:bodyPr wrap="square" rtlCol="0" anchor="ctr"/>
          <a:lstStyle/>
          <a:p>
            <a:pPr algn="ctr" indent="0" marL="0">
              <a:buNone/>
            </a:pPr>
            <a:r>
              <a:rPr lang="en-US" sz="2800" b="1" dirty="0">
                <a:solidFill>
                  <a:srgbClr val="EA580C"/>
                </a:solidFill>
              </a:rPr>
              <a:t>›</a:t>
            </a:r>
            <a:endParaRPr lang="en-US" sz="2800" dirty="0"/>
          </a:p>
        </p:txBody>
      </p:sp>
      <p:sp>
        <p:nvSpPr>
          <p:cNvPr id="48" name="Shape 46"/>
          <p:cNvSpPr/>
          <p:nvPr/>
        </p:nvSpPr>
        <p:spPr>
          <a:xfrm>
            <a:off x="7360920" y="1691640"/>
            <a:ext cx="2240280" cy="4389120"/>
          </a:xfrm>
          <a:prstGeom prst="roundRect">
            <a:avLst>
              <a:gd name="adj" fmla="val 3673"/>
            </a:avLst>
          </a:prstGeom>
          <a:solidFill>
            <a:srgbClr val="FFFFFF"/>
          </a:solidFill>
          <a:ln/>
          <a:effectLst>
            <a:outerShdw sx="100000" sy="100000" kx="0" ky="0" algn="bl" rotWithShape="0" blurRad="38100" dist="12700" dir="16200000">
              <a:srgbClr val="000000">
                <a:alpha val="75000"/>
              </a:srgbClr>
            </a:outerShdw>
          </a:effectLst>
        </p:spPr>
      </p:sp>
      <p:sp>
        <p:nvSpPr>
          <p:cNvPr id="49" name="Text 47"/>
          <p:cNvSpPr/>
          <p:nvPr/>
        </p:nvSpPr>
        <p:spPr>
          <a:xfrm>
            <a:off x="7452360" y="182880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Disparador</a:t>
            </a:r>
            <a:endParaRPr lang="en-US" sz="900" dirty="0"/>
          </a:p>
        </p:txBody>
      </p:sp>
      <p:sp>
        <p:nvSpPr>
          <p:cNvPr id="50" name="Shape 48"/>
          <p:cNvSpPr/>
          <p:nvPr/>
        </p:nvSpPr>
        <p:spPr>
          <a:xfrm>
            <a:off x="7452360" y="2103120"/>
            <a:ext cx="2084832" cy="475488"/>
          </a:xfrm>
          <a:prstGeom prst="roundRect">
            <a:avLst>
              <a:gd name="adj" fmla="val 11538"/>
            </a:avLst>
          </a:prstGeom>
          <a:solidFill>
            <a:srgbClr val="F3F4F6"/>
          </a:solidFill>
          <a:ln/>
        </p:spPr>
      </p:sp>
      <p:sp>
        <p:nvSpPr>
          <p:cNvPr id="51" name="Text 49"/>
          <p:cNvSpPr/>
          <p:nvPr/>
        </p:nvSpPr>
        <p:spPr>
          <a:xfrm>
            <a:off x="7498080" y="2103120"/>
            <a:ext cx="2011680" cy="475488"/>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 calendar.evaluation_end</a:t>
            </a:r>
            <a:endParaRPr lang="en-US" sz="850" dirty="0"/>
          </a:p>
        </p:txBody>
      </p:sp>
      <p:sp>
        <p:nvSpPr>
          <p:cNvPr id="52" name="Text 50"/>
          <p:cNvSpPr/>
          <p:nvPr/>
        </p:nvSpPr>
        <p:spPr>
          <a:xfrm>
            <a:off x="7452360" y="269748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Notificación</a:t>
            </a:r>
            <a:endParaRPr lang="en-US" sz="900" dirty="0"/>
          </a:p>
        </p:txBody>
      </p:sp>
      <p:sp>
        <p:nvSpPr>
          <p:cNvPr id="53" name="Shape 51"/>
          <p:cNvSpPr/>
          <p:nvPr/>
        </p:nvSpPr>
        <p:spPr>
          <a:xfrm>
            <a:off x="7452360" y="2971800"/>
            <a:ext cx="2084832" cy="658368"/>
          </a:xfrm>
          <a:prstGeom prst="roundRect">
            <a:avLst>
              <a:gd name="adj" fmla="val 8333"/>
            </a:avLst>
          </a:prstGeom>
          <a:solidFill>
            <a:srgbClr val="FEF3C7"/>
          </a:solidFill>
          <a:ln/>
        </p:spPr>
      </p:sp>
      <p:sp>
        <p:nvSpPr>
          <p:cNvPr id="54" name="Text 52"/>
          <p:cNvSpPr/>
          <p:nvPr/>
        </p:nvSpPr>
        <p:spPr>
          <a:xfrm>
            <a:off x="7498080" y="2990088"/>
            <a:ext cx="2011680" cy="621792"/>
          </a:xfrm>
          <a:prstGeom prst="rect">
            <a:avLst/>
          </a:prstGeom>
          <a:noFill/>
          <a:ln/>
        </p:spPr>
        <p:txBody>
          <a:bodyPr wrap="square" rtlCol="0" anchor="ctr"/>
          <a:lstStyle/>
          <a:p>
            <a:pPr indent="0" marL="0">
              <a:buNone/>
            </a:pPr>
            <a:r>
              <a:rPr lang="en-US" sz="850" dirty="0">
                <a:solidFill>
                  <a:srgbClr val="92400E"/>
                </a:solidFill>
                <a:latin typeface="Calibri" pitchFamily="34" charset="0"/>
                <a:ea typeface="Calibri" pitchFamily="34" charset="-122"/>
                <a:cs typeface="Calibri" pitchFamily="34" charset="-120"/>
              </a:rPr>
              <a:t>AnnouncementStageChange → todos</a:t>
            </a:r>
            <a:endParaRPr lang="en-US" sz="850" dirty="0"/>
          </a:p>
        </p:txBody>
      </p:sp>
      <p:sp>
        <p:nvSpPr>
          <p:cNvPr id="55" name="Text 53"/>
          <p:cNvSpPr/>
          <p:nvPr/>
        </p:nvSpPr>
        <p:spPr>
          <a:xfrm>
            <a:off x="7452360" y="370332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Acciones habilitadas</a:t>
            </a:r>
            <a:endParaRPr lang="en-US" sz="900" dirty="0"/>
          </a:p>
        </p:txBody>
      </p:sp>
      <p:sp>
        <p:nvSpPr>
          <p:cNvPr id="56" name="Shape 54"/>
          <p:cNvSpPr/>
          <p:nvPr/>
        </p:nvSpPr>
        <p:spPr>
          <a:xfrm>
            <a:off x="7452360" y="3977640"/>
            <a:ext cx="2084832" cy="502920"/>
          </a:xfrm>
          <a:prstGeom prst="roundRect">
            <a:avLst>
              <a:gd name="adj" fmla="val 10909"/>
            </a:avLst>
          </a:prstGeom>
          <a:solidFill>
            <a:srgbClr val="F0FDF4"/>
          </a:solidFill>
          <a:ln/>
        </p:spPr>
      </p:sp>
      <p:sp>
        <p:nvSpPr>
          <p:cNvPr id="57" name="Text 55"/>
          <p:cNvSpPr/>
          <p:nvPr/>
        </p:nvSpPr>
        <p:spPr>
          <a:xfrm>
            <a:off x="7498080" y="3995928"/>
            <a:ext cx="2011680" cy="457200"/>
          </a:xfrm>
          <a:prstGeom prst="rect">
            <a:avLst/>
          </a:prstGeom>
          <a:noFill/>
          <a:ln/>
        </p:spPr>
        <p:txBody>
          <a:bodyPr wrap="square" rtlCol="0" anchor="ctr"/>
          <a:lstStyle/>
          <a:p>
            <a:pPr indent="0" marL="0">
              <a:buNone/>
            </a:pPr>
            <a:r>
              <a:rPr lang="en-US" sz="850" dirty="0">
                <a:solidFill>
                  <a:srgbClr val="065F46"/>
                </a:solidFill>
                <a:latin typeface="Calibri" pitchFamily="34" charset="0"/>
                <a:ea typeface="Calibri" pitchFamily="34" charset="-122"/>
                <a:cs typeface="Calibri" pitchFamily="34" charset="-120"/>
              </a:rPr>
              <a:t>Admin emite veredictos finales</a:t>
            </a:r>
            <a:endParaRPr lang="en-US" sz="850" dirty="0"/>
          </a:p>
        </p:txBody>
      </p:sp>
      <p:sp>
        <p:nvSpPr>
          <p:cNvPr id="58" name="Shape 56"/>
          <p:cNvSpPr/>
          <p:nvPr/>
        </p:nvSpPr>
        <p:spPr>
          <a:xfrm>
            <a:off x="9729216" y="1005840"/>
            <a:ext cx="2240280" cy="640080"/>
          </a:xfrm>
          <a:prstGeom prst="rect">
            <a:avLst/>
          </a:prstGeom>
          <a:solidFill>
            <a:srgbClr val="DC2626"/>
          </a:solidFill>
          <a:ln/>
        </p:spPr>
      </p:sp>
      <p:sp>
        <p:nvSpPr>
          <p:cNvPr id="59" name="Text 57"/>
          <p:cNvSpPr/>
          <p:nvPr/>
        </p:nvSpPr>
        <p:spPr>
          <a:xfrm>
            <a:off x="9729216" y="1005840"/>
            <a:ext cx="224028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Terminada</a:t>
            </a:r>
            <a:endParaRPr lang="en-US" sz="1350" dirty="0"/>
          </a:p>
        </p:txBody>
      </p:sp>
      <p:sp>
        <p:nvSpPr>
          <p:cNvPr id="60" name="Shape 58"/>
          <p:cNvSpPr/>
          <p:nvPr/>
        </p:nvSpPr>
        <p:spPr>
          <a:xfrm>
            <a:off x="9729216" y="1691640"/>
            <a:ext cx="2240280" cy="4389120"/>
          </a:xfrm>
          <a:prstGeom prst="roundRect">
            <a:avLst>
              <a:gd name="adj" fmla="val 3673"/>
            </a:avLst>
          </a:prstGeom>
          <a:solidFill>
            <a:srgbClr val="FFFFFF"/>
          </a:solidFill>
          <a:ln/>
          <a:effectLst>
            <a:outerShdw sx="100000" sy="100000" kx="0" ky="0" algn="bl" rotWithShape="0" blurRad="38100" dist="12700" dir="16200000">
              <a:srgbClr val="000000">
                <a:alpha val="75000"/>
              </a:srgbClr>
            </a:outerShdw>
          </a:effectLst>
        </p:spPr>
      </p:sp>
      <p:sp>
        <p:nvSpPr>
          <p:cNvPr id="61" name="Text 59"/>
          <p:cNvSpPr/>
          <p:nvPr/>
        </p:nvSpPr>
        <p:spPr>
          <a:xfrm>
            <a:off x="9820656" y="1828800"/>
            <a:ext cx="2103120" cy="274320"/>
          </a:xfrm>
          <a:prstGeom prst="rect">
            <a:avLst/>
          </a:prstGeom>
          <a:noFill/>
          <a:ln/>
        </p:spPr>
        <p:txBody>
          <a:bodyPr wrap="square"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 Disparador</a:t>
            </a:r>
            <a:endParaRPr lang="en-US" sz="900" dirty="0"/>
          </a:p>
        </p:txBody>
      </p:sp>
      <p:sp>
        <p:nvSpPr>
          <p:cNvPr id="62" name="Shape 60"/>
          <p:cNvSpPr/>
          <p:nvPr/>
        </p:nvSpPr>
        <p:spPr>
          <a:xfrm>
            <a:off x="9820656" y="2103120"/>
            <a:ext cx="2084832" cy="475488"/>
          </a:xfrm>
          <a:prstGeom prst="roundRect">
            <a:avLst>
              <a:gd name="adj" fmla="val 11538"/>
            </a:avLst>
          </a:prstGeom>
          <a:solidFill>
            <a:srgbClr val="F3F4F6"/>
          </a:solidFill>
          <a:ln/>
        </p:spPr>
      </p:sp>
      <p:sp>
        <p:nvSpPr>
          <p:cNvPr id="63" name="Text 61"/>
          <p:cNvSpPr/>
          <p:nvPr/>
        </p:nvSpPr>
        <p:spPr>
          <a:xfrm>
            <a:off x="9866376" y="2103120"/>
            <a:ext cx="2011680" cy="475488"/>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&gt; calendar.results_end</a:t>
            </a:r>
            <a:endParaRPr lang="en-US" sz="850" dirty="0"/>
          </a:p>
        </p:txBody>
      </p:sp>
      <p:sp>
        <p:nvSpPr>
          <p:cNvPr id="64" name="Text 62"/>
          <p:cNvSpPr/>
          <p:nvPr/>
        </p:nvSpPr>
        <p:spPr>
          <a:xfrm>
            <a:off x="9820656" y="2697480"/>
            <a:ext cx="2103120" cy="274320"/>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 Notificación</a:t>
            </a:r>
            <a:endParaRPr lang="en-US" sz="900" dirty="0"/>
          </a:p>
        </p:txBody>
      </p:sp>
      <p:sp>
        <p:nvSpPr>
          <p:cNvPr id="65" name="Shape 63"/>
          <p:cNvSpPr/>
          <p:nvPr/>
        </p:nvSpPr>
        <p:spPr>
          <a:xfrm>
            <a:off x="9820656" y="2971800"/>
            <a:ext cx="2084832" cy="658368"/>
          </a:xfrm>
          <a:prstGeom prst="roundRect">
            <a:avLst>
              <a:gd name="adj" fmla="val 8333"/>
            </a:avLst>
          </a:prstGeom>
          <a:solidFill>
            <a:srgbClr val="FEF3C7"/>
          </a:solidFill>
          <a:ln/>
        </p:spPr>
      </p:sp>
      <p:sp>
        <p:nvSpPr>
          <p:cNvPr id="66" name="Text 64"/>
          <p:cNvSpPr/>
          <p:nvPr/>
        </p:nvSpPr>
        <p:spPr>
          <a:xfrm>
            <a:off x="9866376" y="2990088"/>
            <a:ext cx="2011680" cy="621792"/>
          </a:xfrm>
          <a:prstGeom prst="rect">
            <a:avLst/>
          </a:prstGeom>
          <a:noFill/>
          <a:ln/>
        </p:spPr>
        <p:txBody>
          <a:bodyPr wrap="square" rtlCol="0" anchor="ctr"/>
          <a:lstStyle/>
          <a:p>
            <a:pPr indent="0" marL="0">
              <a:buNone/>
            </a:pPr>
            <a:r>
              <a:rPr lang="en-US" sz="850" dirty="0">
                <a:solidFill>
                  <a:srgbClr val="92400E"/>
                </a:solidFill>
                <a:latin typeface="Calibri" pitchFamily="34" charset="0"/>
                <a:ea typeface="Calibri" pitchFamily="34" charset="-122"/>
                <a:cs typeface="Calibri" pitchFamily="34" charset="-120"/>
              </a:rPr>
              <a:t>AnnouncementClosed → todos los usuarios</a:t>
            </a:r>
            <a:endParaRPr lang="en-US" sz="850" dirty="0"/>
          </a:p>
        </p:txBody>
      </p:sp>
      <p:sp>
        <p:nvSpPr>
          <p:cNvPr id="67" name="Text 65"/>
          <p:cNvSpPr/>
          <p:nvPr/>
        </p:nvSpPr>
        <p:spPr>
          <a:xfrm>
            <a:off x="9820656" y="3703320"/>
            <a:ext cx="2103120" cy="27432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 Acciones habilitadas</a:t>
            </a:r>
            <a:endParaRPr lang="en-US" sz="900" dirty="0"/>
          </a:p>
        </p:txBody>
      </p:sp>
      <p:sp>
        <p:nvSpPr>
          <p:cNvPr id="68" name="Shape 66"/>
          <p:cNvSpPr/>
          <p:nvPr/>
        </p:nvSpPr>
        <p:spPr>
          <a:xfrm>
            <a:off x="9820656" y="3977640"/>
            <a:ext cx="2084832" cy="502920"/>
          </a:xfrm>
          <a:prstGeom prst="roundRect">
            <a:avLst>
              <a:gd name="adj" fmla="val 10909"/>
            </a:avLst>
          </a:prstGeom>
          <a:solidFill>
            <a:srgbClr val="F0FDF4"/>
          </a:solidFill>
          <a:ln/>
        </p:spPr>
      </p:sp>
      <p:sp>
        <p:nvSpPr>
          <p:cNvPr id="69" name="Text 67"/>
          <p:cNvSpPr/>
          <p:nvPr/>
        </p:nvSpPr>
        <p:spPr>
          <a:xfrm>
            <a:off x="9866376" y="3995928"/>
            <a:ext cx="2011680" cy="457200"/>
          </a:xfrm>
          <a:prstGeom prst="rect">
            <a:avLst/>
          </a:prstGeom>
          <a:noFill/>
          <a:ln/>
        </p:spPr>
        <p:txBody>
          <a:bodyPr wrap="square" rtlCol="0" anchor="ctr"/>
          <a:lstStyle/>
          <a:p>
            <a:pPr indent="0" marL="0">
              <a:buNone/>
            </a:pPr>
            <a:r>
              <a:rPr lang="en-US" sz="850" dirty="0">
                <a:solidFill>
                  <a:srgbClr val="065F46"/>
                </a:solidFill>
                <a:latin typeface="Calibri" pitchFamily="34" charset="0"/>
                <a:ea typeface="Calibri" pitchFamily="34" charset="-122"/>
                <a:cs typeface="Calibri" pitchFamily="34" charset="-120"/>
              </a:rPr>
              <a:t>Solo consulta / descarga PDFs</a:t>
            </a:r>
            <a:endParaRPr lang="en-US" sz="850" dirty="0"/>
          </a:p>
        </p:txBody>
      </p:sp>
      <p:sp>
        <p:nvSpPr>
          <p:cNvPr id="70" name="Shape 68"/>
          <p:cNvSpPr/>
          <p:nvPr/>
        </p:nvSpPr>
        <p:spPr>
          <a:xfrm>
            <a:off x="256032" y="4754880"/>
            <a:ext cx="11521440" cy="1325880"/>
          </a:xfrm>
          <a:prstGeom prst="roundRect">
            <a:avLst>
              <a:gd name="adj" fmla="val 5517"/>
            </a:avLst>
          </a:prstGeom>
          <a:solidFill>
            <a:srgbClr val="FEF3C7"/>
          </a:solidFill>
          <a:ln/>
        </p:spPr>
      </p:sp>
      <p:sp>
        <p:nvSpPr>
          <p:cNvPr id="71" name="Text 69"/>
          <p:cNvSpPr/>
          <p:nvPr/>
        </p:nvSpPr>
        <p:spPr>
          <a:xfrm>
            <a:off x="411480" y="4828032"/>
            <a:ext cx="11247120" cy="1143000"/>
          </a:xfrm>
          <a:prstGeom prst="rect">
            <a:avLst/>
          </a:prstGeom>
          <a:noFill/>
          <a:ln/>
        </p:spPr>
        <p:txBody>
          <a:bodyPr wrap="square" rtlCol="0" anchor="ctr"/>
          <a:lstStyle/>
          <a:p>
            <a:pPr indent="0" marL="0">
              <a:buNone/>
            </a:pPr>
            <a:r>
              <a:rPr lang="en-US" sz="1050" dirty="0">
                <a:solidFill>
                  <a:srgbClr val="78350F"/>
                </a:solidFill>
                <a:latin typeface="Calibri" pitchFamily="34" charset="0"/>
                <a:ea typeface="Calibri" pitchFamily="34" charset="-122"/>
                <a:cs typeface="Calibri" pitchFamily="34" charset="-120"/>
              </a:rPr>
              <a:t>⚙  Comando: convocatoria:update-status  |  Frecuencia: diaria  |  Acción: revisa calendar.* de cada convocatoria activa, compara con Carbon::now() y si cumple la condición → actualiza announcement.status y despacha job de notificación masiva.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 Calendar — Configuración de Fechas por Convocatoria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Text 4"/>
          <p:cNvSpPr/>
          <p:nvPr/>
        </p:nvSpPr>
        <p:spPr>
          <a:xfrm>
            <a:off x="365760" y="960120"/>
            <a:ext cx="11430000" cy="41148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Cada Announcement tiene exactamente UN registro Calendar con 7 fechas que controlan el avance automático de etapas:</a:t>
            </a:r>
            <a:endParaRPr lang="en-US" sz="1200" dirty="0"/>
          </a:p>
        </p:txBody>
      </p:sp>
      <p:sp>
        <p:nvSpPr>
          <p:cNvPr id="7" name="Shape 5"/>
          <p:cNvSpPr/>
          <p:nvPr/>
        </p:nvSpPr>
        <p:spPr>
          <a:xfrm>
            <a:off x="320040" y="1463040"/>
            <a:ext cx="11475720" cy="621792"/>
          </a:xfrm>
          <a:prstGeom prst="roundRect">
            <a:avLst>
              <a:gd name="adj" fmla="val 8824"/>
            </a:avLst>
          </a:prstGeom>
          <a:solidFill>
            <a:srgbClr val="F3F4F6"/>
          </a:solidFill>
          <a:ln/>
        </p:spPr>
      </p:sp>
      <p:sp>
        <p:nvSpPr>
          <p:cNvPr id="8" name="Shape 6"/>
          <p:cNvSpPr/>
          <p:nvPr/>
        </p:nvSpPr>
        <p:spPr>
          <a:xfrm>
            <a:off x="320040" y="1463040"/>
            <a:ext cx="2743200" cy="621792"/>
          </a:xfrm>
          <a:prstGeom prst="roundRect">
            <a:avLst>
              <a:gd name="adj" fmla="val 8824"/>
            </a:avLst>
          </a:prstGeom>
          <a:solidFill>
            <a:srgbClr val="059669"/>
          </a:solidFill>
          <a:ln/>
        </p:spPr>
      </p:sp>
      <p:sp>
        <p:nvSpPr>
          <p:cNvPr id="9" name="Text 7"/>
          <p:cNvSpPr/>
          <p:nvPr/>
        </p:nvSpPr>
        <p:spPr>
          <a:xfrm>
            <a:off x="411480" y="1499616"/>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publication_start</a:t>
            </a:r>
            <a:endParaRPr lang="en-US" sz="950" dirty="0"/>
          </a:p>
        </p:txBody>
      </p:sp>
      <p:sp>
        <p:nvSpPr>
          <p:cNvPr id="10" name="Text 8"/>
          <p:cNvSpPr/>
          <p:nvPr/>
        </p:nvSpPr>
        <p:spPr>
          <a:xfrm>
            <a:off x="411480" y="1792224"/>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Inicio de Publicación</a:t>
            </a:r>
            <a:endParaRPr lang="en-US" sz="900" dirty="0"/>
          </a:p>
        </p:txBody>
      </p:sp>
      <p:sp>
        <p:nvSpPr>
          <p:cNvPr id="11" name="Text 9"/>
          <p:cNvSpPr/>
          <p:nvPr/>
        </p:nvSpPr>
        <p:spPr>
          <a:xfrm>
            <a:off x="3246120" y="1527048"/>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Desde esta fecha la convocatoria se vuelve visible para todos los usuarios del sistema.</a:t>
            </a:r>
            <a:endParaRPr lang="en-US" sz="1000" dirty="0"/>
          </a:p>
        </p:txBody>
      </p:sp>
      <p:sp>
        <p:nvSpPr>
          <p:cNvPr id="12" name="Shape 10"/>
          <p:cNvSpPr/>
          <p:nvPr/>
        </p:nvSpPr>
        <p:spPr>
          <a:xfrm>
            <a:off x="320040" y="2167128"/>
            <a:ext cx="11475720" cy="621792"/>
          </a:xfrm>
          <a:prstGeom prst="roundRect">
            <a:avLst>
              <a:gd name="adj" fmla="val 8824"/>
            </a:avLst>
          </a:prstGeom>
          <a:solidFill>
            <a:srgbClr val="FFFFFF"/>
          </a:solidFill>
          <a:ln/>
        </p:spPr>
      </p:sp>
      <p:sp>
        <p:nvSpPr>
          <p:cNvPr id="13" name="Shape 11"/>
          <p:cNvSpPr/>
          <p:nvPr/>
        </p:nvSpPr>
        <p:spPr>
          <a:xfrm>
            <a:off x="320040" y="2167128"/>
            <a:ext cx="2743200" cy="621792"/>
          </a:xfrm>
          <a:prstGeom prst="roundRect">
            <a:avLst>
              <a:gd name="adj" fmla="val 8824"/>
            </a:avLst>
          </a:prstGeom>
          <a:solidFill>
            <a:srgbClr val="059669"/>
          </a:solidFill>
          <a:ln/>
        </p:spPr>
      </p:sp>
      <p:sp>
        <p:nvSpPr>
          <p:cNvPr id="14" name="Text 12"/>
          <p:cNvSpPr/>
          <p:nvPr/>
        </p:nvSpPr>
        <p:spPr>
          <a:xfrm>
            <a:off x="411480" y="2203704"/>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publication_end</a:t>
            </a:r>
            <a:endParaRPr lang="en-US" sz="950" dirty="0"/>
          </a:p>
        </p:txBody>
      </p:sp>
      <p:sp>
        <p:nvSpPr>
          <p:cNvPr id="15" name="Text 13"/>
          <p:cNvSpPr/>
          <p:nvPr/>
        </p:nvSpPr>
        <p:spPr>
          <a:xfrm>
            <a:off x="411480" y="2496312"/>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Fin de Publicación</a:t>
            </a:r>
            <a:endParaRPr lang="en-US" sz="900" dirty="0"/>
          </a:p>
        </p:txBody>
      </p:sp>
      <p:sp>
        <p:nvSpPr>
          <p:cNvPr id="16" name="Text 14"/>
          <p:cNvSpPr/>
          <p:nvPr/>
        </p:nvSpPr>
        <p:spPr>
          <a:xfrm>
            <a:off x="3246120" y="2231136"/>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Límite informativo de la fase de publicación. La etapa sigue en 'publicacion' hasta registration_start.</a:t>
            </a:r>
            <a:endParaRPr lang="en-US" sz="1000" dirty="0"/>
          </a:p>
        </p:txBody>
      </p:sp>
      <p:sp>
        <p:nvSpPr>
          <p:cNvPr id="17" name="Shape 15"/>
          <p:cNvSpPr/>
          <p:nvPr/>
        </p:nvSpPr>
        <p:spPr>
          <a:xfrm>
            <a:off x="320040" y="2871216"/>
            <a:ext cx="11475720" cy="621792"/>
          </a:xfrm>
          <a:prstGeom prst="roundRect">
            <a:avLst>
              <a:gd name="adj" fmla="val 8824"/>
            </a:avLst>
          </a:prstGeom>
          <a:solidFill>
            <a:srgbClr val="F3F4F6"/>
          </a:solidFill>
          <a:ln/>
        </p:spPr>
      </p:sp>
      <p:sp>
        <p:nvSpPr>
          <p:cNvPr id="18" name="Shape 16"/>
          <p:cNvSpPr/>
          <p:nvPr/>
        </p:nvSpPr>
        <p:spPr>
          <a:xfrm>
            <a:off x="320040" y="2871216"/>
            <a:ext cx="2743200" cy="621792"/>
          </a:xfrm>
          <a:prstGeom prst="roundRect">
            <a:avLst>
              <a:gd name="adj" fmla="val 8824"/>
            </a:avLst>
          </a:prstGeom>
          <a:solidFill>
            <a:srgbClr val="2563EB"/>
          </a:solidFill>
          <a:ln/>
        </p:spPr>
      </p:sp>
      <p:sp>
        <p:nvSpPr>
          <p:cNvPr id="19" name="Text 17"/>
          <p:cNvSpPr/>
          <p:nvPr/>
        </p:nvSpPr>
        <p:spPr>
          <a:xfrm>
            <a:off x="411480" y="2907792"/>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registration_start</a:t>
            </a:r>
            <a:endParaRPr lang="en-US" sz="950" dirty="0"/>
          </a:p>
        </p:txBody>
      </p:sp>
      <p:sp>
        <p:nvSpPr>
          <p:cNvPr id="20" name="Text 18"/>
          <p:cNvSpPr/>
          <p:nvPr/>
        </p:nvSpPr>
        <p:spPr>
          <a:xfrm>
            <a:off x="411480" y="3200400"/>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Inicio de Registro</a:t>
            </a:r>
            <a:endParaRPr lang="en-US" sz="900" dirty="0"/>
          </a:p>
        </p:txBody>
      </p:sp>
      <p:sp>
        <p:nvSpPr>
          <p:cNvPr id="21" name="Text 19"/>
          <p:cNvSpPr/>
          <p:nvPr/>
        </p:nvSpPr>
        <p:spPr>
          <a:xfrm>
            <a:off x="3246120" y="2935224"/>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Cuando Carbon::today() &gt;= este valor y status = 'publicacion', el cron cambia a 'registro' y envía NewAnnouncement a docentes.</a:t>
            </a:r>
            <a:endParaRPr lang="en-US" sz="1000" dirty="0"/>
          </a:p>
        </p:txBody>
      </p:sp>
      <p:sp>
        <p:nvSpPr>
          <p:cNvPr id="22" name="Shape 20"/>
          <p:cNvSpPr/>
          <p:nvPr/>
        </p:nvSpPr>
        <p:spPr>
          <a:xfrm>
            <a:off x="320040" y="3575304"/>
            <a:ext cx="11475720" cy="621792"/>
          </a:xfrm>
          <a:prstGeom prst="roundRect">
            <a:avLst>
              <a:gd name="adj" fmla="val 8824"/>
            </a:avLst>
          </a:prstGeom>
          <a:solidFill>
            <a:srgbClr val="FFFFFF"/>
          </a:solidFill>
          <a:ln/>
        </p:spPr>
      </p:sp>
      <p:sp>
        <p:nvSpPr>
          <p:cNvPr id="23" name="Shape 21"/>
          <p:cNvSpPr/>
          <p:nvPr/>
        </p:nvSpPr>
        <p:spPr>
          <a:xfrm>
            <a:off x="320040" y="3575304"/>
            <a:ext cx="2743200" cy="621792"/>
          </a:xfrm>
          <a:prstGeom prst="roundRect">
            <a:avLst>
              <a:gd name="adj" fmla="val 8824"/>
            </a:avLst>
          </a:prstGeom>
          <a:solidFill>
            <a:srgbClr val="2563EB"/>
          </a:solidFill>
          <a:ln/>
        </p:spPr>
      </p:sp>
      <p:sp>
        <p:nvSpPr>
          <p:cNvPr id="24" name="Text 22"/>
          <p:cNvSpPr/>
          <p:nvPr/>
        </p:nvSpPr>
        <p:spPr>
          <a:xfrm>
            <a:off x="411480" y="3611880"/>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registration_end</a:t>
            </a:r>
            <a:endParaRPr lang="en-US" sz="950" dirty="0"/>
          </a:p>
        </p:txBody>
      </p:sp>
      <p:sp>
        <p:nvSpPr>
          <p:cNvPr id="25" name="Text 23"/>
          <p:cNvSpPr/>
          <p:nvPr/>
        </p:nvSpPr>
        <p:spPr>
          <a:xfrm>
            <a:off x="411480" y="3904488"/>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Cierre de Registro</a:t>
            </a:r>
            <a:endParaRPr lang="en-US" sz="900" dirty="0"/>
          </a:p>
        </p:txBody>
      </p:sp>
      <p:sp>
        <p:nvSpPr>
          <p:cNvPr id="26" name="Text 24"/>
          <p:cNvSpPr/>
          <p:nvPr/>
        </p:nvSpPr>
        <p:spPr>
          <a:xfrm>
            <a:off x="3246120" y="3639312"/>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Los docentes no pueden enviar nuevas solicitudes después de esta fecha. La etapa puede seguir activa hasta evaluation_start.</a:t>
            </a:r>
            <a:endParaRPr lang="en-US" sz="1000" dirty="0"/>
          </a:p>
        </p:txBody>
      </p:sp>
      <p:sp>
        <p:nvSpPr>
          <p:cNvPr id="27" name="Shape 25"/>
          <p:cNvSpPr/>
          <p:nvPr/>
        </p:nvSpPr>
        <p:spPr>
          <a:xfrm>
            <a:off x="320040" y="4279392"/>
            <a:ext cx="11475720" cy="621792"/>
          </a:xfrm>
          <a:prstGeom prst="roundRect">
            <a:avLst>
              <a:gd name="adj" fmla="val 8824"/>
            </a:avLst>
          </a:prstGeom>
          <a:solidFill>
            <a:srgbClr val="F3F4F6"/>
          </a:solidFill>
          <a:ln/>
        </p:spPr>
      </p:sp>
      <p:sp>
        <p:nvSpPr>
          <p:cNvPr id="28" name="Shape 26"/>
          <p:cNvSpPr/>
          <p:nvPr/>
        </p:nvSpPr>
        <p:spPr>
          <a:xfrm>
            <a:off x="320040" y="4279392"/>
            <a:ext cx="2743200" cy="621792"/>
          </a:xfrm>
          <a:prstGeom prst="roundRect">
            <a:avLst>
              <a:gd name="adj" fmla="val 8824"/>
            </a:avLst>
          </a:prstGeom>
          <a:solidFill>
            <a:srgbClr val="7C3AED"/>
          </a:solidFill>
          <a:ln/>
        </p:spPr>
      </p:sp>
      <p:sp>
        <p:nvSpPr>
          <p:cNvPr id="29" name="Text 27"/>
          <p:cNvSpPr/>
          <p:nvPr/>
        </p:nvSpPr>
        <p:spPr>
          <a:xfrm>
            <a:off x="411480" y="4315968"/>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evaluation_start</a:t>
            </a:r>
            <a:endParaRPr lang="en-US" sz="950" dirty="0"/>
          </a:p>
        </p:txBody>
      </p:sp>
      <p:sp>
        <p:nvSpPr>
          <p:cNvPr id="30" name="Text 28"/>
          <p:cNvSpPr/>
          <p:nvPr/>
        </p:nvSpPr>
        <p:spPr>
          <a:xfrm>
            <a:off x="411480" y="4608576"/>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Inicio de Evaluación</a:t>
            </a:r>
            <a:endParaRPr lang="en-US" sz="900" dirty="0"/>
          </a:p>
        </p:txBody>
      </p:sp>
      <p:sp>
        <p:nvSpPr>
          <p:cNvPr id="31" name="Text 29"/>
          <p:cNvSpPr/>
          <p:nvPr/>
        </p:nvSpPr>
        <p:spPr>
          <a:xfrm>
            <a:off x="3246120" y="4343400"/>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Transición automática a 'evaluacion'. Admin comienza a asignar evaluadores. Email: AnnouncementStageChange.</a:t>
            </a:r>
            <a:endParaRPr lang="en-US" sz="1000" dirty="0"/>
          </a:p>
        </p:txBody>
      </p:sp>
      <p:sp>
        <p:nvSpPr>
          <p:cNvPr id="32" name="Shape 30"/>
          <p:cNvSpPr/>
          <p:nvPr/>
        </p:nvSpPr>
        <p:spPr>
          <a:xfrm>
            <a:off x="320040" y="4983480"/>
            <a:ext cx="11475720" cy="621792"/>
          </a:xfrm>
          <a:prstGeom prst="roundRect">
            <a:avLst>
              <a:gd name="adj" fmla="val 8824"/>
            </a:avLst>
          </a:prstGeom>
          <a:solidFill>
            <a:srgbClr val="FFFFFF"/>
          </a:solidFill>
          <a:ln/>
        </p:spPr>
      </p:sp>
      <p:sp>
        <p:nvSpPr>
          <p:cNvPr id="33" name="Shape 31"/>
          <p:cNvSpPr/>
          <p:nvPr/>
        </p:nvSpPr>
        <p:spPr>
          <a:xfrm>
            <a:off x="320040" y="4983480"/>
            <a:ext cx="2743200" cy="621792"/>
          </a:xfrm>
          <a:prstGeom prst="roundRect">
            <a:avLst>
              <a:gd name="adj" fmla="val 8824"/>
            </a:avLst>
          </a:prstGeom>
          <a:solidFill>
            <a:srgbClr val="EA580C"/>
          </a:solidFill>
          <a:ln/>
        </p:spPr>
      </p:sp>
      <p:sp>
        <p:nvSpPr>
          <p:cNvPr id="34" name="Text 32"/>
          <p:cNvSpPr/>
          <p:nvPr/>
        </p:nvSpPr>
        <p:spPr>
          <a:xfrm>
            <a:off x="411480" y="5020056"/>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evaluation_end</a:t>
            </a:r>
            <a:endParaRPr lang="en-US" sz="950" dirty="0"/>
          </a:p>
        </p:txBody>
      </p:sp>
      <p:sp>
        <p:nvSpPr>
          <p:cNvPr id="35" name="Text 33"/>
          <p:cNvSpPr/>
          <p:nvPr/>
        </p:nvSpPr>
        <p:spPr>
          <a:xfrm>
            <a:off x="411480" y="5312664"/>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Fin de Evaluación</a:t>
            </a:r>
            <a:endParaRPr lang="en-US" sz="900" dirty="0"/>
          </a:p>
        </p:txBody>
      </p:sp>
      <p:sp>
        <p:nvSpPr>
          <p:cNvPr id="36" name="Text 34"/>
          <p:cNvSpPr/>
          <p:nvPr/>
        </p:nvSpPr>
        <p:spPr>
          <a:xfrm>
            <a:off x="3246120" y="5047488"/>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Transición a 'resultados'. Las evaluaciones pendientes se pueden marcar como expiradas por el cron evaluations:expire.</a:t>
            </a:r>
            <a:endParaRPr lang="en-US" sz="1000" dirty="0"/>
          </a:p>
        </p:txBody>
      </p:sp>
      <p:sp>
        <p:nvSpPr>
          <p:cNvPr id="37" name="Shape 35"/>
          <p:cNvSpPr/>
          <p:nvPr/>
        </p:nvSpPr>
        <p:spPr>
          <a:xfrm>
            <a:off x="320040" y="5687568"/>
            <a:ext cx="11475720" cy="621792"/>
          </a:xfrm>
          <a:prstGeom prst="roundRect">
            <a:avLst>
              <a:gd name="adj" fmla="val 8824"/>
            </a:avLst>
          </a:prstGeom>
          <a:solidFill>
            <a:srgbClr val="F3F4F6"/>
          </a:solidFill>
          <a:ln/>
        </p:spPr>
      </p:sp>
      <p:sp>
        <p:nvSpPr>
          <p:cNvPr id="38" name="Shape 36"/>
          <p:cNvSpPr/>
          <p:nvPr/>
        </p:nvSpPr>
        <p:spPr>
          <a:xfrm>
            <a:off x="320040" y="5687568"/>
            <a:ext cx="2743200" cy="621792"/>
          </a:xfrm>
          <a:prstGeom prst="roundRect">
            <a:avLst>
              <a:gd name="adj" fmla="val 8824"/>
            </a:avLst>
          </a:prstGeom>
          <a:solidFill>
            <a:srgbClr val="DC2626"/>
          </a:solidFill>
          <a:ln/>
        </p:spPr>
      </p:sp>
      <p:sp>
        <p:nvSpPr>
          <p:cNvPr id="39" name="Text 37"/>
          <p:cNvSpPr/>
          <p:nvPr/>
        </p:nvSpPr>
        <p:spPr>
          <a:xfrm>
            <a:off x="411480" y="5724144"/>
            <a:ext cx="2560320" cy="292608"/>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results_end</a:t>
            </a:r>
            <a:endParaRPr lang="en-US" sz="950" dirty="0"/>
          </a:p>
        </p:txBody>
      </p:sp>
      <p:sp>
        <p:nvSpPr>
          <p:cNvPr id="40" name="Text 38"/>
          <p:cNvSpPr/>
          <p:nvPr/>
        </p:nvSpPr>
        <p:spPr>
          <a:xfrm>
            <a:off x="411480" y="6016752"/>
            <a:ext cx="2560320" cy="237744"/>
          </a:xfrm>
          <a:prstGeom prst="rect">
            <a:avLst/>
          </a:prstGeom>
          <a:noFill/>
          <a:ln/>
        </p:spPr>
        <p:txBody>
          <a:bodyPr wrap="square" rtlCol="0" anchor="ctr"/>
          <a:lstStyle/>
          <a:p>
            <a:pPr indent="0" marL="0">
              <a:buNone/>
            </a:pPr>
            <a:r>
              <a:rPr lang="en-US" sz="900" dirty="0">
                <a:solidFill>
                  <a:srgbClr val="D1FAE5"/>
                </a:solidFill>
                <a:latin typeface="Calibri" pitchFamily="34" charset="0"/>
                <a:ea typeface="Calibri" pitchFamily="34" charset="-122"/>
                <a:cs typeface="Calibri" pitchFamily="34" charset="-120"/>
              </a:rPr>
              <a:t>Fin de Resultados</a:t>
            </a:r>
            <a:endParaRPr lang="en-US" sz="900" dirty="0"/>
          </a:p>
        </p:txBody>
      </p:sp>
      <p:sp>
        <p:nvSpPr>
          <p:cNvPr id="41" name="Text 39"/>
          <p:cNvSpPr/>
          <p:nvPr/>
        </p:nvSpPr>
        <p:spPr>
          <a:xfrm>
            <a:off x="3246120" y="5751576"/>
            <a:ext cx="8412480" cy="50292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Transición a 'terminada'. Email AnnouncementClosed a todos. Reconocimientos listos para activar y descargar.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Módulos Principales del Sistema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7" name="Shape 5"/>
          <p:cNvSpPr/>
          <p:nvPr/>
        </p:nvSpPr>
        <p:spPr>
          <a:xfrm>
            <a:off x="320040" y="1005840"/>
            <a:ext cx="3767328" cy="566928"/>
          </a:xfrm>
          <a:prstGeom prst="roundRect">
            <a:avLst>
              <a:gd name="adj" fmla="val 16129"/>
            </a:avLst>
          </a:prstGeom>
          <a:solidFill>
            <a:srgbClr val="2563EB"/>
          </a:solidFill>
          <a:ln/>
        </p:spPr>
      </p:sp>
      <p:sp>
        <p:nvSpPr>
          <p:cNvPr id="8" name="Shape 6"/>
          <p:cNvSpPr/>
          <p:nvPr/>
        </p:nvSpPr>
        <p:spPr>
          <a:xfrm>
            <a:off x="320040" y="1298448"/>
            <a:ext cx="3767328" cy="274320"/>
          </a:xfrm>
          <a:prstGeom prst="rect">
            <a:avLst/>
          </a:prstGeom>
          <a:solidFill>
            <a:srgbClr val="2563EB"/>
          </a:solidFill>
          <a:ln/>
        </p:spPr>
      </p:sp>
      <p:sp>
        <p:nvSpPr>
          <p:cNvPr id="9" name="Text 7"/>
          <p:cNvSpPr/>
          <p:nvPr/>
        </p:nvSpPr>
        <p:spPr>
          <a:xfrm>
            <a:off x="411480" y="1097280"/>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Solicitudes (Applications)</a:t>
            </a:r>
            <a:endParaRPr lang="en-US" sz="1200" dirty="0"/>
          </a:p>
        </p:txBody>
      </p:sp>
      <p:sp>
        <p:nvSpPr>
          <p:cNvPr id="10" name="Text 8"/>
          <p:cNvSpPr/>
          <p:nvPr/>
        </p:nvSpPr>
        <p:spPr>
          <a:xfrm>
            <a:off x="429768" y="1664208"/>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Gestión del ciclo completo: creación por docente, asignación de evaluadores con plazos automáticos, emisión de veredictos y generación de cartas de aceptación con sello digital.</a:t>
            </a:r>
            <a:endParaRPr lang="en-US" sz="950" dirty="0"/>
          </a:p>
        </p:txBody>
      </p:sp>
      <p:sp>
        <p:nvSpPr>
          <p:cNvPr id="11" name="Shape 9"/>
          <p:cNvSpPr/>
          <p:nvPr/>
        </p:nvSpPr>
        <p:spPr>
          <a:xfrm>
            <a:off x="429768" y="2871216"/>
            <a:ext cx="3566160" cy="329184"/>
          </a:xfrm>
          <a:prstGeom prst="roundRect">
            <a:avLst>
              <a:gd name="adj" fmla="val 11111"/>
            </a:avLst>
          </a:prstGeom>
          <a:solidFill>
            <a:srgbClr val="F3F4F6"/>
          </a:solidFill>
          <a:ln/>
        </p:spPr>
      </p:sp>
      <p:sp>
        <p:nvSpPr>
          <p:cNvPr id="12" name="Text 10"/>
          <p:cNvSpPr/>
          <p:nvPr/>
        </p:nvSpPr>
        <p:spPr>
          <a:xfrm>
            <a:off x="475488" y="2871216"/>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Statuses: pending → in_review → approved / rejected</a:t>
            </a:r>
            <a:endParaRPr lang="en-US" sz="800" dirty="0"/>
          </a:p>
        </p:txBody>
      </p:sp>
      <p:sp>
        <p:nvSpPr>
          <p:cNvPr id="13" name="Shape 11"/>
          <p:cNvSpPr/>
          <p:nvPr/>
        </p:nvSpPr>
        <p:spPr>
          <a:xfrm>
            <a:off x="4297680" y="1005840"/>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14" name="Shape 12"/>
          <p:cNvSpPr/>
          <p:nvPr/>
        </p:nvSpPr>
        <p:spPr>
          <a:xfrm>
            <a:off x="4297680" y="1005840"/>
            <a:ext cx="3767328" cy="566928"/>
          </a:xfrm>
          <a:prstGeom prst="roundRect">
            <a:avLst>
              <a:gd name="adj" fmla="val 16129"/>
            </a:avLst>
          </a:prstGeom>
          <a:solidFill>
            <a:srgbClr val="0D9488"/>
          </a:solidFill>
          <a:ln/>
        </p:spPr>
      </p:sp>
      <p:sp>
        <p:nvSpPr>
          <p:cNvPr id="15" name="Shape 13"/>
          <p:cNvSpPr/>
          <p:nvPr/>
        </p:nvSpPr>
        <p:spPr>
          <a:xfrm>
            <a:off x="4297680" y="1298448"/>
            <a:ext cx="3767328" cy="274320"/>
          </a:xfrm>
          <a:prstGeom prst="rect">
            <a:avLst/>
          </a:prstGeom>
          <a:solidFill>
            <a:srgbClr val="0D9488"/>
          </a:solidFill>
          <a:ln/>
        </p:spPr>
      </p:sp>
      <p:sp>
        <p:nvSpPr>
          <p:cNvPr id="16" name="Text 14"/>
          <p:cNvSpPr/>
          <p:nvPr/>
        </p:nvSpPr>
        <p:spPr>
          <a:xfrm>
            <a:off x="4389120" y="1097280"/>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Convocatorias (Announcements)</a:t>
            </a:r>
            <a:endParaRPr lang="en-US" sz="1200" dirty="0"/>
          </a:p>
        </p:txBody>
      </p:sp>
      <p:sp>
        <p:nvSpPr>
          <p:cNvPr id="17" name="Text 15"/>
          <p:cNvSpPr/>
          <p:nvPr/>
        </p:nvSpPr>
        <p:spPr>
          <a:xfrm>
            <a:off x="4407408" y="1664208"/>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CRUD con calendario de 7 fechas. El cron job diario realiza transiciones automáticas de etapa. Máximo una convocatoria activa simultáneamente a nivel de sistema.</a:t>
            </a:r>
            <a:endParaRPr lang="en-US" sz="950" dirty="0"/>
          </a:p>
        </p:txBody>
      </p:sp>
      <p:sp>
        <p:nvSpPr>
          <p:cNvPr id="18" name="Shape 16"/>
          <p:cNvSpPr/>
          <p:nvPr/>
        </p:nvSpPr>
        <p:spPr>
          <a:xfrm>
            <a:off x="4407408" y="2871216"/>
            <a:ext cx="3566160" cy="329184"/>
          </a:xfrm>
          <a:prstGeom prst="roundRect">
            <a:avLst>
              <a:gd name="adj" fmla="val 11111"/>
            </a:avLst>
          </a:prstGeom>
          <a:solidFill>
            <a:srgbClr val="F3F4F6"/>
          </a:solidFill>
          <a:ln/>
        </p:spPr>
      </p:sp>
      <p:sp>
        <p:nvSpPr>
          <p:cNvPr id="19" name="Text 17"/>
          <p:cNvSpPr/>
          <p:nvPr/>
        </p:nvSpPr>
        <p:spPr>
          <a:xfrm>
            <a:off x="4453128" y="2871216"/>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Statuses: activa / cerrada / pendiente</a:t>
            </a:r>
            <a:endParaRPr lang="en-US" sz="800" dirty="0"/>
          </a:p>
        </p:txBody>
      </p:sp>
      <p:sp>
        <p:nvSpPr>
          <p:cNvPr id="20" name="Shape 18"/>
          <p:cNvSpPr/>
          <p:nvPr/>
        </p:nvSpPr>
        <p:spPr>
          <a:xfrm>
            <a:off x="8275320" y="1005840"/>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21" name="Shape 19"/>
          <p:cNvSpPr/>
          <p:nvPr/>
        </p:nvSpPr>
        <p:spPr>
          <a:xfrm>
            <a:off x="8275320" y="1005840"/>
            <a:ext cx="3767328" cy="566928"/>
          </a:xfrm>
          <a:prstGeom prst="roundRect">
            <a:avLst>
              <a:gd name="adj" fmla="val 16129"/>
            </a:avLst>
          </a:prstGeom>
          <a:solidFill>
            <a:srgbClr val="7C3AED"/>
          </a:solidFill>
          <a:ln/>
        </p:spPr>
      </p:sp>
      <p:sp>
        <p:nvSpPr>
          <p:cNvPr id="22" name="Shape 20"/>
          <p:cNvSpPr/>
          <p:nvPr/>
        </p:nvSpPr>
        <p:spPr>
          <a:xfrm>
            <a:off x="8275320" y="1298448"/>
            <a:ext cx="3767328" cy="274320"/>
          </a:xfrm>
          <a:prstGeom prst="rect">
            <a:avLst/>
          </a:prstGeom>
          <a:solidFill>
            <a:srgbClr val="7C3AED"/>
          </a:solidFill>
          <a:ln/>
        </p:spPr>
      </p:sp>
      <p:sp>
        <p:nvSpPr>
          <p:cNvPr id="23" name="Text 21"/>
          <p:cNvSpPr/>
          <p:nvPr/>
        </p:nvSpPr>
        <p:spPr>
          <a:xfrm>
            <a:off x="8366760" y="1097280"/>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Evaluaciones (Evaluations)</a:t>
            </a:r>
            <a:endParaRPr lang="en-US" sz="1200" dirty="0"/>
          </a:p>
        </p:txBody>
      </p:sp>
      <p:sp>
        <p:nvSpPr>
          <p:cNvPr id="24" name="Text 22"/>
          <p:cNvSpPr/>
          <p:nvPr/>
        </p:nvSpPr>
        <p:spPr>
          <a:xfrm>
            <a:off x="8385048" y="1664208"/>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El evaluador califica pregunta a pregunta usando la rúbrica asignada a la convocatoria. El puntaje se calcula automáticamente al enviar. Plazo: 7 días hábiles.</a:t>
            </a:r>
            <a:endParaRPr lang="en-US" sz="950" dirty="0"/>
          </a:p>
        </p:txBody>
      </p:sp>
      <p:sp>
        <p:nvSpPr>
          <p:cNvPr id="25" name="Shape 23"/>
          <p:cNvSpPr/>
          <p:nvPr/>
        </p:nvSpPr>
        <p:spPr>
          <a:xfrm>
            <a:off x="8385048" y="2871216"/>
            <a:ext cx="3566160" cy="329184"/>
          </a:xfrm>
          <a:prstGeom prst="roundRect">
            <a:avLst>
              <a:gd name="adj" fmla="val 11111"/>
            </a:avLst>
          </a:prstGeom>
          <a:solidFill>
            <a:srgbClr val="F3F4F6"/>
          </a:solidFill>
          <a:ln/>
        </p:spPr>
      </p:sp>
      <p:sp>
        <p:nvSpPr>
          <p:cNvPr id="26" name="Text 24"/>
          <p:cNvSpPr/>
          <p:nvPr/>
        </p:nvSpPr>
        <p:spPr>
          <a:xfrm>
            <a:off x="8430768" y="2871216"/>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Statuses: pending → approved / rejected / expired</a:t>
            </a:r>
            <a:endParaRPr lang="en-US" sz="800" dirty="0"/>
          </a:p>
        </p:txBody>
      </p:sp>
      <p:sp>
        <p:nvSpPr>
          <p:cNvPr id="27" name="Shape 25"/>
          <p:cNvSpPr/>
          <p:nvPr/>
        </p:nvSpPr>
        <p:spPr>
          <a:xfrm>
            <a:off x="320040" y="3493008"/>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28" name="Shape 26"/>
          <p:cNvSpPr/>
          <p:nvPr/>
        </p:nvSpPr>
        <p:spPr>
          <a:xfrm>
            <a:off x="320040" y="3493008"/>
            <a:ext cx="3767328" cy="566928"/>
          </a:xfrm>
          <a:prstGeom prst="roundRect">
            <a:avLst>
              <a:gd name="adj" fmla="val 16129"/>
            </a:avLst>
          </a:prstGeom>
          <a:solidFill>
            <a:srgbClr val="EA580C"/>
          </a:solidFill>
          <a:ln/>
        </p:spPr>
      </p:sp>
      <p:sp>
        <p:nvSpPr>
          <p:cNvPr id="29" name="Shape 27"/>
          <p:cNvSpPr/>
          <p:nvPr/>
        </p:nvSpPr>
        <p:spPr>
          <a:xfrm>
            <a:off x="320040" y="3785616"/>
            <a:ext cx="3767328" cy="274320"/>
          </a:xfrm>
          <a:prstGeom prst="rect">
            <a:avLst/>
          </a:prstGeom>
          <a:solidFill>
            <a:srgbClr val="EA580C"/>
          </a:solidFill>
          <a:ln/>
        </p:spPr>
      </p:sp>
      <p:sp>
        <p:nvSpPr>
          <p:cNvPr id="30" name="Text 28"/>
          <p:cNvSpPr/>
          <p:nvPr/>
        </p:nvSpPr>
        <p:spPr>
          <a:xfrm>
            <a:off x="411480" y="3584448"/>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Reconocimientos (Recognitions)</a:t>
            </a:r>
            <a:endParaRPr lang="en-US" sz="1200" dirty="0"/>
          </a:p>
        </p:txBody>
      </p:sp>
      <p:sp>
        <p:nvSpPr>
          <p:cNvPr id="31" name="Text 29"/>
          <p:cNvSpPr/>
          <p:nvPr/>
        </p:nvSpPr>
        <p:spPr>
          <a:xfrm>
            <a:off x="429768" y="4151376"/>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PDFs generados con FPDI sobre plantillas configurables. Incluyen sello digital y QR de verificación pública. Activación manual requerida por admin.</a:t>
            </a:r>
            <a:endParaRPr lang="en-US" sz="950" dirty="0"/>
          </a:p>
        </p:txBody>
      </p:sp>
      <p:sp>
        <p:nvSpPr>
          <p:cNvPr id="32" name="Shape 30"/>
          <p:cNvSpPr/>
          <p:nvPr/>
        </p:nvSpPr>
        <p:spPr>
          <a:xfrm>
            <a:off x="429768" y="5358384"/>
            <a:ext cx="3566160" cy="329184"/>
          </a:xfrm>
          <a:prstGeom prst="roundRect">
            <a:avLst>
              <a:gd name="adj" fmla="val 11111"/>
            </a:avLst>
          </a:prstGeom>
          <a:solidFill>
            <a:srgbClr val="F3F4F6"/>
          </a:solidFill>
          <a:ln/>
        </p:spPr>
      </p:sp>
      <p:sp>
        <p:nvSpPr>
          <p:cNvPr id="33" name="Text 31"/>
          <p:cNvSpPr/>
          <p:nvPr/>
        </p:nvSpPr>
        <p:spPr>
          <a:xfrm>
            <a:off x="475488" y="5358384"/>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Tipos: Carta Aceptación (ACE) / Reconocimiento Docente (DOC) / Reconocimiento Evaluador (EVAL)</a:t>
            </a:r>
            <a:endParaRPr lang="en-US" sz="800" dirty="0"/>
          </a:p>
        </p:txBody>
      </p:sp>
      <p:sp>
        <p:nvSpPr>
          <p:cNvPr id="34" name="Shape 32"/>
          <p:cNvSpPr/>
          <p:nvPr/>
        </p:nvSpPr>
        <p:spPr>
          <a:xfrm>
            <a:off x="4297680" y="3493008"/>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35" name="Shape 33"/>
          <p:cNvSpPr/>
          <p:nvPr/>
        </p:nvSpPr>
        <p:spPr>
          <a:xfrm>
            <a:off x="4297680" y="3493008"/>
            <a:ext cx="3767328" cy="566928"/>
          </a:xfrm>
          <a:prstGeom prst="roundRect">
            <a:avLst>
              <a:gd name="adj" fmla="val 16129"/>
            </a:avLst>
          </a:prstGeom>
          <a:solidFill>
            <a:srgbClr val="059669"/>
          </a:solidFill>
          <a:ln/>
        </p:spPr>
      </p:sp>
      <p:sp>
        <p:nvSpPr>
          <p:cNvPr id="36" name="Shape 34"/>
          <p:cNvSpPr/>
          <p:nvPr/>
        </p:nvSpPr>
        <p:spPr>
          <a:xfrm>
            <a:off x="4297680" y="3785616"/>
            <a:ext cx="3767328" cy="274320"/>
          </a:xfrm>
          <a:prstGeom prst="rect">
            <a:avLst/>
          </a:prstGeom>
          <a:solidFill>
            <a:srgbClr val="059669"/>
          </a:solidFill>
          <a:ln/>
        </p:spPr>
      </p:sp>
      <p:sp>
        <p:nvSpPr>
          <p:cNvPr id="37" name="Text 35"/>
          <p:cNvSpPr/>
          <p:nvPr/>
        </p:nvSpPr>
        <p:spPr>
          <a:xfrm>
            <a:off x="4389120" y="3584448"/>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Catálogos</a:t>
            </a:r>
            <a:endParaRPr lang="en-US" sz="1200" dirty="0"/>
          </a:p>
        </p:txBody>
      </p:sp>
      <p:sp>
        <p:nvSpPr>
          <p:cNvPr id="38" name="Text 36"/>
          <p:cNvSpPr/>
          <p:nvPr/>
        </p:nvSpPr>
        <p:spPr>
          <a:xfrm>
            <a:off x="4407408" y="4151376"/>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Administración de entidades de referencia: Instituciones, Áreas Prioritarias, Sub-Áreas, Tipos de Documento, Plantillas PDF y Rúbricas. Soporta importación/exportación Excel.</a:t>
            </a:r>
            <a:endParaRPr lang="en-US" sz="950" dirty="0"/>
          </a:p>
        </p:txBody>
      </p:sp>
      <p:sp>
        <p:nvSpPr>
          <p:cNvPr id="39" name="Shape 37"/>
          <p:cNvSpPr/>
          <p:nvPr/>
        </p:nvSpPr>
        <p:spPr>
          <a:xfrm>
            <a:off x="4407408" y="5358384"/>
            <a:ext cx="3566160" cy="329184"/>
          </a:xfrm>
          <a:prstGeom prst="roundRect">
            <a:avLst>
              <a:gd name="adj" fmla="val 11111"/>
            </a:avLst>
          </a:prstGeom>
          <a:solidFill>
            <a:srgbClr val="F3F4F6"/>
          </a:solidFill>
          <a:ln/>
        </p:spPr>
      </p:sp>
      <p:sp>
        <p:nvSpPr>
          <p:cNvPr id="40" name="Text 38"/>
          <p:cNvSpPr/>
          <p:nvPr/>
        </p:nvSpPr>
        <p:spPr>
          <a:xfrm>
            <a:off x="4453128" y="5358384"/>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Incluye: Institution, PriorityArea, SubArea, CatalogDocument, Template, Rubric</a:t>
            </a:r>
            <a:endParaRPr lang="en-US" sz="800" dirty="0"/>
          </a:p>
        </p:txBody>
      </p:sp>
      <p:sp>
        <p:nvSpPr>
          <p:cNvPr id="41" name="Shape 39"/>
          <p:cNvSpPr/>
          <p:nvPr/>
        </p:nvSpPr>
        <p:spPr>
          <a:xfrm>
            <a:off x="8275320" y="3493008"/>
            <a:ext cx="3767328" cy="2286000"/>
          </a:xfrm>
          <a:prstGeom prst="roundRect">
            <a:avLst>
              <a:gd name="adj" fmla="val 4000"/>
            </a:avLst>
          </a:prstGeom>
          <a:solidFill>
            <a:srgbClr val="FFFFFF"/>
          </a:solidFill>
          <a:ln/>
          <a:effectLst>
            <a:outerShdw sx="100000" sy="100000" kx="0" ky="0" algn="bl" rotWithShape="0" blurRad="50800" dist="25400" dir="16200000">
              <a:srgbClr val="000000">
                <a:alpha val="75000"/>
              </a:srgbClr>
            </a:outerShdw>
          </a:effectLst>
        </p:spPr>
      </p:sp>
      <p:sp>
        <p:nvSpPr>
          <p:cNvPr id="42" name="Shape 40"/>
          <p:cNvSpPr/>
          <p:nvPr/>
        </p:nvSpPr>
        <p:spPr>
          <a:xfrm>
            <a:off x="8275320" y="3493008"/>
            <a:ext cx="3767328" cy="566928"/>
          </a:xfrm>
          <a:prstGeom prst="roundRect">
            <a:avLst>
              <a:gd name="adj" fmla="val 16129"/>
            </a:avLst>
          </a:prstGeom>
          <a:solidFill>
            <a:srgbClr val="DC2626"/>
          </a:solidFill>
          <a:ln/>
        </p:spPr>
      </p:sp>
      <p:sp>
        <p:nvSpPr>
          <p:cNvPr id="43" name="Shape 41"/>
          <p:cNvSpPr/>
          <p:nvPr/>
        </p:nvSpPr>
        <p:spPr>
          <a:xfrm>
            <a:off x="8275320" y="3785616"/>
            <a:ext cx="3767328" cy="274320"/>
          </a:xfrm>
          <a:prstGeom prst="rect">
            <a:avLst/>
          </a:prstGeom>
          <a:solidFill>
            <a:srgbClr val="DC2626"/>
          </a:solidFill>
          <a:ln/>
        </p:spPr>
      </p:sp>
      <p:sp>
        <p:nvSpPr>
          <p:cNvPr id="44" name="Text 42"/>
          <p:cNvSpPr/>
          <p:nvPr/>
        </p:nvSpPr>
        <p:spPr>
          <a:xfrm>
            <a:off x="8366760" y="3584448"/>
            <a:ext cx="361188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Seguridad</a:t>
            </a:r>
            <a:endParaRPr lang="en-US" sz="1200" dirty="0"/>
          </a:p>
        </p:txBody>
      </p:sp>
      <p:sp>
        <p:nvSpPr>
          <p:cNvPr id="45" name="Text 43"/>
          <p:cNvSpPr/>
          <p:nvPr/>
        </p:nvSpPr>
        <p:spPr>
          <a:xfrm>
            <a:off x="8385048" y="4151376"/>
            <a:ext cx="3566160" cy="1097280"/>
          </a:xfrm>
          <a:prstGeom prst="rect">
            <a:avLst/>
          </a:prstGeom>
          <a:noFill/>
          <a:ln/>
        </p:spPr>
        <p:txBody>
          <a:bodyPr wrap="square" rtlCol="0" anchor="ctr"/>
          <a:lstStyle/>
          <a:p>
            <a:pPr algn="just" indent="0" marL="0">
              <a:buNone/>
            </a:pPr>
            <a:r>
              <a:rPr lang="en-US" sz="950" dirty="0">
                <a:solidFill>
                  <a:srgbClr val="1F2937"/>
                </a:solidFill>
                <a:latin typeface="Calibri" pitchFamily="34" charset="0"/>
                <a:ea typeface="Calibri" pitchFamily="34" charset="-122"/>
                <a:cs typeface="Calibri" pitchFamily="34" charset="-120"/>
              </a:rPr>
              <a:t>CRUD de usuarios con validación de CURP vía RENAPO, gestión de roles y permisos Spatie, módulos del sistema configurables. Autenticación con 2FA por email.</a:t>
            </a:r>
            <a:endParaRPr lang="en-US" sz="950" dirty="0"/>
          </a:p>
        </p:txBody>
      </p:sp>
      <p:sp>
        <p:nvSpPr>
          <p:cNvPr id="46" name="Shape 44"/>
          <p:cNvSpPr/>
          <p:nvPr/>
        </p:nvSpPr>
        <p:spPr>
          <a:xfrm>
            <a:off x="8385048" y="5358384"/>
            <a:ext cx="3566160" cy="329184"/>
          </a:xfrm>
          <a:prstGeom prst="roundRect">
            <a:avLst>
              <a:gd name="adj" fmla="val 11111"/>
            </a:avLst>
          </a:prstGeom>
          <a:solidFill>
            <a:srgbClr val="F3F4F6"/>
          </a:solidFill>
          <a:ln/>
        </p:spPr>
      </p:sp>
      <p:sp>
        <p:nvSpPr>
          <p:cNvPr id="47" name="Text 45"/>
          <p:cNvSpPr/>
          <p:nvPr/>
        </p:nvSpPr>
        <p:spPr>
          <a:xfrm>
            <a:off x="8430768" y="5358384"/>
            <a:ext cx="3474720" cy="329184"/>
          </a:xfrm>
          <a:prstGeom prst="rect">
            <a:avLst/>
          </a:prstGeom>
          <a:noFill/>
          <a:ln/>
        </p:spPr>
        <p:txBody>
          <a:bodyPr wrap="square" rtlCol="0" anchor="ctr"/>
          <a:lstStyle/>
          <a:p>
            <a:pPr indent="0" marL="0">
              <a:buNone/>
            </a:pPr>
            <a:r>
              <a:rPr lang="en-US" sz="800" dirty="0">
                <a:solidFill>
                  <a:srgbClr val="6B7280"/>
                </a:solidFill>
                <a:latin typeface="Calibri Italic" pitchFamily="34" charset="0"/>
                <a:ea typeface="Calibri Italic" pitchFamily="34" charset="-122"/>
                <a:cs typeface="Calibri Italic" pitchFamily="34" charset="-120"/>
              </a:rPr>
              <a:t>Gestión: User, Role, Permission, Module + 2Factor + EmailVerify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Eloquent y Relaciones Principales (24 Modelos · 25 Migraciones)</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274320" y="1005840"/>
            <a:ext cx="347472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7" name="Shape 5"/>
          <p:cNvSpPr/>
          <p:nvPr/>
        </p:nvSpPr>
        <p:spPr>
          <a:xfrm>
            <a:off x="274320" y="1005840"/>
            <a:ext cx="3474720" cy="411480"/>
          </a:xfrm>
          <a:prstGeom prst="roundRect">
            <a:avLst>
              <a:gd name="adj" fmla="val 22222"/>
            </a:avLst>
          </a:prstGeom>
          <a:solidFill>
            <a:srgbClr val="2563EB"/>
          </a:solidFill>
          <a:ln/>
        </p:spPr>
      </p:sp>
      <p:sp>
        <p:nvSpPr>
          <p:cNvPr id="8" name="Shape 6"/>
          <p:cNvSpPr/>
          <p:nvPr/>
        </p:nvSpPr>
        <p:spPr>
          <a:xfrm>
            <a:off x="274320" y="1216152"/>
            <a:ext cx="3474720" cy="201168"/>
          </a:xfrm>
          <a:prstGeom prst="rect">
            <a:avLst/>
          </a:prstGeom>
          <a:solidFill>
            <a:srgbClr val="2563EB"/>
          </a:solidFill>
          <a:ln/>
        </p:spPr>
      </p:sp>
      <p:sp>
        <p:nvSpPr>
          <p:cNvPr id="9" name="Text 7"/>
          <p:cNvSpPr/>
          <p:nvPr/>
        </p:nvSpPr>
        <p:spPr>
          <a:xfrm>
            <a:off x="274320" y="1042416"/>
            <a:ext cx="347472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User</a:t>
            </a:r>
            <a:endParaRPr lang="en-US" sz="1300" dirty="0"/>
          </a:p>
        </p:txBody>
      </p:sp>
      <p:sp>
        <p:nvSpPr>
          <p:cNvPr id="10" name="Text 8"/>
          <p:cNvSpPr/>
          <p:nvPr/>
        </p:nvSpPr>
        <p:spPr>
          <a:xfrm>
            <a:off x="365760" y="1463040"/>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name, email, curp</a:t>
            </a:r>
            <a:endParaRPr lang="en-US" sz="850" dirty="0"/>
          </a:p>
        </p:txBody>
      </p:sp>
      <p:sp>
        <p:nvSpPr>
          <p:cNvPr id="11" name="Text 9"/>
          <p:cNvSpPr/>
          <p:nvPr/>
        </p:nvSpPr>
        <p:spPr>
          <a:xfrm>
            <a:off x="365760" y="1764792"/>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employee_number</a:t>
            </a:r>
            <a:endParaRPr lang="en-US" sz="850" dirty="0"/>
          </a:p>
        </p:txBody>
      </p:sp>
      <p:sp>
        <p:nvSpPr>
          <p:cNvPr id="12" name="Text 10"/>
          <p:cNvSpPr/>
          <p:nvPr/>
        </p:nvSpPr>
        <p:spPr>
          <a:xfrm>
            <a:off x="365760" y="2066544"/>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institution_id, priority_area_id</a:t>
            </a:r>
            <a:endParaRPr lang="en-US" sz="850" dirty="0"/>
          </a:p>
        </p:txBody>
      </p:sp>
      <p:sp>
        <p:nvSpPr>
          <p:cNvPr id="13" name="Text 11"/>
          <p:cNvSpPr/>
          <p:nvPr/>
        </p:nvSpPr>
        <p:spPr>
          <a:xfrm>
            <a:off x="365760" y="2368296"/>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sub_area_id, position_type_id</a:t>
            </a:r>
            <a:endParaRPr lang="en-US" sz="850" dirty="0"/>
          </a:p>
        </p:txBody>
      </p:sp>
      <p:sp>
        <p:nvSpPr>
          <p:cNvPr id="14" name="Text 12"/>
          <p:cNvSpPr/>
          <p:nvPr/>
        </p:nvSpPr>
        <p:spPr>
          <a:xfrm>
            <a:off x="365760" y="2670048"/>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email_verified_at</a:t>
            </a:r>
            <a:endParaRPr lang="en-US" sz="850" dirty="0"/>
          </a:p>
        </p:txBody>
      </p:sp>
      <p:sp>
        <p:nvSpPr>
          <p:cNvPr id="15" name="Text 13"/>
          <p:cNvSpPr/>
          <p:nvPr/>
        </p:nvSpPr>
        <p:spPr>
          <a:xfrm>
            <a:off x="365760" y="2971800"/>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verification_code (6 dígitos)</a:t>
            </a:r>
            <a:endParaRPr lang="en-US" sz="850" dirty="0"/>
          </a:p>
        </p:txBody>
      </p:sp>
      <p:sp>
        <p:nvSpPr>
          <p:cNvPr id="16" name="Text 14"/>
          <p:cNvSpPr/>
          <p:nvPr/>
        </p:nvSpPr>
        <p:spPr>
          <a:xfrm>
            <a:off x="365760" y="3273552"/>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verification_code_expires_at</a:t>
            </a:r>
            <a:endParaRPr lang="en-US" sz="850" dirty="0"/>
          </a:p>
        </p:txBody>
      </p:sp>
      <p:sp>
        <p:nvSpPr>
          <p:cNvPr id="17" name="Shape 15"/>
          <p:cNvSpPr/>
          <p:nvPr/>
        </p:nvSpPr>
        <p:spPr>
          <a:xfrm>
            <a:off x="4114800" y="1005840"/>
            <a:ext cx="384048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18" name="Shape 16"/>
          <p:cNvSpPr/>
          <p:nvPr/>
        </p:nvSpPr>
        <p:spPr>
          <a:xfrm>
            <a:off x="4114800" y="1005840"/>
            <a:ext cx="3840480" cy="411480"/>
          </a:xfrm>
          <a:prstGeom prst="roundRect">
            <a:avLst>
              <a:gd name="adj" fmla="val 22222"/>
            </a:avLst>
          </a:prstGeom>
          <a:solidFill>
            <a:srgbClr val="7C3AED"/>
          </a:solidFill>
          <a:ln/>
        </p:spPr>
      </p:sp>
      <p:sp>
        <p:nvSpPr>
          <p:cNvPr id="19" name="Shape 17"/>
          <p:cNvSpPr/>
          <p:nvPr/>
        </p:nvSpPr>
        <p:spPr>
          <a:xfrm>
            <a:off x="4114800" y="1216152"/>
            <a:ext cx="3840480" cy="201168"/>
          </a:xfrm>
          <a:prstGeom prst="rect">
            <a:avLst/>
          </a:prstGeom>
          <a:solidFill>
            <a:srgbClr val="7C3AED"/>
          </a:solidFill>
          <a:ln/>
        </p:spPr>
      </p:sp>
      <p:sp>
        <p:nvSpPr>
          <p:cNvPr id="20" name="Text 18"/>
          <p:cNvSpPr/>
          <p:nvPr/>
        </p:nvSpPr>
        <p:spPr>
          <a:xfrm>
            <a:off x="4114800" y="1042416"/>
            <a:ext cx="384048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Application</a:t>
            </a:r>
            <a:endParaRPr lang="en-US" sz="1300" dirty="0"/>
          </a:p>
        </p:txBody>
      </p:sp>
      <p:sp>
        <p:nvSpPr>
          <p:cNvPr id="21" name="Text 19"/>
          <p:cNvSpPr/>
          <p:nvPr/>
        </p:nvSpPr>
        <p:spPr>
          <a:xfrm>
            <a:off x="4206240" y="1463040"/>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user_id, announcement_id</a:t>
            </a:r>
            <a:endParaRPr lang="en-US" sz="850" dirty="0"/>
          </a:p>
        </p:txBody>
      </p:sp>
      <p:sp>
        <p:nvSpPr>
          <p:cNvPr id="22" name="Text 20"/>
          <p:cNvSpPr/>
          <p:nvPr/>
        </p:nvSpPr>
        <p:spPr>
          <a:xfrm>
            <a:off x="4206240" y="1764792"/>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status: pending/in_review/approved/rejected</a:t>
            </a:r>
            <a:endParaRPr lang="en-US" sz="850" dirty="0"/>
          </a:p>
        </p:txBody>
      </p:sp>
      <p:sp>
        <p:nvSpPr>
          <p:cNvPr id="23" name="Text 21"/>
          <p:cNvSpPr/>
          <p:nvPr/>
        </p:nvSpPr>
        <p:spPr>
          <a:xfrm>
            <a:off x="4206240" y="2066544"/>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identifier (ACE-AÑO-TIPO-ID-6chars)</a:t>
            </a:r>
            <a:endParaRPr lang="en-US" sz="850" dirty="0"/>
          </a:p>
        </p:txBody>
      </p:sp>
      <p:sp>
        <p:nvSpPr>
          <p:cNvPr id="24" name="Text 22"/>
          <p:cNvSpPr/>
          <p:nvPr/>
        </p:nvSpPr>
        <p:spPr>
          <a:xfrm>
            <a:off x="4206240" y="2368296"/>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digital_seal (hash SHA-256)</a:t>
            </a:r>
            <a:endParaRPr lang="en-US" sz="850" dirty="0"/>
          </a:p>
        </p:txBody>
      </p:sp>
      <p:sp>
        <p:nvSpPr>
          <p:cNvPr id="25" name="Text 23"/>
          <p:cNvSpPr/>
          <p:nvPr/>
        </p:nvSpPr>
        <p:spPr>
          <a:xfrm>
            <a:off x="4206240" y="2670048"/>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snapshot_data (JSON captura al firmar)</a:t>
            </a:r>
            <a:endParaRPr lang="en-US" sz="850" dirty="0"/>
          </a:p>
        </p:txBody>
      </p:sp>
      <p:sp>
        <p:nvSpPr>
          <p:cNvPr id="26" name="Text 24"/>
          <p:cNvSpPr/>
          <p:nvPr/>
        </p:nvSpPr>
        <p:spPr>
          <a:xfrm>
            <a:off x="4206240" y="2971800"/>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created_at, updated_at</a:t>
            </a:r>
            <a:endParaRPr lang="en-US" sz="850" dirty="0"/>
          </a:p>
        </p:txBody>
      </p:sp>
      <p:sp>
        <p:nvSpPr>
          <p:cNvPr id="27" name="Shape 25"/>
          <p:cNvSpPr/>
          <p:nvPr/>
        </p:nvSpPr>
        <p:spPr>
          <a:xfrm>
            <a:off x="8321040" y="1005840"/>
            <a:ext cx="365760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28" name="Shape 26"/>
          <p:cNvSpPr/>
          <p:nvPr/>
        </p:nvSpPr>
        <p:spPr>
          <a:xfrm>
            <a:off x="8321040" y="1005840"/>
            <a:ext cx="3657600" cy="411480"/>
          </a:xfrm>
          <a:prstGeom prst="roundRect">
            <a:avLst>
              <a:gd name="adj" fmla="val 22222"/>
            </a:avLst>
          </a:prstGeom>
          <a:solidFill>
            <a:srgbClr val="0D9488"/>
          </a:solidFill>
          <a:ln/>
        </p:spPr>
      </p:sp>
      <p:sp>
        <p:nvSpPr>
          <p:cNvPr id="29" name="Shape 27"/>
          <p:cNvSpPr/>
          <p:nvPr/>
        </p:nvSpPr>
        <p:spPr>
          <a:xfrm>
            <a:off x="8321040" y="1216152"/>
            <a:ext cx="3657600" cy="201168"/>
          </a:xfrm>
          <a:prstGeom prst="rect">
            <a:avLst/>
          </a:prstGeom>
          <a:solidFill>
            <a:srgbClr val="0D9488"/>
          </a:solidFill>
          <a:ln/>
        </p:spPr>
      </p:sp>
      <p:sp>
        <p:nvSpPr>
          <p:cNvPr id="30" name="Text 28"/>
          <p:cNvSpPr/>
          <p:nvPr/>
        </p:nvSpPr>
        <p:spPr>
          <a:xfrm>
            <a:off x="8321040" y="1042416"/>
            <a:ext cx="365760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Announcement</a:t>
            </a:r>
            <a:endParaRPr lang="en-US" sz="1300" dirty="0"/>
          </a:p>
        </p:txBody>
      </p:sp>
      <p:sp>
        <p:nvSpPr>
          <p:cNvPr id="31" name="Text 29"/>
          <p:cNvSpPr/>
          <p:nvPr/>
        </p:nvSpPr>
        <p:spPr>
          <a:xfrm>
            <a:off x="8412480" y="1463040"/>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title, description</a:t>
            </a:r>
            <a:endParaRPr lang="en-US" sz="850" dirty="0"/>
          </a:p>
        </p:txBody>
      </p:sp>
      <p:sp>
        <p:nvSpPr>
          <p:cNvPr id="32" name="Text 30"/>
          <p:cNvSpPr/>
          <p:nvPr/>
        </p:nvSpPr>
        <p:spPr>
          <a:xfrm>
            <a:off x="8412480" y="1764792"/>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status: activa/cerrada/pendiente</a:t>
            </a:r>
            <a:endParaRPr lang="en-US" sz="850" dirty="0"/>
          </a:p>
        </p:txBody>
      </p:sp>
      <p:sp>
        <p:nvSpPr>
          <p:cNvPr id="33" name="Text 31"/>
          <p:cNvSpPr/>
          <p:nvPr/>
        </p:nvSpPr>
        <p:spPr>
          <a:xfrm>
            <a:off x="8412480" y="2066544"/>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institution_id, priority_area_id</a:t>
            </a:r>
            <a:endParaRPr lang="en-US" sz="850" dirty="0"/>
          </a:p>
        </p:txBody>
      </p:sp>
      <p:sp>
        <p:nvSpPr>
          <p:cNvPr id="34" name="Text 32"/>
          <p:cNvSpPr/>
          <p:nvPr/>
        </p:nvSpPr>
        <p:spPr>
          <a:xfrm>
            <a:off x="8412480" y="2368296"/>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rubric_id (rúbrica asignada)</a:t>
            </a:r>
            <a:endParaRPr lang="en-US" sz="850" dirty="0"/>
          </a:p>
        </p:txBody>
      </p:sp>
      <p:sp>
        <p:nvSpPr>
          <p:cNvPr id="35" name="Text 33"/>
          <p:cNvSpPr/>
          <p:nvPr/>
        </p:nvSpPr>
        <p:spPr>
          <a:xfrm>
            <a:off x="8412480" y="2670048"/>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active (bool — solo 1 activa)</a:t>
            </a:r>
            <a:endParaRPr lang="en-US" sz="850" dirty="0"/>
          </a:p>
        </p:txBody>
      </p:sp>
      <p:sp>
        <p:nvSpPr>
          <p:cNvPr id="36" name="Text 34"/>
          <p:cNvSpPr/>
          <p:nvPr/>
        </p:nvSpPr>
        <p:spPr>
          <a:xfrm>
            <a:off x="8412480" y="2971800"/>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created_at, updated_at</a:t>
            </a:r>
            <a:endParaRPr lang="en-US" sz="850" dirty="0"/>
          </a:p>
        </p:txBody>
      </p:sp>
      <p:sp>
        <p:nvSpPr>
          <p:cNvPr id="37" name="Shape 35"/>
          <p:cNvSpPr/>
          <p:nvPr/>
        </p:nvSpPr>
        <p:spPr>
          <a:xfrm>
            <a:off x="274320" y="3520440"/>
            <a:ext cx="347472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38" name="Shape 36"/>
          <p:cNvSpPr/>
          <p:nvPr/>
        </p:nvSpPr>
        <p:spPr>
          <a:xfrm>
            <a:off x="274320" y="3520440"/>
            <a:ext cx="3474720" cy="411480"/>
          </a:xfrm>
          <a:prstGeom prst="roundRect">
            <a:avLst>
              <a:gd name="adj" fmla="val 22222"/>
            </a:avLst>
          </a:prstGeom>
          <a:solidFill>
            <a:srgbClr val="059669"/>
          </a:solidFill>
          <a:ln/>
        </p:spPr>
      </p:sp>
      <p:sp>
        <p:nvSpPr>
          <p:cNvPr id="39" name="Shape 37"/>
          <p:cNvSpPr/>
          <p:nvPr/>
        </p:nvSpPr>
        <p:spPr>
          <a:xfrm>
            <a:off x="274320" y="3730752"/>
            <a:ext cx="3474720" cy="201168"/>
          </a:xfrm>
          <a:prstGeom prst="rect">
            <a:avLst/>
          </a:prstGeom>
          <a:solidFill>
            <a:srgbClr val="059669"/>
          </a:solidFill>
          <a:ln/>
        </p:spPr>
      </p:sp>
      <p:sp>
        <p:nvSpPr>
          <p:cNvPr id="40" name="Text 38"/>
          <p:cNvSpPr/>
          <p:nvPr/>
        </p:nvSpPr>
        <p:spPr>
          <a:xfrm>
            <a:off x="274320" y="3557016"/>
            <a:ext cx="347472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Evaluation</a:t>
            </a:r>
            <a:endParaRPr lang="en-US" sz="1300" dirty="0"/>
          </a:p>
        </p:txBody>
      </p:sp>
      <p:sp>
        <p:nvSpPr>
          <p:cNvPr id="41" name="Text 39"/>
          <p:cNvSpPr/>
          <p:nvPr/>
        </p:nvSpPr>
        <p:spPr>
          <a:xfrm>
            <a:off x="365760" y="3977640"/>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application_id, evaluator_id</a:t>
            </a:r>
            <a:endParaRPr lang="en-US" sz="850" dirty="0"/>
          </a:p>
        </p:txBody>
      </p:sp>
      <p:sp>
        <p:nvSpPr>
          <p:cNvPr id="42" name="Text 40"/>
          <p:cNvSpPr/>
          <p:nvPr/>
        </p:nvSpPr>
        <p:spPr>
          <a:xfrm>
            <a:off x="365760" y="4279392"/>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status: pending/approved/rejected/expired</a:t>
            </a:r>
            <a:endParaRPr lang="en-US" sz="850" dirty="0"/>
          </a:p>
        </p:txBody>
      </p:sp>
      <p:sp>
        <p:nvSpPr>
          <p:cNvPr id="43" name="Text 41"/>
          <p:cNvSpPr/>
          <p:nvPr/>
        </p:nvSpPr>
        <p:spPr>
          <a:xfrm>
            <a:off x="365760" y="4581144"/>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score (float — calculado)</a:t>
            </a:r>
            <a:endParaRPr lang="en-US" sz="850" dirty="0"/>
          </a:p>
        </p:txBody>
      </p:sp>
      <p:sp>
        <p:nvSpPr>
          <p:cNvPr id="44" name="Text 42"/>
          <p:cNvSpPr/>
          <p:nvPr/>
        </p:nvSpPr>
        <p:spPr>
          <a:xfrm>
            <a:off x="365760" y="4882896"/>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answers (JSON respuestas rúbrica)</a:t>
            </a:r>
            <a:endParaRPr lang="en-US" sz="850" dirty="0"/>
          </a:p>
        </p:txBody>
      </p:sp>
      <p:sp>
        <p:nvSpPr>
          <p:cNvPr id="45" name="Text 43"/>
          <p:cNvSpPr/>
          <p:nvPr/>
        </p:nvSpPr>
        <p:spPr>
          <a:xfrm>
            <a:off x="365760" y="5184648"/>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deadline_at (+7 días hábiles)</a:t>
            </a:r>
            <a:endParaRPr lang="en-US" sz="850" dirty="0"/>
          </a:p>
        </p:txBody>
      </p:sp>
      <p:sp>
        <p:nvSpPr>
          <p:cNvPr id="46" name="Text 44"/>
          <p:cNvSpPr/>
          <p:nvPr/>
        </p:nvSpPr>
        <p:spPr>
          <a:xfrm>
            <a:off x="365760" y="5486400"/>
            <a:ext cx="331012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submitted_at, comments</a:t>
            </a:r>
            <a:endParaRPr lang="en-US" sz="850" dirty="0"/>
          </a:p>
        </p:txBody>
      </p:sp>
      <p:sp>
        <p:nvSpPr>
          <p:cNvPr id="47" name="Shape 45"/>
          <p:cNvSpPr/>
          <p:nvPr/>
        </p:nvSpPr>
        <p:spPr>
          <a:xfrm>
            <a:off x="4114800" y="3520440"/>
            <a:ext cx="384048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48" name="Shape 46"/>
          <p:cNvSpPr/>
          <p:nvPr/>
        </p:nvSpPr>
        <p:spPr>
          <a:xfrm>
            <a:off x="4114800" y="3520440"/>
            <a:ext cx="3840480" cy="411480"/>
          </a:xfrm>
          <a:prstGeom prst="roundRect">
            <a:avLst>
              <a:gd name="adj" fmla="val 22222"/>
            </a:avLst>
          </a:prstGeom>
          <a:solidFill>
            <a:srgbClr val="CA8A04"/>
          </a:solidFill>
          <a:ln/>
        </p:spPr>
      </p:sp>
      <p:sp>
        <p:nvSpPr>
          <p:cNvPr id="49" name="Shape 47"/>
          <p:cNvSpPr/>
          <p:nvPr/>
        </p:nvSpPr>
        <p:spPr>
          <a:xfrm>
            <a:off x="4114800" y="3730752"/>
            <a:ext cx="3840480" cy="201168"/>
          </a:xfrm>
          <a:prstGeom prst="rect">
            <a:avLst/>
          </a:prstGeom>
          <a:solidFill>
            <a:srgbClr val="CA8A04"/>
          </a:solidFill>
          <a:ln/>
        </p:spPr>
      </p:sp>
      <p:sp>
        <p:nvSpPr>
          <p:cNvPr id="50" name="Text 48"/>
          <p:cNvSpPr/>
          <p:nvPr/>
        </p:nvSpPr>
        <p:spPr>
          <a:xfrm>
            <a:off x="4114800" y="3557016"/>
            <a:ext cx="384048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Calendar</a:t>
            </a:r>
            <a:endParaRPr lang="en-US" sz="1300" dirty="0"/>
          </a:p>
        </p:txBody>
      </p:sp>
      <p:sp>
        <p:nvSpPr>
          <p:cNvPr id="51" name="Text 49"/>
          <p:cNvSpPr/>
          <p:nvPr/>
        </p:nvSpPr>
        <p:spPr>
          <a:xfrm>
            <a:off x="4206240" y="3977640"/>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announcement_id</a:t>
            </a:r>
            <a:endParaRPr lang="en-US" sz="850" dirty="0"/>
          </a:p>
        </p:txBody>
      </p:sp>
      <p:sp>
        <p:nvSpPr>
          <p:cNvPr id="52" name="Text 50"/>
          <p:cNvSpPr/>
          <p:nvPr/>
        </p:nvSpPr>
        <p:spPr>
          <a:xfrm>
            <a:off x="4206240" y="4279392"/>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publication_start / publication_end</a:t>
            </a:r>
            <a:endParaRPr lang="en-US" sz="850" dirty="0"/>
          </a:p>
        </p:txBody>
      </p:sp>
      <p:sp>
        <p:nvSpPr>
          <p:cNvPr id="53" name="Text 51"/>
          <p:cNvSpPr/>
          <p:nvPr/>
        </p:nvSpPr>
        <p:spPr>
          <a:xfrm>
            <a:off x="4206240" y="4581144"/>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registration_start / registration_end</a:t>
            </a:r>
            <a:endParaRPr lang="en-US" sz="850" dirty="0"/>
          </a:p>
        </p:txBody>
      </p:sp>
      <p:sp>
        <p:nvSpPr>
          <p:cNvPr id="54" name="Text 52"/>
          <p:cNvSpPr/>
          <p:nvPr/>
        </p:nvSpPr>
        <p:spPr>
          <a:xfrm>
            <a:off x="4206240" y="4882896"/>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evaluation_start / evaluation_end</a:t>
            </a:r>
            <a:endParaRPr lang="en-US" sz="850" dirty="0"/>
          </a:p>
        </p:txBody>
      </p:sp>
      <p:sp>
        <p:nvSpPr>
          <p:cNvPr id="55" name="Text 53"/>
          <p:cNvSpPr/>
          <p:nvPr/>
        </p:nvSpPr>
        <p:spPr>
          <a:xfrm>
            <a:off x="4206240" y="5184648"/>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results_end</a:t>
            </a:r>
            <a:endParaRPr lang="en-US" sz="850" dirty="0"/>
          </a:p>
        </p:txBody>
      </p:sp>
      <p:sp>
        <p:nvSpPr>
          <p:cNvPr id="56" name="Text 54"/>
          <p:cNvSpPr/>
          <p:nvPr/>
        </p:nvSpPr>
        <p:spPr>
          <a:xfrm>
            <a:off x="4206240" y="5486400"/>
            <a:ext cx="367588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timestamps</a:t>
            </a:r>
            <a:endParaRPr lang="en-US" sz="850" dirty="0"/>
          </a:p>
        </p:txBody>
      </p:sp>
      <p:sp>
        <p:nvSpPr>
          <p:cNvPr id="57" name="Shape 55"/>
          <p:cNvSpPr/>
          <p:nvPr/>
        </p:nvSpPr>
        <p:spPr>
          <a:xfrm>
            <a:off x="8321040" y="3520440"/>
            <a:ext cx="3657600" cy="2377440"/>
          </a:xfrm>
          <a:prstGeom prst="roundRect">
            <a:avLst>
              <a:gd name="adj" fmla="val 3846"/>
            </a:avLst>
          </a:prstGeom>
          <a:solidFill>
            <a:srgbClr val="F3F4F6"/>
          </a:solidFill>
          <a:ln/>
          <a:effectLst>
            <a:outerShdw sx="100000" sy="100000" kx="0" ky="0" algn="bl" rotWithShape="0" blurRad="50800" dist="25400" dir="16200000">
              <a:srgbClr val="000000">
                <a:alpha val="75000"/>
              </a:srgbClr>
            </a:outerShdw>
          </a:effectLst>
        </p:spPr>
      </p:sp>
      <p:sp>
        <p:nvSpPr>
          <p:cNvPr id="58" name="Shape 56"/>
          <p:cNvSpPr/>
          <p:nvPr/>
        </p:nvSpPr>
        <p:spPr>
          <a:xfrm>
            <a:off x="8321040" y="3520440"/>
            <a:ext cx="3657600" cy="411480"/>
          </a:xfrm>
          <a:prstGeom prst="roundRect">
            <a:avLst>
              <a:gd name="adj" fmla="val 22222"/>
            </a:avLst>
          </a:prstGeom>
          <a:solidFill>
            <a:srgbClr val="EA580C"/>
          </a:solidFill>
          <a:ln/>
        </p:spPr>
      </p:sp>
      <p:sp>
        <p:nvSpPr>
          <p:cNvPr id="59" name="Shape 57"/>
          <p:cNvSpPr/>
          <p:nvPr/>
        </p:nvSpPr>
        <p:spPr>
          <a:xfrm>
            <a:off x="8321040" y="3730752"/>
            <a:ext cx="3657600" cy="201168"/>
          </a:xfrm>
          <a:prstGeom prst="rect">
            <a:avLst/>
          </a:prstGeom>
          <a:solidFill>
            <a:srgbClr val="EA580C"/>
          </a:solidFill>
          <a:ln/>
        </p:spPr>
      </p:sp>
      <p:sp>
        <p:nvSpPr>
          <p:cNvPr id="60" name="Text 58"/>
          <p:cNvSpPr/>
          <p:nvPr/>
        </p:nvSpPr>
        <p:spPr>
          <a:xfrm>
            <a:off x="8321040" y="3557016"/>
            <a:ext cx="3657600" cy="347472"/>
          </a:xfrm>
          <a:prstGeom prst="rect">
            <a:avLst/>
          </a:prstGeom>
          <a:noFill/>
          <a:ln/>
        </p:spPr>
        <p:txBody>
          <a:bodyPr wrap="square" rtlCol="0" anchor="ctr"/>
          <a:lstStyle/>
          <a:p>
            <a:pPr algn="ctr" indent="0" marL="0">
              <a:buNone/>
            </a:pPr>
            <a:r>
              <a:rPr lang="en-US" sz="1300" b="1" dirty="0">
                <a:solidFill>
                  <a:srgbClr val="FFFFFF"/>
                </a:solidFill>
                <a:latin typeface="Calibri Mono" pitchFamily="34" charset="0"/>
                <a:ea typeface="Calibri Mono" pitchFamily="34" charset="-122"/>
                <a:cs typeface="Calibri Mono" pitchFamily="34" charset="-120"/>
              </a:rPr>
              <a:t>Recognition</a:t>
            </a:r>
            <a:endParaRPr lang="en-US" sz="1300" dirty="0"/>
          </a:p>
        </p:txBody>
      </p:sp>
      <p:sp>
        <p:nvSpPr>
          <p:cNvPr id="61" name="Text 59"/>
          <p:cNvSpPr/>
          <p:nvPr/>
        </p:nvSpPr>
        <p:spPr>
          <a:xfrm>
            <a:off x="8412480" y="3977640"/>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id, user_id, announcement_id</a:t>
            </a:r>
            <a:endParaRPr lang="en-US" sz="850" dirty="0"/>
          </a:p>
        </p:txBody>
      </p:sp>
      <p:sp>
        <p:nvSpPr>
          <p:cNvPr id="62" name="Text 60"/>
          <p:cNvSpPr/>
          <p:nvPr/>
        </p:nvSpPr>
        <p:spPr>
          <a:xfrm>
            <a:off x="8412480" y="4279392"/>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template_id, type (DOC/EVAL)</a:t>
            </a:r>
            <a:endParaRPr lang="en-US" sz="850" dirty="0"/>
          </a:p>
        </p:txBody>
      </p:sp>
      <p:sp>
        <p:nvSpPr>
          <p:cNvPr id="63" name="Text 61"/>
          <p:cNvSpPr/>
          <p:nvPr/>
        </p:nvSpPr>
        <p:spPr>
          <a:xfrm>
            <a:off x="8412480" y="4581144"/>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active (bool — activado por admin)</a:t>
            </a:r>
            <a:endParaRPr lang="en-US" sz="850" dirty="0"/>
          </a:p>
        </p:txBody>
      </p:sp>
      <p:sp>
        <p:nvSpPr>
          <p:cNvPr id="64" name="Text 62"/>
          <p:cNvSpPr/>
          <p:nvPr/>
        </p:nvSpPr>
        <p:spPr>
          <a:xfrm>
            <a:off x="8412480" y="4882896"/>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sent_at, identifier</a:t>
            </a:r>
            <a:endParaRPr lang="en-US" sz="850" dirty="0"/>
          </a:p>
        </p:txBody>
      </p:sp>
      <p:sp>
        <p:nvSpPr>
          <p:cNvPr id="65" name="Text 63"/>
          <p:cNvSpPr/>
          <p:nvPr/>
        </p:nvSpPr>
        <p:spPr>
          <a:xfrm>
            <a:off x="8412480" y="5184648"/>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digital_seal, snapshot_data</a:t>
            </a:r>
            <a:endParaRPr lang="en-US" sz="850" dirty="0"/>
          </a:p>
        </p:txBody>
      </p:sp>
      <p:sp>
        <p:nvSpPr>
          <p:cNvPr id="66" name="Text 64"/>
          <p:cNvSpPr/>
          <p:nvPr/>
        </p:nvSpPr>
        <p:spPr>
          <a:xfrm>
            <a:off x="8412480" y="5486400"/>
            <a:ext cx="3493008" cy="274320"/>
          </a:xfrm>
          <a:prstGeom prst="rect">
            <a:avLst/>
          </a:prstGeom>
          <a:noFill/>
          <a:ln/>
        </p:spPr>
        <p:txBody>
          <a:bodyPr wrap="square" rtlCol="0" anchor="ctr"/>
          <a:lstStyle/>
          <a:p>
            <a:pPr indent="0" marL="0">
              <a:buNone/>
            </a:pPr>
            <a:r>
              <a:rPr lang="en-US" sz="850" dirty="0">
                <a:solidFill>
                  <a:srgbClr val="1F2937"/>
                </a:solidFill>
                <a:latin typeface="Calibri Mono" pitchFamily="34" charset="0"/>
                <a:ea typeface="Calibri Mono" pitchFamily="34" charset="-122"/>
                <a:cs typeface="Calibri Mono" pitchFamily="34" charset="-120"/>
              </a:rPr>
              <a:t>created_at, updated_at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7C3AED"/>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Sistema de Evaluación y Rúbrica Configurable</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5852160" cy="5303520"/>
          </a:xfrm>
          <a:prstGeom prst="roundRect">
            <a:avLst>
              <a:gd name="adj" fmla="val 1724"/>
            </a:avLst>
          </a:prstGeom>
          <a:solidFill>
            <a:srgbClr val="FFFFFF"/>
          </a:solidFill>
          <a:ln/>
          <a:effectLst>
            <a:outerShdw sx="100000" sy="100000" kx="0" ky="0" algn="bl" rotWithShape="0" blurRad="50800" dist="25400" dir="16200000">
              <a:srgbClr val="000000">
                <a:alpha val="75000"/>
              </a:srgbClr>
            </a:outerShdw>
          </a:effectLst>
        </p:spPr>
      </p:sp>
      <p:sp>
        <p:nvSpPr>
          <p:cNvPr id="7" name="Text 5"/>
          <p:cNvSpPr/>
          <p:nvPr/>
        </p:nvSpPr>
        <p:spPr>
          <a:xfrm>
            <a:off x="457200" y="1078992"/>
            <a:ext cx="5669280" cy="384048"/>
          </a:xfrm>
          <a:prstGeom prst="rect">
            <a:avLst/>
          </a:prstGeom>
          <a:noFill/>
          <a:ln/>
        </p:spPr>
        <p:txBody>
          <a:bodyPr wrap="square"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Estructura del Modelo de Rúbrica</a:t>
            </a:r>
            <a:endParaRPr lang="en-US" sz="1300" dirty="0"/>
          </a:p>
        </p:txBody>
      </p:sp>
      <p:sp>
        <p:nvSpPr>
          <p:cNvPr id="8" name="Shape 6"/>
          <p:cNvSpPr/>
          <p:nvPr/>
        </p:nvSpPr>
        <p:spPr>
          <a:xfrm>
            <a:off x="457200" y="1572768"/>
            <a:ext cx="5577840" cy="658368"/>
          </a:xfrm>
          <a:prstGeom prst="roundRect">
            <a:avLst>
              <a:gd name="adj" fmla="val 8333"/>
            </a:avLst>
          </a:prstGeom>
          <a:solidFill>
            <a:srgbClr val="F3F4F6"/>
          </a:solidFill>
          <a:ln/>
        </p:spPr>
      </p:sp>
      <p:sp>
        <p:nvSpPr>
          <p:cNvPr id="9" name="Shape 7"/>
          <p:cNvSpPr/>
          <p:nvPr/>
        </p:nvSpPr>
        <p:spPr>
          <a:xfrm>
            <a:off x="457200" y="1572768"/>
            <a:ext cx="2194560" cy="658368"/>
          </a:xfrm>
          <a:prstGeom prst="roundRect">
            <a:avLst>
              <a:gd name="adj" fmla="val 8333"/>
            </a:avLst>
          </a:prstGeom>
          <a:solidFill>
            <a:srgbClr val="7C3AED"/>
          </a:solidFill>
          <a:ln/>
        </p:spPr>
      </p:sp>
      <p:sp>
        <p:nvSpPr>
          <p:cNvPr id="10" name="Text 8"/>
          <p:cNvSpPr/>
          <p:nvPr/>
        </p:nvSpPr>
        <p:spPr>
          <a:xfrm>
            <a:off x="502920" y="1645920"/>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Rubric</a:t>
            </a:r>
            <a:endParaRPr lang="en-US" sz="950" dirty="0"/>
          </a:p>
        </p:txBody>
      </p:sp>
      <p:sp>
        <p:nvSpPr>
          <p:cNvPr id="11" name="Text 9"/>
          <p:cNvSpPr/>
          <p:nvPr/>
        </p:nvSpPr>
        <p:spPr>
          <a:xfrm>
            <a:off x="2743200" y="1645920"/>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Una rúbrica por convocatoria. Campos: title, description, announcement_id</a:t>
            </a:r>
            <a:endParaRPr lang="en-US" sz="850" dirty="0"/>
          </a:p>
        </p:txBody>
      </p:sp>
      <p:sp>
        <p:nvSpPr>
          <p:cNvPr id="12" name="Shape 10"/>
          <p:cNvSpPr/>
          <p:nvPr/>
        </p:nvSpPr>
        <p:spPr>
          <a:xfrm>
            <a:off x="777240" y="2322576"/>
            <a:ext cx="5257800" cy="658368"/>
          </a:xfrm>
          <a:prstGeom prst="roundRect">
            <a:avLst>
              <a:gd name="adj" fmla="val 8333"/>
            </a:avLst>
          </a:prstGeom>
          <a:solidFill>
            <a:srgbClr val="F3F4F6"/>
          </a:solidFill>
          <a:ln/>
        </p:spPr>
      </p:sp>
      <p:sp>
        <p:nvSpPr>
          <p:cNvPr id="13" name="Shape 11"/>
          <p:cNvSpPr/>
          <p:nvPr/>
        </p:nvSpPr>
        <p:spPr>
          <a:xfrm>
            <a:off x="777240" y="2322576"/>
            <a:ext cx="2194560" cy="658368"/>
          </a:xfrm>
          <a:prstGeom prst="roundRect">
            <a:avLst>
              <a:gd name="adj" fmla="val 8333"/>
            </a:avLst>
          </a:prstGeom>
          <a:solidFill>
            <a:srgbClr val="2563EB"/>
          </a:solidFill>
          <a:ln/>
        </p:spPr>
      </p:sp>
      <p:sp>
        <p:nvSpPr>
          <p:cNvPr id="14" name="Text 12"/>
          <p:cNvSpPr/>
          <p:nvPr/>
        </p:nvSpPr>
        <p:spPr>
          <a:xfrm>
            <a:off x="822960" y="2395728"/>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  RubricQuestion</a:t>
            </a:r>
            <a:endParaRPr lang="en-US" sz="950" dirty="0"/>
          </a:p>
        </p:txBody>
      </p:sp>
      <p:sp>
        <p:nvSpPr>
          <p:cNvPr id="15" name="Text 13"/>
          <p:cNvSpPr/>
          <p:nvPr/>
        </p:nvSpPr>
        <p:spPr>
          <a:xfrm>
            <a:off x="2743200" y="2395728"/>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N preguntas por rúbrica. Campos: question_text, order, weight</a:t>
            </a:r>
            <a:endParaRPr lang="en-US" sz="850" dirty="0"/>
          </a:p>
        </p:txBody>
      </p:sp>
      <p:sp>
        <p:nvSpPr>
          <p:cNvPr id="16" name="Shape 14"/>
          <p:cNvSpPr/>
          <p:nvPr/>
        </p:nvSpPr>
        <p:spPr>
          <a:xfrm>
            <a:off x="1097280" y="3072384"/>
            <a:ext cx="4937760" cy="658368"/>
          </a:xfrm>
          <a:prstGeom prst="roundRect">
            <a:avLst>
              <a:gd name="adj" fmla="val 8333"/>
            </a:avLst>
          </a:prstGeom>
          <a:solidFill>
            <a:srgbClr val="F3F4F6"/>
          </a:solidFill>
          <a:ln/>
        </p:spPr>
      </p:sp>
      <p:sp>
        <p:nvSpPr>
          <p:cNvPr id="17" name="Shape 15"/>
          <p:cNvSpPr/>
          <p:nvPr/>
        </p:nvSpPr>
        <p:spPr>
          <a:xfrm>
            <a:off x="1097280" y="3072384"/>
            <a:ext cx="2194560" cy="658368"/>
          </a:xfrm>
          <a:prstGeom prst="roundRect">
            <a:avLst>
              <a:gd name="adj" fmla="val 8333"/>
            </a:avLst>
          </a:prstGeom>
          <a:solidFill>
            <a:srgbClr val="0D9488"/>
          </a:solidFill>
          <a:ln/>
        </p:spPr>
      </p:sp>
      <p:sp>
        <p:nvSpPr>
          <p:cNvPr id="18" name="Text 16"/>
          <p:cNvSpPr/>
          <p:nvPr/>
        </p:nvSpPr>
        <p:spPr>
          <a:xfrm>
            <a:off x="1143000" y="3145536"/>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    RubricQuestionOption</a:t>
            </a:r>
            <a:endParaRPr lang="en-US" sz="950" dirty="0"/>
          </a:p>
        </p:txBody>
      </p:sp>
      <p:sp>
        <p:nvSpPr>
          <p:cNvPr id="19" name="Text 17"/>
          <p:cNvSpPr/>
          <p:nvPr/>
        </p:nvSpPr>
        <p:spPr>
          <a:xfrm>
            <a:off x="2743200" y="3145536"/>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M opciones por pregunta. Campos: option_text, score (0–100), order</a:t>
            </a:r>
            <a:endParaRPr lang="en-US" sz="850" dirty="0"/>
          </a:p>
        </p:txBody>
      </p:sp>
      <p:sp>
        <p:nvSpPr>
          <p:cNvPr id="20" name="Shape 18"/>
          <p:cNvSpPr/>
          <p:nvPr/>
        </p:nvSpPr>
        <p:spPr>
          <a:xfrm>
            <a:off x="777240" y="3822192"/>
            <a:ext cx="5257800" cy="658368"/>
          </a:xfrm>
          <a:prstGeom prst="roundRect">
            <a:avLst>
              <a:gd name="adj" fmla="val 8333"/>
            </a:avLst>
          </a:prstGeom>
          <a:solidFill>
            <a:srgbClr val="F3F4F6"/>
          </a:solidFill>
          <a:ln/>
        </p:spPr>
      </p:sp>
      <p:sp>
        <p:nvSpPr>
          <p:cNvPr id="21" name="Shape 19"/>
          <p:cNvSpPr/>
          <p:nvPr/>
        </p:nvSpPr>
        <p:spPr>
          <a:xfrm>
            <a:off x="777240" y="3822192"/>
            <a:ext cx="2194560" cy="658368"/>
          </a:xfrm>
          <a:prstGeom prst="roundRect">
            <a:avLst>
              <a:gd name="adj" fmla="val 8333"/>
            </a:avLst>
          </a:prstGeom>
          <a:solidFill>
            <a:srgbClr val="059669"/>
          </a:solidFill>
          <a:ln/>
        </p:spPr>
      </p:sp>
      <p:sp>
        <p:nvSpPr>
          <p:cNvPr id="22" name="Text 20"/>
          <p:cNvSpPr/>
          <p:nvPr/>
        </p:nvSpPr>
        <p:spPr>
          <a:xfrm>
            <a:off x="822960" y="3895344"/>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  Evaluation</a:t>
            </a:r>
            <a:endParaRPr lang="en-US" sz="950" dirty="0"/>
          </a:p>
        </p:txBody>
      </p:sp>
      <p:sp>
        <p:nvSpPr>
          <p:cNvPr id="23" name="Text 21"/>
          <p:cNvSpPr/>
          <p:nvPr/>
        </p:nvSpPr>
        <p:spPr>
          <a:xfrm>
            <a:off x="2743200" y="3895344"/>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Un registro por evaluador asignado. Almacena las respuestas elegidas</a:t>
            </a:r>
            <a:endParaRPr lang="en-US" sz="850" dirty="0"/>
          </a:p>
        </p:txBody>
      </p:sp>
      <p:sp>
        <p:nvSpPr>
          <p:cNvPr id="24" name="Shape 22"/>
          <p:cNvSpPr/>
          <p:nvPr/>
        </p:nvSpPr>
        <p:spPr>
          <a:xfrm>
            <a:off x="1097280" y="4572000"/>
            <a:ext cx="4937760" cy="658368"/>
          </a:xfrm>
          <a:prstGeom prst="roundRect">
            <a:avLst>
              <a:gd name="adj" fmla="val 8333"/>
            </a:avLst>
          </a:prstGeom>
          <a:solidFill>
            <a:srgbClr val="F3F4F6"/>
          </a:solidFill>
          <a:ln/>
        </p:spPr>
      </p:sp>
      <p:sp>
        <p:nvSpPr>
          <p:cNvPr id="25" name="Shape 23"/>
          <p:cNvSpPr/>
          <p:nvPr/>
        </p:nvSpPr>
        <p:spPr>
          <a:xfrm>
            <a:off x="1097280" y="4572000"/>
            <a:ext cx="2194560" cy="658368"/>
          </a:xfrm>
          <a:prstGeom prst="roundRect">
            <a:avLst>
              <a:gd name="adj" fmla="val 8333"/>
            </a:avLst>
          </a:prstGeom>
          <a:solidFill>
            <a:srgbClr val="CA8A04"/>
          </a:solidFill>
          <a:ln/>
        </p:spPr>
      </p:sp>
      <p:sp>
        <p:nvSpPr>
          <p:cNvPr id="26" name="Text 24"/>
          <p:cNvSpPr/>
          <p:nvPr/>
        </p:nvSpPr>
        <p:spPr>
          <a:xfrm>
            <a:off x="1143000" y="4645152"/>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    answers (JSON)</a:t>
            </a:r>
            <a:endParaRPr lang="en-US" sz="950" dirty="0"/>
          </a:p>
        </p:txBody>
      </p:sp>
      <p:sp>
        <p:nvSpPr>
          <p:cNvPr id="27" name="Text 25"/>
          <p:cNvSpPr/>
          <p:nvPr/>
        </p:nvSpPr>
        <p:spPr>
          <a:xfrm>
            <a:off x="2743200" y="4645152"/>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 question_id: option_id, … } — snapshot de respuestas al enviar</a:t>
            </a:r>
            <a:endParaRPr lang="en-US" sz="850" dirty="0"/>
          </a:p>
        </p:txBody>
      </p:sp>
      <p:sp>
        <p:nvSpPr>
          <p:cNvPr id="28" name="Shape 26"/>
          <p:cNvSpPr/>
          <p:nvPr/>
        </p:nvSpPr>
        <p:spPr>
          <a:xfrm>
            <a:off x="1097280" y="5321808"/>
            <a:ext cx="4937760" cy="658368"/>
          </a:xfrm>
          <a:prstGeom prst="roundRect">
            <a:avLst>
              <a:gd name="adj" fmla="val 8333"/>
            </a:avLst>
          </a:prstGeom>
          <a:solidFill>
            <a:srgbClr val="F3F4F6"/>
          </a:solidFill>
          <a:ln/>
        </p:spPr>
      </p:sp>
      <p:sp>
        <p:nvSpPr>
          <p:cNvPr id="29" name="Shape 27"/>
          <p:cNvSpPr/>
          <p:nvPr/>
        </p:nvSpPr>
        <p:spPr>
          <a:xfrm>
            <a:off x="1097280" y="5321808"/>
            <a:ext cx="2194560" cy="658368"/>
          </a:xfrm>
          <a:prstGeom prst="roundRect">
            <a:avLst>
              <a:gd name="adj" fmla="val 8333"/>
            </a:avLst>
          </a:prstGeom>
          <a:solidFill>
            <a:srgbClr val="EA580C"/>
          </a:solidFill>
          <a:ln/>
        </p:spPr>
      </p:sp>
      <p:sp>
        <p:nvSpPr>
          <p:cNvPr id="30" name="Text 28"/>
          <p:cNvSpPr/>
          <p:nvPr/>
        </p:nvSpPr>
        <p:spPr>
          <a:xfrm>
            <a:off x="1143000" y="5394960"/>
            <a:ext cx="2103120" cy="502920"/>
          </a:xfrm>
          <a:prstGeom prst="rect">
            <a:avLst/>
          </a:prstGeom>
          <a:noFill/>
          <a:ln/>
        </p:spPr>
        <p:txBody>
          <a:bodyPr wrap="square" rtlCol="0" anchor="ctr"/>
          <a:lstStyle/>
          <a:p>
            <a:pPr indent="0" marL="0">
              <a:buNone/>
            </a:pPr>
            <a:r>
              <a:rPr lang="en-US" sz="950" b="1" dirty="0">
                <a:solidFill>
                  <a:srgbClr val="FFFFFF"/>
                </a:solidFill>
                <a:latin typeface="Calibri Mono" pitchFamily="34" charset="0"/>
                <a:ea typeface="Calibri Mono" pitchFamily="34" charset="-122"/>
                <a:cs typeface="Calibri Mono" pitchFamily="34" charset="-120"/>
              </a:rPr>
              <a:t>    score (float)</a:t>
            </a:r>
            <a:endParaRPr lang="en-US" sz="950" dirty="0"/>
          </a:p>
        </p:txBody>
      </p:sp>
      <p:sp>
        <p:nvSpPr>
          <p:cNvPr id="31" name="Text 29"/>
          <p:cNvSpPr/>
          <p:nvPr/>
        </p:nvSpPr>
        <p:spPr>
          <a:xfrm>
            <a:off x="2743200" y="5394960"/>
            <a:ext cx="3154680" cy="502920"/>
          </a:xfrm>
          <a:prstGeom prst="rect">
            <a:avLst/>
          </a:prstGeom>
          <a:noFill/>
          <a:ln/>
        </p:spPr>
        <p:txBody>
          <a:bodyPr wrap="square" rtlCol="0" anchor="ctr"/>
          <a:lstStyle/>
          <a:p>
            <a:pPr indent="0" marL="0">
              <a:buNone/>
            </a:pPr>
            <a:r>
              <a:rPr lang="en-US" sz="850" dirty="0">
                <a:solidFill>
                  <a:srgbClr val="1F2937"/>
                </a:solidFill>
                <a:latin typeface="Calibri" pitchFamily="34" charset="0"/>
                <a:ea typeface="Calibri" pitchFamily="34" charset="-122"/>
                <a:cs typeface="Calibri" pitchFamily="34" charset="-120"/>
              </a:rPr>
              <a:t>Calculado: suma ponderada de scores de las opciones elegidas</a:t>
            </a:r>
            <a:endParaRPr lang="en-US" sz="850" dirty="0"/>
          </a:p>
        </p:txBody>
      </p:sp>
      <p:sp>
        <p:nvSpPr>
          <p:cNvPr id="32" name="Shape 30"/>
          <p:cNvSpPr/>
          <p:nvPr/>
        </p:nvSpPr>
        <p:spPr>
          <a:xfrm>
            <a:off x="6400800" y="1005840"/>
            <a:ext cx="5577840" cy="5303520"/>
          </a:xfrm>
          <a:prstGeom prst="roundRect">
            <a:avLst>
              <a:gd name="adj" fmla="val 1724"/>
            </a:avLst>
          </a:prstGeom>
          <a:solidFill>
            <a:srgbClr val="FFFFFF"/>
          </a:solidFill>
          <a:ln/>
          <a:effectLst>
            <a:outerShdw sx="100000" sy="100000" kx="0" ky="0" algn="bl" rotWithShape="0" blurRad="50800" dist="25400" dir="16200000">
              <a:srgbClr val="000000">
                <a:alpha val="75000"/>
              </a:srgbClr>
            </a:outerShdw>
          </a:effectLst>
        </p:spPr>
      </p:sp>
      <p:sp>
        <p:nvSpPr>
          <p:cNvPr id="33" name="Text 31"/>
          <p:cNvSpPr/>
          <p:nvPr/>
        </p:nvSpPr>
        <p:spPr>
          <a:xfrm>
            <a:off x="6537960" y="1078992"/>
            <a:ext cx="5394960" cy="384048"/>
          </a:xfrm>
          <a:prstGeom prst="rect">
            <a:avLst/>
          </a:prstGeom>
          <a:noFill/>
          <a:ln/>
        </p:spPr>
        <p:txBody>
          <a:bodyPr wrap="square"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Proceso de Evaluación — Paso a Paso</a:t>
            </a:r>
            <a:endParaRPr lang="en-US" sz="1300" dirty="0"/>
          </a:p>
        </p:txBody>
      </p:sp>
      <p:sp>
        <p:nvSpPr>
          <p:cNvPr id="34" name="Shape 32"/>
          <p:cNvSpPr/>
          <p:nvPr/>
        </p:nvSpPr>
        <p:spPr>
          <a:xfrm>
            <a:off x="6492240" y="1645920"/>
            <a:ext cx="457200" cy="457200"/>
          </a:xfrm>
          <a:prstGeom prst="ellipse">
            <a:avLst/>
          </a:prstGeom>
          <a:solidFill>
            <a:srgbClr val="7C3AED"/>
          </a:solidFill>
          <a:ln/>
        </p:spPr>
      </p:sp>
      <p:sp>
        <p:nvSpPr>
          <p:cNvPr id="35" name="Text 33"/>
          <p:cNvSpPr/>
          <p:nvPr/>
        </p:nvSpPr>
        <p:spPr>
          <a:xfrm>
            <a:off x="6492240" y="164592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6" name="Shape 34"/>
          <p:cNvSpPr/>
          <p:nvPr/>
        </p:nvSpPr>
        <p:spPr>
          <a:xfrm>
            <a:off x="7040880" y="1572768"/>
            <a:ext cx="4800600" cy="566928"/>
          </a:xfrm>
          <a:prstGeom prst="roundRect">
            <a:avLst>
              <a:gd name="adj" fmla="val 9677"/>
            </a:avLst>
          </a:prstGeom>
          <a:solidFill>
            <a:srgbClr val="F3F4F6"/>
          </a:solidFill>
          <a:ln/>
        </p:spPr>
      </p:sp>
      <p:sp>
        <p:nvSpPr>
          <p:cNvPr id="37" name="Text 35"/>
          <p:cNvSpPr/>
          <p:nvPr/>
        </p:nvSpPr>
        <p:spPr>
          <a:xfrm>
            <a:off x="7132320" y="1609344"/>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Admin crea Evaluation → deadline = hoy + 7 días hábiles (Calendar.getBusinessDays())</a:t>
            </a:r>
            <a:endParaRPr lang="en-US" sz="950" dirty="0"/>
          </a:p>
        </p:txBody>
      </p:sp>
      <p:sp>
        <p:nvSpPr>
          <p:cNvPr id="38" name="Shape 36"/>
          <p:cNvSpPr/>
          <p:nvPr/>
        </p:nvSpPr>
        <p:spPr>
          <a:xfrm>
            <a:off x="6492240" y="2304288"/>
            <a:ext cx="457200" cy="457200"/>
          </a:xfrm>
          <a:prstGeom prst="ellipse">
            <a:avLst/>
          </a:prstGeom>
          <a:solidFill>
            <a:srgbClr val="7C3AED"/>
          </a:solidFill>
          <a:ln/>
        </p:spPr>
      </p:sp>
      <p:sp>
        <p:nvSpPr>
          <p:cNvPr id="39" name="Text 37"/>
          <p:cNvSpPr/>
          <p:nvPr/>
        </p:nvSpPr>
        <p:spPr>
          <a:xfrm>
            <a:off x="6492240" y="230428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0" name="Shape 38"/>
          <p:cNvSpPr/>
          <p:nvPr/>
        </p:nvSpPr>
        <p:spPr>
          <a:xfrm>
            <a:off x="7040880" y="2231136"/>
            <a:ext cx="4800600" cy="566928"/>
          </a:xfrm>
          <a:prstGeom prst="roundRect">
            <a:avLst>
              <a:gd name="adj" fmla="val 9677"/>
            </a:avLst>
          </a:prstGeom>
          <a:solidFill>
            <a:srgbClr val="F3F4F6"/>
          </a:solidFill>
          <a:ln/>
        </p:spPr>
      </p:sp>
      <p:sp>
        <p:nvSpPr>
          <p:cNvPr id="41" name="Text 39"/>
          <p:cNvSpPr/>
          <p:nvPr/>
        </p:nvSpPr>
        <p:spPr>
          <a:xfrm>
            <a:off x="7132320" y="2267712"/>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Email EvaluatorAssigned enviado con enlace directo a la evaluación</a:t>
            </a:r>
            <a:endParaRPr lang="en-US" sz="950" dirty="0"/>
          </a:p>
        </p:txBody>
      </p:sp>
      <p:sp>
        <p:nvSpPr>
          <p:cNvPr id="42" name="Shape 40"/>
          <p:cNvSpPr/>
          <p:nvPr/>
        </p:nvSpPr>
        <p:spPr>
          <a:xfrm>
            <a:off x="6492240" y="2962656"/>
            <a:ext cx="457200" cy="457200"/>
          </a:xfrm>
          <a:prstGeom prst="ellipse">
            <a:avLst/>
          </a:prstGeom>
          <a:solidFill>
            <a:srgbClr val="7C3AED"/>
          </a:solidFill>
          <a:ln/>
        </p:spPr>
      </p:sp>
      <p:sp>
        <p:nvSpPr>
          <p:cNvPr id="43" name="Text 41"/>
          <p:cNvSpPr/>
          <p:nvPr/>
        </p:nvSpPr>
        <p:spPr>
          <a:xfrm>
            <a:off x="6492240" y="296265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4" name="Shape 42"/>
          <p:cNvSpPr/>
          <p:nvPr/>
        </p:nvSpPr>
        <p:spPr>
          <a:xfrm>
            <a:off x="7040880" y="2889504"/>
            <a:ext cx="4800600" cy="566928"/>
          </a:xfrm>
          <a:prstGeom prst="roundRect">
            <a:avLst>
              <a:gd name="adj" fmla="val 9677"/>
            </a:avLst>
          </a:prstGeom>
          <a:solidFill>
            <a:srgbClr val="F3F4F6"/>
          </a:solidFill>
          <a:ln/>
        </p:spPr>
      </p:sp>
      <p:sp>
        <p:nvSpPr>
          <p:cNvPr id="45" name="Text 43"/>
          <p:cNvSpPr/>
          <p:nvPr/>
        </p:nvSpPr>
        <p:spPr>
          <a:xfrm>
            <a:off x="7132320" y="2926080"/>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Si quedan ≤2 días: cron evaluations:remind envía EvaluatorReminder automáticamente</a:t>
            </a:r>
            <a:endParaRPr lang="en-US" sz="950" dirty="0"/>
          </a:p>
        </p:txBody>
      </p:sp>
      <p:sp>
        <p:nvSpPr>
          <p:cNvPr id="46" name="Shape 44"/>
          <p:cNvSpPr/>
          <p:nvPr/>
        </p:nvSpPr>
        <p:spPr>
          <a:xfrm>
            <a:off x="6492240" y="3621024"/>
            <a:ext cx="457200" cy="457200"/>
          </a:xfrm>
          <a:prstGeom prst="ellipse">
            <a:avLst/>
          </a:prstGeom>
          <a:solidFill>
            <a:srgbClr val="7C3AED"/>
          </a:solidFill>
          <a:ln/>
        </p:spPr>
      </p:sp>
      <p:sp>
        <p:nvSpPr>
          <p:cNvPr id="47" name="Text 45"/>
          <p:cNvSpPr/>
          <p:nvPr/>
        </p:nvSpPr>
        <p:spPr>
          <a:xfrm>
            <a:off x="6492240" y="3621024"/>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8" name="Shape 46"/>
          <p:cNvSpPr/>
          <p:nvPr/>
        </p:nvSpPr>
        <p:spPr>
          <a:xfrm>
            <a:off x="7040880" y="3547872"/>
            <a:ext cx="4800600" cy="566928"/>
          </a:xfrm>
          <a:prstGeom prst="roundRect">
            <a:avLst>
              <a:gd name="adj" fmla="val 9677"/>
            </a:avLst>
          </a:prstGeom>
          <a:solidFill>
            <a:srgbClr val="F3F4F6"/>
          </a:solidFill>
          <a:ln/>
        </p:spPr>
      </p:sp>
      <p:sp>
        <p:nvSpPr>
          <p:cNvPr id="49" name="Text 47"/>
          <p:cNvSpPr/>
          <p:nvPr/>
        </p:nvSpPr>
        <p:spPr>
          <a:xfrm>
            <a:off x="7132320" y="3584448"/>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Si el plazo vence y status = 'pending': cron evaluations:expire → status = 'expired'</a:t>
            </a:r>
            <a:endParaRPr lang="en-US" sz="950" dirty="0"/>
          </a:p>
        </p:txBody>
      </p:sp>
      <p:sp>
        <p:nvSpPr>
          <p:cNvPr id="50" name="Shape 48"/>
          <p:cNvSpPr/>
          <p:nvPr/>
        </p:nvSpPr>
        <p:spPr>
          <a:xfrm>
            <a:off x="6492240" y="4279392"/>
            <a:ext cx="457200" cy="457200"/>
          </a:xfrm>
          <a:prstGeom prst="ellipse">
            <a:avLst/>
          </a:prstGeom>
          <a:solidFill>
            <a:srgbClr val="7C3AED"/>
          </a:solidFill>
          <a:ln/>
        </p:spPr>
      </p:sp>
      <p:sp>
        <p:nvSpPr>
          <p:cNvPr id="51" name="Text 49"/>
          <p:cNvSpPr/>
          <p:nvPr/>
        </p:nvSpPr>
        <p:spPr>
          <a:xfrm>
            <a:off x="6492240" y="4279392"/>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2" name="Shape 50"/>
          <p:cNvSpPr/>
          <p:nvPr/>
        </p:nvSpPr>
        <p:spPr>
          <a:xfrm>
            <a:off x="7040880" y="4206240"/>
            <a:ext cx="4800600" cy="566928"/>
          </a:xfrm>
          <a:prstGeom prst="roundRect">
            <a:avLst>
              <a:gd name="adj" fmla="val 9677"/>
            </a:avLst>
          </a:prstGeom>
          <a:solidFill>
            <a:srgbClr val="F3F4F6"/>
          </a:solidFill>
          <a:ln/>
        </p:spPr>
      </p:sp>
      <p:sp>
        <p:nvSpPr>
          <p:cNvPr id="53" name="Text 51"/>
          <p:cNvSpPr/>
          <p:nvPr/>
        </p:nvSpPr>
        <p:spPr>
          <a:xfrm>
            <a:off x="7132320" y="4242816"/>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Evaluador abre evaluación: lee documentos del docente, responde la rúbrica</a:t>
            </a:r>
            <a:endParaRPr lang="en-US" sz="950" dirty="0"/>
          </a:p>
        </p:txBody>
      </p:sp>
      <p:sp>
        <p:nvSpPr>
          <p:cNvPr id="54" name="Shape 52"/>
          <p:cNvSpPr/>
          <p:nvPr/>
        </p:nvSpPr>
        <p:spPr>
          <a:xfrm>
            <a:off x="6492240" y="4937760"/>
            <a:ext cx="457200" cy="457200"/>
          </a:xfrm>
          <a:prstGeom prst="ellipse">
            <a:avLst/>
          </a:prstGeom>
          <a:solidFill>
            <a:srgbClr val="7C3AED"/>
          </a:solidFill>
          <a:ln/>
        </p:spPr>
      </p:sp>
      <p:sp>
        <p:nvSpPr>
          <p:cNvPr id="55" name="Text 53"/>
          <p:cNvSpPr/>
          <p:nvPr/>
        </p:nvSpPr>
        <p:spPr>
          <a:xfrm>
            <a:off x="6492240" y="4937760"/>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56" name="Shape 54"/>
          <p:cNvSpPr/>
          <p:nvPr/>
        </p:nvSpPr>
        <p:spPr>
          <a:xfrm>
            <a:off x="7040880" y="4864608"/>
            <a:ext cx="4800600" cy="566928"/>
          </a:xfrm>
          <a:prstGeom prst="roundRect">
            <a:avLst>
              <a:gd name="adj" fmla="val 9677"/>
            </a:avLst>
          </a:prstGeom>
          <a:solidFill>
            <a:srgbClr val="F3F4F6"/>
          </a:solidFill>
          <a:ln/>
        </p:spPr>
      </p:sp>
      <p:sp>
        <p:nvSpPr>
          <p:cNvPr id="57" name="Text 55"/>
          <p:cNvSpPr/>
          <p:nvPr/>
        </p:nvSpPr>
        <p:spPr>
          <a:xfrm>
            <a:off x="7132320" y="4901184"/>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Al enviar: score calculado, answers guardado en JSON, status → approved/rejected</a:t>
            </a:r>
            <a:endParaRPr lang="en-US" sz="950" dirty="0"/>
          </a:p>
        </p:txBody>
      </p:sp>
      <p:sp>
        <p:nvSpPr>
          <p:cNvPr id="58" name="Shape 56"/>
          <p:cNvSpPr/>
          <p:nvPr/>
        </p:nvSpPr>
        <p:spPr>
          <a:xfrm>
            <a:off x="6492240" y="5596128"/>
            <a:ext cx="457200" cy="457200"/>
          </a:xfrm>
          <a:prstGeom prst="ellipse">
            <a:avLst/>
          </a:prstGeom>
          <a:solidFill>
            <a:srgbClr val="7C3AED"/>
          </a:solidFill>
          <a:ln/>
        </p:spPr>
      </p:sp>
      <p:sp>
        <p:nvSpPr>
          <p:cNvPr id="59" name="Text 57"/>
          <p:cNvSpPr/>
          <p:nvPr/>
        </p:nvSpPr>
        <p:spPr>
          <a:xfrm>
            <a:off x="6492240" y="5596128"/>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60" name="Shape 58"/>
          <p:cNvSpPr/>
          <p:nvPr/>
        </p:nvSpPr>
        <p:spPr>
          <a:xfrm>
            <a:off x="7040880" y="5522976"/>
            <a:ext cx="4800600" cy="566928"/>
          </a:xfrm>
          <a:prstGeom prst="roundRect">
            <a:avLst>
              <a:gd name="adj" fmla="val 9677"/>
            </a:avLst>
          </a:prstGeom>
          <a:solidFill>
            <a:srgbClr val="F3F4F6"/>
          </a:solidFill>
          <a:ln/>
        </p:spPr>
      </p:sp>
      <p:sp>
        <p:nvSpPr>
          <p:cNvPr id="61" name="Text 59"/>
          <p:cNvSpPr/>
          <p:nvPr/>
        </p:nvSpPr>
        <p:spPr>
          <a:xfrm>
            <a:off x="7132320" y="5559552"/>
            <a:ext cx="4617720" cy="50292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Admin ve el score y comentarios para tomar su veredicto final de aprobación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Servicios de Negocio — Lógica Encapsulada (10 Servicios)</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274320" y="1005840"/>
            <a:ext cx="3657600" cy="2395728"/>
          </a:xfrm>
          <a:prstGeom prst="roundRect">
            <a:avLst>
              <a:gd name="adj" fmla="val 3435"/>
            </a:avLst>
          </a:prstGeom>
          <a:solidFill>
            <a:srgbClr val="F3F4F6"/>
          </a:solidFill>
          <a:ln/>
          <a:effectLst>
            <a:outerShdw sx="100000" sy="100000" kx="0" ky="0" algn="bl" rotWithShape="0" blurRad="38100" dist="12700" dir="16200000">
              <a:srgbClr val="000000">
                <a:alpha val="75000"/>
              </a:srgbClr>
            </a:outerShdw>
          </a:effectLst>
        </p:spPr>
      </p:sp>
      <p:sp>
        <p:nvSpPr>
          <p:cNvPr id="7" name="Shape 5"/>
          <p:cNvSpPr/>
          <p:nvPr/>
        </p:nvSpPr>
        <p:spPr>
          <a:xfrm>
            <a:off x="274320" y="1005840"/>
            <a:ext cx="3657600" cy="402336"/>
          </a:xfrm>
          <a:prstGeom prst="roundRect">
            <a:avLst>
              <a:gd name="adj" fmla="val 20455"/>
            </a:avLst>
          </a:prstGeom>
          <a:solidFill>
            <a:srgbClr val="DC2626"/>
          </a:solidFill>
          <a:ln/>
        </p:spPr>
      </p:sp>
      <p:sp>
        <p:nvSpPr>
          <p:cNvPr id="8" name="Shape 6"/>
          <p:cNvSpPr/>
          <p:nvPr/>
        </p:nvSpPr>
        <p:spPr>
          <a:xfrm>
            <a:off x="274320" y="1207008"/>
            <a:ext cx="3657600" cy="219456"/>
          </a:xfrm>
          <a:prstGeom prst="rect">
            <a:avLst/>
          </a:prstGeom>
          <a:solidFill>
            <a:srgbClr val="DC2626"/>
          </a:solidFill>
          <a:ln/>
        </p:spPr>
      </p:sp>
      <p:sp>
        <p:nvSpPr>
          <p:cNvPr id="9" name="Text 7"/>
          <p:cNvSpPr/>
          <p:nvPr/>
        </p:nvSpPr>
        <p:spPr>
          <a:xfrm>
            <a:off x="347472" y="1042416"/>
            <a:ext cx="354787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PdfGeneration</a:t>
            </a:r>
            <a:endParaRPr lang="en-US" sz="950" dirty="0"/>
          </a:p>
        </p:txBody>
      </p:sp>
      <p:sp>
        <p:nvSpPr>
          <p:cNvPr id="10" name="Text 8"/>
          <p:cNvSpPr/>
          <p:nvPr/>
        </p:nvSpPr>
        <p:spPr>
          <a:xfrm>
            <a:off x="384048" y="1463040"/>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generateAcceptanceLetter(Application)</a:t>
            </a:r>
            <a:endParaRPr lang="en-US" sz="820" dirty="0"/>
          </a:p>
        </p:txBody>
      </p:sp>
      <p:sp>
        <p:nvSpPr>
          <p:cNvPr id="11" name="Text 9"/>
          <p:cNvSpPr/>
          <p:nvPr/>
        </p:nvSpPr>
        <p:spPr>
          <a:xfrm>
            <a:off x="384048" y="1810512"/>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generateTeacherRecognitionPdf(User)</a:t>
            </a:r>
            <a:endParaRPr lang="en-US" sz="820" dirty="0"/>
          </a:p>
        </p:txBody>
      </p:sp>
      <p:sp>
        <p:nvSpPr>
          <p:cNvPr id="12" name="Text 10"/>
          <p:cNvSpPr/>
          <p:nvPr/>
        </p:nvSpPr>
        <p:spPr>
          <a:xfrm>
            <a:off x="384048" y="2157984"/>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generateEvaluatorRecognitionPdf(User)</a:t>
            </a:r>
            <a:endParaRPr lang="en-US" sz="820" dirty="0"/>
          </a:p>
        </p:txBody>
      </p:sp>
      <p:sp>
        <p:nvSpPr>
          <p:cNvPr id="13" name="Text 11"/>
          <p:cNvSpPr/>
          <p:nvPr/>
        </p:nvSpPr>
        <p:spPr>
          <a:xfrm>
            <a:off x="384048" y="2505456"/>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addLegalSignaturePage(FPDI) — QR + sello</a:t>
            </a:r>
            <a:endParaRPr lang="en-US" sz="820" dirty="0"/>
          </a:p>
        </p:txBody>
      </p:sp>
      <p:sp>
        <p:nvSpPr>
          <p:cNvPr id="14" name="Text 12"/>
          <p:cNvSpPr/>
          <p:nvPr/>
        </p:nvSpPr>
        <p:spPr>
          <a:xfrm>
            <a:off x="384048" y="2852928"/>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Uses: FPDI, endroid/qr-code, SignatureService</a:t>
            </a:r>
            <a:endParaRPr lang="en-US" sz="820" dirty="0"/>
          </a:p>
        </p:txBody>
      </p:sp>
      <p:sp>
        <p:nvSpPr>
          <p:cNvPr id="15" name="Shape 13"/>
          <p:cNvSpPr/>
          <p:nvPr/>
        </p:nvSpPr>
        <p:spPr>
          <a:xfrm>
            <a:off x="4160520" y="1005840"/>
            <a:ext cx="3931920" cy="2395728"/>
          </a:xfrm>
          <a:prstGeom prst="roundRect">
            <a:avLst>
              <a:gd name="adj" fmla="val 3435"/>
            </a:avLst>
          </a:prstGeom>
          <a:solidFill>
            <a:srgbClr val="F3F4F6"/>
          </a:solidFill>
          <a:ln/>
          <a:effectLst>
            <a:outerShdw sx="100000" sy="100000" kx="0" ky="0" algn="bl" rotWithShape="0" blurRad="38100" dist="12700" dir="16200000">
              <a:srgbClr val="000000">
                <a:alpha val="75000"/>
              </a:srgbClr>
            </a:outerShdw>
          </a:effectLst>
        </p:spPr>
      </p:sp>
      <p:sp>
        <p:nvSpPr>
          <p:cNvPr id="16" name="Shape 14"/>
          <p:cNvSpPr/>
          <p:nvPr/>
        </p:nvSpPr>
        <p:spPr>
          <a:xfrm>
            <a:off x="4160520" y="1005840"/>
            <a:ext cx="3931920" cy="402336"/>
          </a:xfrm>
          <a:prstGeom prst="roundRect">
            <a:avLst>
              <a:gd name="adj" fmla="val 20455"/>
            </a:avLst>
          </a:prstGeom>
          <a:solidFill>
            <a:srgbClr val="0D9488"/>
          </a:solidFill>
          <a:ln/>
        </p:spPr>
      </p:sp>
      <p:sp>
        <p:nvSpPr>
          <p:cNvPr id="17" name="Shape 15"/>
          <p:cNvSpPr/>
          <p:nvPr/>
        </p:nvSpPr>
        <p:spPr>
          <a:xfrm>
            <a:off x="4160520" y="1207008"/>
            <a:ext cx="3931920" cy="219456"/>
          </a:xfrm>
          <a:prstGeom prst="rect">
            <a:avLst/>
          </a:prstGeom>
          <a:solidFill>
            <a:srgbClr val="0D9488"/>
          </a:solidFill>
          <a:ln/>
        </p:spPr>
      </p:sp>
      <p:sp>
        <p:nvSpPr>
          <p:cNvPr id="18" name="Text 16"/>
          <p:cNvSpPr/>
          <p:nvPr/>
        </p:nvSpPr>
        <p:spPr>
          <a:xfrm>
            <a:off x="4233672" y="1042416"/>
            <a:ext cx="382219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Notification</a:t>
            </a:r>
            <a:endParaRPr lang="en-US" sz="950" dirty="0"/>
          </a:p>
        </p:txBody>
      </p:sp>
      <p:sp>
        <p:nvSpPr>
          <p:cNvPr id="19" name="Text 17"/>
          <p:cNvSpPr/>
          <p:nvPr/>
        </p:nvSpPr>
        <p:spPr>
          <a:xfrm>
            <a:off x="4270248" y="1463040"/>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notifyEvaluatorAssignment(Evaluation)</a:t>
            </a:r>
            <a:endParaRPr lang="en-US" sz="820" dirty="0"/>
          </a:p>
        </p:txBody>
      </p:sp>
      <p:sp>
        <p:nvSpPr>
          <p:cNvPr id="20" name="Text 18"/>
          <p:cNvSpPr/>
          <p:nvPr/>
        </p:nvSpPr>
        <p:spPr>
          <a:xfrm>
            <a:off x="4270248" y="1810512"/>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notifyApplicationVerdict(Application)</a:t>
            </a:r>
            <a:endParaRPr lang="en-US" sz="820" dirty="0"/>
          </a:p>
        </p:txBody>
      </p:sp>
      <p:sp>
        <p:nvSpPr>
          <p:cNvPr id="21" name="Text 19"/>
          <p:cNvSpPr/>
          <p:nvPr/>
        </p:nvSpPr>
        <p:spPr>
          <a:xfrm>
            <a:off x="4270248" y="2157984"/>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notifyAnnouncementStageChange(Announcement)</a:t>
            </a:r>
            <a:endParaRPr lang="en-US" sz="820" dirty="0"/>
          </a:p>
        </p:txBody>
      </p:sp>
      <p:sp>
        <p:nvSpPr>
          <p:cNvPr id="22" name="Text 20"/>
          <p:cNvSpPr/>
          <p:nvPr/>
        </p:nvSpPr>
        <p:spPr>
          <a:xfrm>
            <a:off x="4270248" y="2505456"/>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notifyRecognitionAvailable(Recognition)</a:t>
            </a:r>
            <a:endParaRPr lang="en-US" sz="820" dirty="0"/>
          </a:p>
        </p:txBody>
      </p:sp>
      <p:sp>
        <p:nvSpPr>
          <p:cNvPr id="23" name="Text 21"/>
          <p:cNvSpPr/>
          <p:nvPr/>
        </p:nvSpPr>
        <p:spPr>
          <a:xfrm>
            <a:off x="4270248" y="2852928"/>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notifyEvaluatorReminder(Evaluation)</a:t>
            </a:r>
            <a:endParaRPr lang="en-US" sz="820" dirty="0"/>
          </a:p>
        </p:txBody>
      </p:sp>
      <p:sp>
        <p:nvSpPr>
          <p:cNvPr id="24" name="Shape 22"/>
          <p:cNvSpPr/>
          <p:nvPr/>
        </p:nvSpPr>
        <p:spPr>
          <a:xfrm>
            <a:off x="8275320" y="1005840"/>
            <a:ext cx="3657600" cy="2029968"/>
          </a:xfrm>
          <a:prstGeom prst="roundRect">
            <a:avLst>
              <a:gd name="adj" fmla="val 4054"/>
            </a:avLst>
          </a:prstGeom>
          <a:solidFill>
            <a:srgbClr val="F3F4F6"/>
          </a:solidFill>
          <a:ln/>
          <a:effectLst>
            <a:outerShdw sx="100000" sy="100000" kx="0" ky="0" algn="bl" rotWithShape="0" blurRad="38100" dist="12700" dir="16200000">
              <a:srgbClr val="000000">
                <a:alpha val="75000"/>
              </a:srgbClr>
            </a:outerShdw>
          </a:effectLst>
        </p:spPr>
      </p:sp>
      <p:sp>
        <p:nvSpPr>
          <p:cNvPr id="25" name="Shape 23"/>
          <p:cNvSpPr/>
          <p:nvPr/>
        </p:nvSpPr>
        <p:spPr>
          <a:xfrm>
            <a:off x="8275320" y="1005840"/>
            <a:ext cx="3657600" cy="402336"/>
          </a:xfrm>
          <a:prstGeom prst="roundRect">
            <a:avLst>
              <a:gd name="adj" fmla="val 20455"/>
            </a:avLst>
          </a:prstGeom>
          <a:solidFill>
            <a:srgbClr val="2563EB"/>
          </a:solidFill>
          <a:ln/>
        </p:spPr>
      </p:sp>
      <p:sp>
        <p:nvSpPr>
          <p:cNvPr id="26" name="Shape 24"/>
          <p:cNvSpPr/>
          <p:nvPr/>
        </p:nvSpPr>
        <p:spPr>
          <a:xfrm>
            <a:off x="8275320" y="1207008"/>
            <a:ext cx="3657600" cy="219456"/>
          </a:xfrm>
          <a:prstGeom prst="rect">
            <a:avLst/>
          </a:prstGeom>
          <a:solidFill>
            <a:srgbClr val="2563EB"/>
          </a:solidFill>
          <a:ln/>
        </p:spPr>
      </p:sp>
      <p:sp>
        <p:nvSpPr>
          <p:cNvPr id="27" name="Text 25"/>
          <p:cNvSpPr/>
          <p:nvPr/>
        </p:nvSpPr>
        <p:spPr>
          <a:xfrm>
            <a:off x="8348472" y="1042416"/>
            <a:ext cx="354787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Application</a:t>
            </a:r>
            <a:endParaRPr lang="en-US" sz="950" dirty="0"/>
          </a:p>
        </p:txBody>
      </p:sp>
      <p:sp>
        <p:nvSpPr>
          <p:cNvPr id="28" name="Text 26"/>
          <p:cNvSpPr/>
          <p:nvPr/>
        </p:nvSpPr>
        <p:spPr>
          <a:xfrm>
            <a:off x="8385048" y="1463040"/>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checkApplicationEligibility(User, Announcement)</a:t>
            </a:r>
            <a:endParaRPr lang="en-US" sz="820" dirty="0"/>
          </a:p>
        </p:txBody>
      </p:sp>
      <p:sp>
        <p:nvSpPr>
          <p:cNvPr id="29" name="Text 27"/>
          <p:cNvSpPr/>
          <p:nvPr/>
        </p:nvSpPr>
        <p:spPr>
          <a:xfrm>
            <a:off x="8385048" y="1810512"/>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createApplication(array $data)</a:t>
            </a:r>
            <a:endParaRPr lang="en-US" sz="820" dirty="0"/>
          </a:p>
        </p:txBody>
      </p:sp>
      <p:sp>
        <p:nvSpPr>
          <p:cNvPr id="30" name="Text 28"/>
          <p:cNvSpPr/>
          <p:nvPr/>
        </p:nvSpPr>
        <p:spPr>
          <a:xfrm>
            <a:off x="8385048" y="2157984"/>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updateApplicationStatus(Application, string $status)</a:t>
            </a:r>
            <a:endParaRPr lang="en-US" sz="820" dirty="0"/>
          </a:p>
        </p:txBody>
      </p:sp>
      <p:sp>
        <p:nvSpPr>
          <p:cNvPr id="31" name="Text 29"/>
          <p:cNvSpPr/>
          <p:nvPr/>
        </p:nvSpPr>
        <p:spPr>
          <a:xfrm>
            <a:off x="8385048" y="2505456"/>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getApplicantDocuments(Application)</a:t>
            </a:r>
            <a:endParaRPr lang="en-US" sz="820" dirty="0"/>
          </a:p>
        </p:txBody>
      </p:sp>
      <p:sp>
        <p:nvSpPr>
          <p:cNvPr id="32" name="Shape 30"/>
          <p:cNvSpPr/>
          <p:nvPr/>
        </p:nvSpPr>
        <p:spPr>
          <a:xfrm>
            <a:off x="274320" y="3840480"/>
            <a:ext cx="3657600" cy="2395728"/>
          </a:xfrm>
          <a:prstGeom prst="roundRect">
            <a:avLst>
              <a:gd name="adj" fmla="val 3435"/>
            </a:avLst>
          </a:prstGeom>
          <a:solidFill>
            <a:srgbClr val="F3F4F6"/>
          </a:solidFill>
          <a:ln/>
          <a:effectLst>
            <a:outerShdw sx="100000" sy="100000" kx="0" ky="0" algn="bl" rotWithShape="0" blurRad="38100" dist="12700" dir="16200000">
              <a:srgbClr val="000000">
                <a:alpha val="75000"/>
              </a:srgbClr>
            </a:outerShdw>
          </a:effectLst>
        </p:spPr>
      </p:sp>
      <p:sp>
        <p:nvSpPr>
          <p:cNvPr id="33" name="Shape 31"/>
          <p:cNvSpPr/>
          <p:nvPr/>
        </p:nvSpPr>
        <p:spPr>
          <a:xfrm>
            <a:off x="274320" y="3840480"/>
            <a:ext cx="3657600" cy="402336"/>
          </a:xfrm>
          <a:prstGeom prst="roundRect">
            <a:avLst>
              <a:gd name="adj" fmla="val 20455"/>
            </a:avLst>
          </a:prstGeom>
          <a:solidFill>
            <a:srgbClr val="7C3AED"/>
          </a:solidFill>
          <a:ln/>
        </p:spPr>
      </p:sp>
      <p:sp>
        <p:nvSpPr>
          <p:cNvPr id="34" name="Shape 32"/>
          <p:cNvSpPr/>
          <p:nvPr/>
        </p:nvSpPr>
        <p:spPr>
          <a:xfrm>
            <a:off x="274320" y="4041648"/>
            <a:ext cx="3657600" cy="219456"/>
          </a:xfrm>
          <a:prstGeom prst="rect">
            <a:avLst/>
          </a:prstGeom>
          <a:solidFill>
            <a:srgbClr val="7C3AED"/>
          </a:solidFill>
          <a:ln/>
        </p:spPr>
      </p:sp>
      <p:sp>
        <p:nvSpPr>
          <p:cNvPr id="35" name="Text 33"/>
          <p:cNvSpPr/>
          <p:nvPr/>
        </p:nvSpPr>
        <p:spPr>
          <a:xfrm>
            <a:off x="347472" y="3877056"/>
            <a:ext cx="354787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Announcement</a:t>
            </a:r>
            <a:endParaRPr lang="en-US" sz="950" dirty="0"/>
          </a:p>
        </p:txBody>
      </p:sp>
      <p:sp>
        <p:nvSpPr>
          <p:cNvPr id="36" name="Text 34"/>
          <p:cNvSpPr/>
          <p:nvPr/>
        </p:nvSpPr>
        <p:spPr>
          <a:xfrm>
            <a:off x="384048" y="4297680"/>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createAnnouncement(array $data)</a:t>
            </a:r>
            <a:endParaRPr lang="en-US" sz="820" dirty="0"/>
          </a:p>
        </p:txBody>
      </p:sp>
      <p:sp>
        <p:nvSpPr>
          <p:cNvPr id="37" name="Text 35"/>
          <p:cNvSpPr/>
          <p:nvPr/>
        </p:nvSpPr>
        <p:spPr>
          <a:xfrm>
            <a:off x="384048" y="4645152"/>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updateAnnouncement(Announcement, array)</a:t>
            </a:r>
            <a:endParaRPr lang="en-US" sz="820" dirty="0"/>
          </a:p>
        </p:txBody>
      </p:sp>
      <p:sp>
        <p:nvSpPr>
          <p:cNvPr id="38" name="Text 36"/>
          <p:cNvSpPr/>
          <p:nvPr/>
        </p:nvSpPr>
        <p:spPr>
          <a:xfrm>
            <a:off x="384048" y="4992624"/>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syncDocuments(Announcement, array)</a:t>
            </a:r>
            <a:endParaRPr lang="en-US" sz="820" dirty="0"/>
          </a:p>
        </p:txBody>
      </p:sp>
      <p:sp>
        <p:nvSpPr>
          <p:cNvPr id="39" name="Text 37"/>
          <p:cNvSpPr/>
          <p:nvPr/>
        </p:nvSpPr>
        <p:spPr>
          <a:xfrm>
            <a:off x="384048" y="5340096"/>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getActiveAnnouncement(): Announcement|null</a:t>
            </a:r>
            <a:endParaRPr lang="en-US" sz="820" dirty="0"/>
          </a:p>
        </p:txBody>
      </p:sp>
      <p:sp>
        <p:nvSpPr>
          <p:cNvPr id="40" name="Text 38"/>
          <p:cNvSpPr/>
          <p:nvPr/>
        </p:nvSpPr>
        <p:spPr>
          <a:xfrm>
            <a:off x="384048" y="5687568"/>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closeAnnouncement(Announcement)</a:t>
            </a:r>
            <a:endParaRPr lang="en-US" sz="820" dirty="0"/>
          </a:p>
        </p:txBody>
      </p:sp>
      <p:sp>
        <p:nvSpPr>
          <p:cNvPr id="41" name="Shape 39"/>
          <p:cNvSpPr/>
          <p:nvPr/>
        </p:nvSpPr>
        <p:spPr>
          <a:xfrm>
            <a:off x="4160520" y="3840480"/>
            <a:ext cx="3931920" cy="2029968"/>
          </a:xfrm>
          <a:prstGeom prst="roundRect">
            <a:avLst>
              <a:gd name="adj" fmla="val 4054"/>
            </a:avLst>
          </a:prstGeom>
          <a:solidFill>
            <a:srgbClr val="F3F4F6"/>
          </a:solidFill>
          <a:ln/>
          <a:effectLst>
            <a:outerShdw sx="100000" sy="100000" kx="0" ky="0" algn="bl" rotWithShape="0" blurRad="38100" dist="12700" dir="16200000">
              <a:srgbClr val="000000">
                <a:alpha val="75000"/>
              </a:srgbClr>
            </a:outerShdw>
          </a:effectLst>
        </p:spPr>
      </p:sp>
      <p:sp>
        <p:nvSpPr>
          <p:cNvPr id="42" name="Shape 40"/>
          <p:cNvSpPr/>
          <p:nvPr/>
        </p:nvSpPr>
        <p:spPr>
          <a:xfrm>
            <a:off x="4160520" y="3840480"/>
            <a:ext cx="3931920" cy="402336"/>
          </a:xfrm>
          <a:prstGeom prst="roundRect">
            <a:avLst>
              <a:gd name="adj" fmla="val 20455"/>
            </a:avLst>
          </a:prstGeom>
          <a:solidFill>
            <a:srgbClr val="EA580C"/>
          </a:solidFill>
          <a:ln/>
        </p:spPr>
      </p:sp>
      <p:sp>
        <p:nvSpPr>
          <p:cNvPr id="43" name="Shape 41"/>
          <p:cNvSpPr/>
          <p:nvPr/>
        </p:nvSpPr>
        <p:spPr>
          <a:xfrm>
            <a:off x="4160520" y="4041648"/>
            <a:ext cx="3931920" cy="219456"/>
          </a:xfrm>
          <a:prstGeom prst="rect">
            <a:avLst/>
          </a:prstGeom>
          <a:solidFill>
            <a:srgbClr val="EA580C"/>
          </a:solidFill>
          <a:ln/>
        </p:spPr>
      </p:sp>
      <p:sp>
        <p:nvSpPr>
          <p:cNvPr id="44" name="Text 42"/>
          <p:cNvSpPr/>
          <p:nvPr/>
        </p:nvSpPr>
        <p:spPr>
          <a:xfrm>
            <a:off x="4233672" y="3877056"/>
            <a:ext cx="382219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Assignment</a:t>
            </a:r>
            <a:endParaRPr lang="en-US" sz="950" dirty="0"/>
          </a:p>
        </p:txBody>
      </p:sp>
      <p:sp>
        <p:nvSpPr>
          <p:cNvPr id="45" name="Text 43"/>
          <p:cNvSpPr/>
          <p:nvPr/>
        </p:nvSpPr>
        <p:spPr>
          <a:xfrm>
            <a:off x="4270248" y="4297680"/>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assignEvaluators(Application, array $ids)</a:t>
            </a:r>
            <a:endParaRPr lang="en-US" sz="820" dirty="0"/>
          </a:p>
        </p:txBody>
      </p:sp>
      <p:sp>
        <p:nvSpPr>
          <p:cNvPr id="46" name="Text 44"/>
          <p:cNvSpPr/>
          <p:nvPr/>
        </p:nvSpPr>
        <p:spPr>
          <a:xfrm>
            <a:off x="4270248" y="4645152"/>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removeEvaluator(Evaluation)</a:t>
            </a:r>
            <a:endParaRPr lang="en-US" sz="820" dirty="0"/>
          </a:p>
        </p:txBody>
      </p:sp>
      <p:sp>
        <p:nvSpPr>
          <p:cNvPr id="47" name="Text 45"/>
          <p:cNvSpPr/>
          <p:nvPr/>
        </p:nvSpPr>
        <p:spPr>
          <a:xfrm>
            <a:off x="4270248" y="4992624"/>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getAvailableEvaluators(): Collection</a:t>
            </a:r>
            <a:endParaRPr lang="en-US" sz="820" dirty="0"/>
          </a:p>
        </p:txBody>
      </p:sp>
      <p:sp>
        <p:nvSpPr>
          <p:cNvPr id="48" name="Text 46"/>
          <p:cNvSpPr/>
          <p:nvPr/>
        </p:nvSpPr>
        <p:spPr>
          <a:xfrm>
            <a:off x="4270248" y="5340096"/>
            <a:ext cx="374904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calculateDeadline(): Carbon (7 días hábiles)</a:t>
            </a:r>
            <a:endParaRPr lang="en-US" sz="820" dirty="0"/>
          </a:p>
        </p:txBody>
      </p:sp>
      <p:sp>
        <p:nvSpPr>
          <p:cNvPr id="49" name="Shape 47"/>
          <p:cNvSpPr/>
          <p:nvPr/>
        </p:nvSpPr>
        <p:spPr>
          <a:xfrm>
            <a:off x="8275320" y="3840480"/>
            <a:ext cx="3657600" cy="1664208"/>
          </a:xfrm>
          <a:prstGeom prst="roundRect">
            <a:avLst>
              <a:gd name="adj" fmla="val 4945"/>
            </a:avLst>
          </a:prstGeom>
          <a:solidFill>
            <a:srgbClr val="F3F4F6"/>
          </a:solidFill>
          <a:ln/>
          <a:effectLst>
            <a:outerShdw sx="100000" sy="100000" kx="0" ky="0" algn="bl" rotWithShape="0" blurRad="38100" dist="12700" dir="16200000">
              <a:srgbClr val="000000">
                <a:alpha val="75000"/>
              </a:srgbClr>
            </a:outerShdw>
          </a:effectLst>
        </p:spPr>
      </p:sp>
      <p:sp>
        <p:nvSpPr>
          <p:cNvPr id="50" name="Shape 48"/>
          <p:cNvSpPr/>
          <p:nvPr/>
        </p:nvSpPr>
        <p:spPr>
          <a:xfrm>
            <a:off x="8275320" y="3840480"/>
            <a:ext cx="3657600" cy="402336"/>
          </a:xfrm>
          <a:prstGeom prst="roundRect">
            <a:avLst>
              <a:gd name="adj" fmla="val 20455"/>
            </a:avLst>
          </a:prstGeom>
          <a:solidFill>
            <a:srgbClr val="059669"/>
          </a:solidFill>
          <a:ln/>
        </p:spPr>
      </p:sp>
      <p:sp>
        <p:nvSpPr>
          <p:cNvPr id="51" name="Shape 49"/>
          <p:cNvSpPr/>
          <p:nvPr/>
        </p:nvSpPr>
        <p:spPr>
          <a:xfrm>
            <a:off x="8275320" y="4041648"/>
            <a:ext cx="3657600" cy="219456"/>
          </a:xfrm>
          <a:prstGeom prst="rect">
            <a:avLst/>
          </a:prstGeom>
          <a:solidFill>
            <a:srgbClr val="059669"/>
          </a:solidFill>
          <a:ln/>
        </p:spPr>
      </p:sp>
      <p:sp>
        <p:nvSpPr>
          <p:cNvPr id="52" name="Text 50"/>
          <p:cNvSpPr/>
          <p:nvPr/>
        </p:nvSpPr>
        <p:spPr>
          <a:xfrm>
            <a:off x="8348472" y="3877056"/>
            <a:ext cx="354787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Signature</a:t>
            </a:r>
            <a:endParaRPr lang="en-US" sz="950" dirty="0"/>
          </a:p>
        </p:txBody>
      </p:sp>
      <p:sp>
        <p:nvSpPr>
          <p:cNvPr id="53" name="Text 51"/>
          <p:cNvSpPr/>
          <p:nvPr/>
        </p:nvSpPr>
        <p:spPr>
          <a:xfrm>
            <a:off x="8385048" y="4297680"/>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generateDigitalSeal(string $content): string</a:t>
            </a:r>
            <a:endParaRPr lang="en-US" sz="820" dirty="0"/>
          </a:p>
        </p:txBody>
      </p:sp>
      <p:sp>
        <p:nvSpPr>
          <p:cNvPr id="54" name="Text 52"/>
          <p:cNvSpPr/>
          <p:nvPr/>
        </p:nvSpPr>
        <p:spPr>
          <a:xfrm>
            <a:off x="8385048" y="4645152"/>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verifyDocument(string $identifier): bool</a:t>
            </a:r>
            <a:endParaRPr lang="en-US" sz="820" dirty="0"/>
          </a:p>
        </p:txBody>
      </p:sp>
      <p:sp>
        <p:nvSpPr>
          <p:cNvPr id="55" name="Text 53"/>
          <p:cNvSpPr/>
          <p:nvPr/>
        </p:nvSpPr>
        <p:spPr>
          <a:xfrm>
            <a:off x="8385048" y="4992624"/>
            <a:ext cx="347472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El sello es un hash del contenido del PDF generado con datos únicos</a:t>
            </a:r>
            <a:endParaRPr lang="en-US" sz="820" dirty="0"/>
          </a:p>
        </p:txBody>
      </p:sp>
      <p:sp>
        <p:nvSpPr>
          <p:cNvPr id="56" name="Shape 54"/>
          <p:cNvSpPr/>
          <p:nvPr/>
        </p:nvSpPr>
        <p:spPr>
          <a:xfrm>
            <a:off x="274320" y="5852160"/>
            <a:ext cx="2834640" cy="1664208"/>
          </a:xfrm>
          <a:prstGeom prst="roundRect">
            <a:avLst>
              <a:gd name="adj" fmla="val 4945"/>
            </a:avLst>
          </a:prstGeom>
          <a:solidFill>
            <a:srgbClr val="F3F4F6"/>
          </a:solidFill>
          <a:ln/>
          <a:effectLst>
            <a:outerShdw sx="100000" sy="100000" kx="0" ky="0" algn="bl" rotWithShape="0" blurRad="38100" dist="12700" dir="16200000">
              <a:srgbClr val="000000">
                <a:alpha val="75000"/>
              </a:srgbClr>
            </a:outerShdw>
          </a:effectLst>
        </p:spPr>
      </p:sp>
      <p:sp>
        <p:nvSpPr>
          <p:cNvPr id="57" name="Shape 55"/>
          <p:cNvSpPr/>
          <p:nvPr/>
        </p:nvSpPr>
        <p:spPr>
          <a:xfrm>
            <a:off x="274320" y="5852160"/>
            <a:ext cx="2834640" cy="402336"/>
          </a:xfrm>
          <a:prstGeom prst="roundRect">
            <a:avLst>
              <a:gd name="adj" fmla="val 20455"/>
            </a:avLst>
          </a:prstGeom>
          <a:solidFill>
            <a:srgbClr val="475569"/>
          </a:solidFill>
          <a:ln/>
        </p:spPr>
      </p:sp>
      <p:sp>
        <p:nvSpPr>
          <p:cNvPr id="58" name="Shape 56"/>
          <p:cNvSpPr/>
          <p:nvPr/>
        </p:nvSpPr>
        <p:spPr>
          <a:xfrm>
            <a:off x="274320" y="6053328"/>
            <a:ext cx="2834640" cy="219456"/>
          </a:xfrm>
          <a:prstGeom prst="rect">
            <a:avLst/>
          </a:prstGeom>
          <a:solidFill>
            <a:srgbClr val="475569"/>
          </a:solidFill>
          <a:ln/>
        </p:spPr>
      </p:sp>
      <p:sp>
        <p:nvSpPr>
          <p:cNvPr id="59" name="Text 57"/>
          <p:cNvSpPr/>
          <p:nvPr/>
        </p:nvSpPr>
        <p:spPr>
          <a:xfrm>
            <a:off x="347472" y="5888736"/>
            <a:ext cx="272491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p>
        </p:txBody>
      </p:sp>
      <p:sp>
        <p:nvSpPr>
          <p:cNvPr id="60" name="Text 58"/>
          <p:cNvSpPr/>
          <p:nvPr/>
        </p:nvSpPr>
        <p:spPr>
          <a:xfrm>
            <a:off x="384048" y="6309360"/>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upload(UploadedFile, path)</a:t>
            </a:r>
            <a:endParaRPr lang="en-US" sz="820" dirty="0"/>
          </a:p>
        </p:txBody>
      </p:sp>
      <p:sp>
        <p:nvSpPr>
          <p:cNvPr id="61" name="Text 59"/>
          <p:cNvSpPr/>
          <p:nvPr/>
        </p:nvSpPr>
        <p:spPr>
          <a:xfrm>
            <a:off x="384048" y="6656832"/>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download(path): Response</a:t>
            </a:r>
            <a:endParaRPr lang="en-US" sz="820" dirty="0"/>
          </a:p>
        </p:txBody>
      </p:sp>
      <p:sp>
        <p:nvSpPr>
          <p:cNvPr id="62" name="Text 60"/>
          <p:cNvSpPr/>
          <p:nvPr/>
        </p:nvSpPr>
        <p:spPr>
          <a:xfrm>
            <a:off x="384048" y="7004304"/>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stream(path): StreamResponse</a:t>
            </a:r>
            <a:endParaRPr lang="en-US" sz="820" dirty="0"/>
          </a:p>
        </p:txBody>
      </p:sp>
      <p:sp>
        <p:nvSpPr>
          <p:cNvPr id="63" name="Shape 61"/>
          <p:cNvSpPr/>
          <p:nvPr/>
        </p:nvSpPr>
        <p:spPr>
          <a:xfrm>
            <a:off x="3291840" y="5852160"/>
            <a:ext cx="2834640" cy="1664208"/>
          </a:xfrm>
          <a:prstGeom prst="roundRect">
            <a:avLst>
              <a:gd name="adj" fmla="val 4945"/>
            </a:avLst>
          </a:prstGeom>
          <a:solidFill>
            <a:srgbClr val="F3F4F6"/>
          </a:solidFill>
          <a:ln/>
          <a:effectLst>
            <a:outerShdw sx="100000" sy="100000" kx="0" ky="0" algn="bl" rotWithShape="0" blurRad="38100" dist="12700" dir="16200000">
              <a:srgbClr val="000000">
                <a:alpha val="75000"/>
              </a:srgbClr>
            </a:outerShdw>
          </a:effectLst>
        </p:spPr>
      </p:sp>
      <p:sp>
        <p:nvSpPr>
          <p:cNvPr id="64" name="Shape 62"/>
          <p:cNvSpPr/>
          <p:nvPr/>
        </p:nvSpPr>
        <p:spPr>
          <a:xfrm>
            <a:off x="3291840" y="5852160"/>
            <a:ext cx="2834640" cy="402336"/>
          </a:xfrm>
          <a:prstGeom prst="roundRect">
            <a:avLst>
              <a:gd name="adj" fmla="val 20455"/>
            </a:avLst>
          </a:prstGeom>
          <a:solidFill>
            <a:srgbClr val="CA8A04"/>
          </a:solidFill>
          <a:ln/>
        </p:spPr>
      </p:sp>
      <p:sp>
        <p:nvSpPr>
          <p:cNvPr id="65" name="Shape 63"/>
          <p:cNvSpPr/>
          <p:nvPr/>
        </p:nvSpPr>
        <p:spPr>
          <a:xfrm>
            <a:off x="3291840" y="6053328"/>
            <a:ext cx="2834640" cy="219456"/>
          </a:xfrm>
          <a:prstGeom prst="rect">
            <a:avLst/>
          </a:prstGeom>
          <a:solidFill>
            <a:srgbClr val="CA8A04"/>
          </a:solidFill>
          <a:ln/>
        </p:spPr>
      </p:sp>
      <p:sp>
        <p:nvSpPr>
          <p:cNvPr id="66" name="Text 64"/>
          <p:cNvSpPr/>
          <p:nvPr/>
        </p:nvSpPr>
        <p:spPr>
          <a:xfrm>
            <a:off x="3364992" y="5888736"/>
            <a:ext cx="272491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Curp</a:t>
            </a:r>
            <a:endParaRPr lang="en-US" sz="950" dirty="0"/>
          </a:p>
        </p:txBody>
      </p:sp>
      <p:sp>
        <p:nvSpPr>
          <p:cNvPr id="67" name="Text 65"/>
          <p:cNvSpPr/>
          <p:nvPr/>
        </p:nvSpPr>
        <p:spPr>
          <a:xfrm>
            <a:off x="3401568" y="6309360"/>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buscarPorCurp(string): array</a:t>
            </a:r>
            <a:endParaRPr lang="en-US" sz="820" dirty="0"/>
          </a:p>
        </p:txBody>
      </p:sp>
      <p:sp>
        <p:nvSpPr>
          <p:cNvPr id="68" name="Text 66"/>
          <p:cNvSpPr/>
          <p:nvPr/>
        </p:nvSpPr>
        <p:spPr>
          <a:xfrm>
            <a:off x="3401568" y="6656832"/>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Consume API RENAPO vía HTTP</a:t>
            </a:r>
            <a:endParaRPr lang="en-US" sz="820" dirty="0"/>
          </a:p>
        </p:txBody>
      </p:sp>
      <p:sp>
        <p:nvSpPr>
          <p:cNvPr id="69" name="Text 67"/>
          <p:cNvSpPr/>
          <p:nvPr/>
        </p:nvSpPr>
        <p:spPr>
          <a:xfrm>
            <a:off x="3401568" y="7004304"/>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Retorna nombre, CURP, estado nacimiento</a:t>
            </a:r>
            <a:endParaRPr lang="en-US" sz="820" dirty="0"/>
          </a:p>
        </p:txBody>
      </p:sp>
      <p:sp>
        <p:nvSpPr>
          <p:cNvPr id="70" name="Shape 68"/>
          <p:cNvSpPr/>
          <p:nvPr/>
        </p:nvSpPr>
        <p:spPr>
          <a:xfrm>
            <a:off x="6309360" y="5852160"/>
            <a:ext cx="2834640" cy="1664208"/>
          </a:xfrm>
          <a:prstGeom prst="roundRect">
            <a:avLst>
              <a:gd name="adj" fmla="val 4945"/>
            </a:avLst>
          </a:prstGeom>
          <a:solidFill>
            <a:srgbClr val="F3F4F6"/>
          </a:solidFill>
          <a:ln/>
          <a:effectLst>
            <a:outerShdw sx="100000" sy="100000" kx="0" ky="0" algn="bl" rotWithShape="0" blurRad="38100" dist="12700" dir="16200000">
              <a:srgbClr val="000000">
                <a:alpha val="75000"/>
              </a:srgbClr>
            </a:outerShdw>
          </a:effectLst>
        </p:spPr>
      </p:sp>
      <p:sp>
        <p:nvSpPr>
          <p:cNvPr id="71" name="Shape 69"/>
          <p:cNvSpPr/>
          <p:nvPr/>
        </p:nvSpPr>
        <p:spPr>
          <a:xfrm>
            <a:off x="6309360" y="5852160"/>
            <a:ext cx="2834640" cy="402336"/>
          </a:xfrm>
          <a:prstGeom prst="roundRect">
            <a:avLst>
              <a:gd name="adj" fmla="val 20455"/>
            </a:avLst>
          </a:prstGeom>
          <a:solidFill>
            <a:srgbClr val="6B7280"/>
          </a:solidFill>
          <a:ln/>
        </p:spPr>
      </p:sp>
      <p:sp>
        <p:nvSpPr>
          <p:cNvPr id="72" name="Shape 70"/>
          <p:cNvSpPr/>
          <p:nvPr/>
        </p:nvSpPr>
        <p:spPr>
          <a:xfrm>
            <a:off x="6309360" y="6053328"/>
            <a:ext cx="2834640" cy="219456"/>
          </a:xfrm>
          <a:prstGeom prst="rect">
            <a:avLst/>
          </a:prstGeom>
          <a:solidFill>
            <a:srgbClr val="6B7280"/>
          </a:solidFill>
          <a:ln/>
        </p:spPr>
      </p:sp>
      <p:sp>
        <p:nvSpPr>
          <p:cNvPr id="73" name="Text 71"/>
          <p:cNvSpPr/>
          <p:nvPr/>
        </p:nvSpPr>
        <p:spPr>
          <a:xfrm>
            <a:off x="6382512" y="5888736"/>
            <a:ext cx="272491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Template</a:t>
            </a:r>
            <a:endParaRPr lang="en-US" sz="950" dirty="0"/>
          </a:p>
        </p:txBody>
      </p:sp>
      <p:sp>
        <p:nvSpPr>
          <p:cNvPr id="74" name="Text 72"/>
          <p:cNvSpPr/>
          <p:nvPr/>
        </p:nvSpPr>
        <p:spPr>
          <a:xfrm>
            <a:off x="6419088" y="6309360"/>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getTemplate(int id): Template</a:t>
            </a:r>
            <a:endParaRPr lang="en-US" sz="820" dirty="0"/>
          </a:p>
        </p:txBody>
      </p:sp>
      <p:sp>
        <p:nvSpPr>
          <p:cNvPr id="75" name="Text 73"/>
          <p:cNvSpPr/>
          <p:nvPr/>
        </p:nvSpPr>
        <p:spPr>
          <a:xfrm>
            <a:off x="6419088" y="6656832"/>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renderTemplate(Template, array): string</a:t>
            </a:r>
            <a:endParaRPr lang="en-US" sz="820" dirty="0"/>
          </a:p>
        </p:txBody>
      </p:sp>
      <p:sp>
        <p:nvSpPr>
          <p:cNvPr id="76" name="Text 74"/>
          <p:cNvSpPr/>
          <p:nvPr/>
        </p:nvSpPr>
        <p:spPr>
          <a:xfrm>
            <a:off x="6419088" y="7004304"/>
            <a:ext cx="265176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Plantillas de PDF almacenadas en storage</a:t>
            </a:r>
            <a:endParaRPr lang="en-US" sz="820" dirty="0"/>
          </a:p>
        </p:txBody>
      </p:sp>
      <p:sp>
        <p:nvSpPr>
          <p:cNvPr id="77" name="Shape 75"/>
          <p:cNvSpPr/>
          <p:nvPr/>
        </p:nvSpPr>
        <p:spPr>
          <a:xfrm>
            <a:off x="9326880" y="5852160"/>
            <a:ext cx="2651760" cy="1298448"/>
          </a:xfrm>
          <a:prstGeom prst="roundRect">
            <a:avLst>
              <a:gd name="adj" fmla="val 6338"/>
            </a:avLst>
          </a:prstGeom>
          <a:solidFill>
            <a:srgbClr val="F3F4F6"/>
          </a:solidFill>
          <a:ln/>
          <a:effectLst>
            <a:outerShdw sx="100000" sy="100000" kx="0" ky="0" algn="bl" rotWithShape="0" blurRad="38100" dist="12700" dir="16200000">
              <a:srgbClr val="000000">
                <a:alpha val="75000"/>
              </a:srgbClr>
            </a:outerShdw>
          </a:effectLst>
        </p:spPr>
      </p:sp>
      <p:sp>
        <p:nvSpPr>
          <p:cNvPr id="78" name="Shape 76"/>
          <p:cNvSpPr/>
          <p:nvPr/>
        </p:nvSpPr>
        <p:spPr>
          <a:xfrm>
            <a:off x="9326880" y="5852160"/>
            <a:ext cx="2651760" cy="402336"/>
          </a:xfrm>
          <a:prstGeom prst="roundRect">
            <a:avLst>
              <a:gd name="adj" fmla="val 20455"/>
            </a:avLst>
          </a:prstGeom>
          <a:solidFill>
            <a:srgbClr val="0891B2"/>
          </a:solidFill>
          <a:ln/>
        </p:spPr>
      </p:sp>
      <p:sp>
        <p:nvSpPr>
          <p:cNvPr id="79" name="Shape 77"/>
          <p:cNvSpPr/>
          <p:nvPr/>
        </p:nvSpPr>
        <p:spPr>
          <a:xfrm>
            <a:off x="9326880" y="6053328"/>
            <a:ext cx="2651760" cy="219456"/>
          </a:xfrm>
          <a:prstGeom prst="rect">
            <a:avLst/>
          </a:prstGeom>
          <a:solidFill>
            <a:srgbClr val="0891B2"/>
          </a:solidFill>
          <a:ln/>
        </p:spPr>
      </p:sp>
      <p:sp>
        <p:nvSpPr>
          <p:cNvPr id="80" name="Text 78"/>
          <p:cNvSpPr/>
          <p:nvPr/>
        </p:nvSpPr>
        <p:spPr>
          <a:xfrm>
            <a:off x="9400032" y="5888736"/>
            <a:ext cx="2542032"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CatalogDoc</a:t>
            </a:r>
            <a:endParaRPr lang="en-US" sz="950" dirty="0"/>
          </a:p>
        </p:txBody>
      </p:sp>
      <p:sp>
        <p:nvSpPr>
          <p:cNvPr id="81" name="Text 79"/>
          <p:cNvSpPr/>
          <p:nvPr/>
        </p:nvSpPr>
        <p:spPr>
          <a:xfrm>
            <a:off x="9436608" y="6309360"/>
            <a:ext cx="246888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syncRequiredDocs(Announcement, array)</a:t>
            </a:r>
            <a:endParaRPr lang="en-US" sz="820" dirty="0"/>
          </a:p>
        </p:txBody>
      </p:sp>
      <p:sp>
        <p:nvSpPr>
          <p:cNvPr id="82" name="Text 80"/>
          <p:cNvSpPr/>
          <p:nvPr/>
        </p:nvSpPr>
        <p:spPr>
          <a:xfrm>
            <a:off x="9436608" y="6656832"/>
            <a:ext cx="2468880" cy="320040"/>
          </a:xfrm>
          <a:prstGeom prst="rect">
            <a:avLst/>
          </a:prstGeom>
          <a:noFill/>
          <a:ln/>
        </p:spPr>
        <p:txBody>
          <a:bodyPr wrap="square" rtlCol="0" anchor="ctr"/>
          <a:lstStyle/>
          <a:p>
            <a:pPr indent="0" marL="0">
              <a:buNone/>
            </a:pPr>
            <a:r>
              <a:rPr lang="en-US" sz="820" dirty="0">
                <a:solidFill>
                  <a:srgbClr val="1F2937"/>
                </a:solidFill>
                <a:latin typeface="Calibri" pitchFamily="34" charset="0"/>
                <a:ea typeface="Calibri" pitchFamily="34" charset="-122"/>
                <a:cs typeface="Calibri" pitchFamily="34" charset="-120"/>
              </a:rPr>
              <a:t>• validateDocumentSet(Application): bool</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DC2626"/>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Generación de PDFs con FPDI y Verificación Pública vía QR</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3749040" cy="1280160"/>
          </a:xfrm>
          <a:prstGeom prst="roundRect">
            <a:avLst>
              <a:gd name="adj" fmla="val 7143"/>
            </a:avLst>
          </a:prstGeom>
          <a:solidFill>
            <a:srgbClr val="2563EB"/>
          </a:solidFill>
          <a:ln/>
        </p:spPr>
      </p:sp>
      <p:sp>
        <p:nvSpPr>
          <p:cNvPr id="7" name="Text 5"/>
          <p:cNvSpPr/>
          <p:nvPr/>
        </p:nvSpPr>
        <p:spPr>
          <a:xfrm>
            <a:off x="411480" y="1078992"/>
            <a:ext cx="361188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Carta de Aceptación</a:t>
            </a:r>
            <a:endParaRPr lang="en-US" sz="1350" dirty="0"/>
          </a:p>
        </p:txBody>
      </p:sp>
      <p:sp>
        <p:nvSpPr>
          <p:cNvPr id="8" name="Text 6"/>
          <p:cNvSpPr/>
          <p:nvPr/>
        </p:nvSpPr>
        <p:spPr>
          <a:xfrm>
            <a:off x="411480" y="1572768"/>
            <a:ext cx="3611880" cy="274320"/>
          </a:xfrm>
          <a:prstGeom prst="rect">
            <a:avLst/>
          </a:prstGeom>
          <a:noFill/>
          <a:ln/>
        </p:spPr>
        <p:txBody>
          <a:bodyPr wrap="square" rtlCol="0" anchor="ctr"/>
          <a:lstStyle/>
          <a:p>
            <a:pPr indent="0" marL="0">
              <a:buNone/>
            </a:pPr>
            <a:r>
              <a:rPr lang="en-US" sz="1000" dirty="0">
                <a:solidFill>
                  <a:srgbClr val="D1FAE5"/>
                </a:solidFill>
                <a:latin typeface="Calibri Mono" pitchFamily="34" charset="0"/>
                <a:ea typeface="Calibri Mono" pitchFamily="34" charset="-122"/>
                <a:cs typeface="Calibri Mono" pitchFamily="34" charset="-120"/>
              </a:rPr>
              <a:t>Prefijo ID: ACE-{AÑO}-{ID}-{6chars}</a:t>
            </a:r>
            <a:endParaRPr lang="en-US" sz="1000" dirty="0"/>
          </a:p>
        </p:txBody>
      </p:sp>
      <p:sp>
        <p:nvSpPr>
          <p:cNvPr id="9" name="Text 7"/>
          <p:cNvSpPr/>
          <p:nvPr/>
        </p:nvSpPr>
        <p:spPr>
          <a:xfrm>
            <a:off x="411480" y="1847088"/>
            <a:ext cx="3611880" cy="274320"/>
          </a:xfrm>
          <a:prstGeom prst="rect">
            <a:avLst/>
          </a:prstGeom>
          <a:noFill/>
          <a:ln/>
        </p:spPr>
        <p:txBody>
          <a:bodyPr wrap="square" rtlCol="0" anchor="ctr"/>
          <a:lstStyle/>
          <a:p>
            <a:pPr indent="0" marL="0">
              <a:buNone/>
            </a:pPr>
            <a:r>
              <a:rPr lang="en-US" sz="1000" dirty="0">
                <a:solidFill>
                  <a:srgbClr val="D1FAE5"/>
                </a:solidFill>
                <a:latin typeface="Calibri" pitchFamily="34" charset="0"/>
                <a:ea typeface="Calibri" pitchFamily="34" charset="-122"/>
                <a:cs typeface="Calibri" pitchFamily="34" charset="-120"/>
              </a:rPr>
              <a:t>Tabla BD: applications</a:t>
            </a:r>
            <a:endParaRPr lang="en-US" sz="1000" dirty="0"/>
          </a:p>
        </p:txBody>
      </p:sp>
      <p:sp>
        <p:nvSpPr>
          <p:cNvPr id="10" name="Shape 8"/>
          <p:cNvSpPr/>
          <p:nvPr/>
        </p:nvSpPr>
        <p:spPr>
          <a:xfrm>
            <a:off x="4297680" y="1005840"/>
            <a:ext cx="3749040" cy="1280160"/>
          </a:xfrm>
          <a:prstGeom prst="roundRect">
            <a:avLst>
              <a:gd name="adj" fmla="val 7143"/>
            </a:avLst>
          </a:prstGeom>
          <a:solidFill>
            <a:srgbClr val="0D9488"/>
          </a:solidFill>
          <a:ln/>
        </p:spPr>
      </p:sp>
      <p:sp>
        <p:nvSpPr>
          <p:cNvPr id="11" name="Text 9"/>
          <p:cNvSpPr/>
          <p:nvPr/>
        </p:nvSpPr>
        <p:spPr>
          <a:xfrm>
            <a:off x="4389120" y="1078992"/>
            <a:ext cx="361188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Reconocimiento Docente</a:t>
            </a:r>
            <a:endParaRPr lang="en-US" sz="1350" dirty="0"/>
          </a:p>
        </p:txBody>
      </p:sp>
      <p:sp>
        <p:nvSpPr>
          <p:cNvPr id="12" name="Text 10"/>
          <p:cNvSpPr/>
          <p:nvPr/>
        </p:nvSpPr>
        <p:spPr>
          <a:xfrm>
            <a:off x="4389120" y="1572768"/>
            <a:ext cx="3611880" cy="274320"/>
          </a:xfrm>
          <a:prstGeom prst="rect">
            <a:avLst/>
          </a:prstGeom>
          <a:noFill/>
          <a:ln/>
        </p:spPr>
        <p:txBody>
          <a:bodyPr wrap="square" rtlCol="0" anchor="ctr"/>
          <a:lstStyle/>
          <a:p>
            <a:pPr indent="0" marL="0">
              <a:buNone/>
            </a:pPr>
            <a:r>
              <a:rPr lang="en-US" sz="1000" dirty="0">
                <a:solidFill>
                  <a:srgbClr val="D1FAE5"/>
                </a:solidFill>
                <a:latin typeface="Calibri Mono" pitchFamily="34" charset="0"/>
                <a:ea typeface="Calibri Mono" pitchFamily="34" charset="-122"/>
                <a:cs typeface="Calibri Mono" pitchFamily="34" charset="-120"/>
              </a:rPr>
              <a:t>Prefijo ID: DOC-{AÑO}-{ID}-{6chars}</a:t>
            </a:r>
            <a:endParaRPr lang="en-US" sz="1000" dirty="0"/>
          </a:p>
        </p:txBody>
      </p:sp>
      <p:sp>
        <p:nvSpPr>
          <p:cNvPr id="13" name="Text 11"/>
          <p:cNvSpPr/>
          <p:nvPr/>
        </p:nvSpPr>
        <p:spPr>
          <a:xfrm>
            <a:off x="4389120" y="1847088"/>
            <a:ext cx="3611880" cy="274320"/>
          </a:xfrm>
          <a:prstGeom prst="rect">
            <a:avLst/>
          </a:prstGeom>
          <a:noFill/>
          <a:ln/>
        </p:spPr>
        <p:txBody>
          <a:bodyPr wrap="square" rtlCol="0" anchor="ctr"/>
          <a:lstStyle/>
          <a:p>
            <a:pPr indent="0" marL="0">
              <a:buNone/>
            </a:pPr>
            <a:r>
              <a:rPr lang="en-US" sz="1000" dirty="0">
                <a:solidFill>
                  <a:srgbClr val="D1FAE5"/>
                </a:solidFill>
                <a:latin typeface="Calibri" pitchFamily="34" charset="0"/>
                <a:ea typeface="Calibri" pitchFamily="34" charset="-122"/>
                <a:cs typeface="Calibri" pitchFamily="34" charset="-120"/>
              </a:rPr>
              <a:t>Tabla BD: recognitions</a:t>
            </a:r>
            <a:endParaRPr lang="en-US" sz="1000" dirty="0"/>
          </a:p>
        </p:txBody>
      </p:sp>
      <p:sp>
        <p:nvSpPr>
          <p:cNvPr id="14" name="Shape 12"/>
          <p:cNvSpPr/>
          <p:nvPr/>
        </p:nvSpPr>
        <p:spPr>
          <a:xfrm>
            <a:off x="8275320" y="1005840"/>
            <a:ext cx="3749040" cy="1280160"/>
          </a:xfrm>
          <a:prstGeom prst="roundRect">
            <a:avLst>
              <a:gd name="adj" fmla="val 7143"/>
            </a:avLst>
          </a:prstGeom>
          <a:solidFill>
            <a:srgbClr val="7C3AED"/>
          </a:solidFill>
          <a:ln/>
        </p:spPr>
      </p:sp>
      <p:sp>
        <p:nvSpPr>
          <p:cNvPr id="15" name="Text 13"/>
          <p:cNvSpPr/>
          <p:nvPr/>
        </p:nvSpPr>
        <p:spPr>
          <a:xfrm>
            <a:off x="8366760" y="1078992"/>
            <a:ext cx="361188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Reconocimiento Evaluador</a:t>
            </a:r>
            <a:endParaRPr lang="en-US" sz="1350" dirty="0"/>
          </a:p>
        </p:txBody>
      </p:sp>
      <p:sp>
        <p:nvSpPr>
          <p:cNvPr id="16" name="Text 14"/>
          <p:cNvSpPr/>
          <p:nvPr/>
        </p:nvSpPr>
        <p:spPr>
          <a:xfrm>
            <a:off x="8366760" y="1572768"/>
            <a:ext cx="3611880" cy="274320"/>
          </a:xfrm>
          <a:prstGeom prst="rect">
            <a:avLst/>
          </a:prstGeom>
          <a:noFill/>
          <a:ln/>
        </p:spPr>
        <p:txBody>
          <a:bodyPr wrap="square" rtlCol="0" anchor="ctr"/>
          <a:lstStyle/>
          <a:p>
            <a:pPr indent="0" marL="0">
              <a:buNone/>
            </a:pPr>
            <a:r>
              <a:rPr lang="en-US" sz="1000" dirty="0">
                <a:solidFill>
                  <a:srgbClr val="D1FAE5"/>
                </a:solidFill>
                <a:latin typeface="Calibri Mono" pitchFamily="34" charset="0"/>
                <a:ea typeface="Calibri Mono" pitchFamily="34" charset="-122"/>
                <a:cs typeface="Calibri Mono" pitchFamily="34" charset="-120"/>
              </a:rPr>
              <a:t>Prefijo ID: EVAL-{AÑO}-{ID}-{6chars}</a:t>
            </a:r>
            <a:endParaRPr lang="en-US" sz="1000" dirty="0"/>
          </a:p>
        </p:txBody>
      </p:sp>
      <p:sp>
        <p:nvSpPr>
          <p:cNvPr id="17" name="Text 15"/>
          <p:cNvSpPr/>
          <p:nvPr/>
        </p:nvSpPr>
        <p:spPr>
          <a:xfrm>
            <a:off x="8366760" y="1847088"/>
            <a:ext cx="3611880" cy="274320"/>
          </a:xfrm>
          <a:prstGeom prst="rect">
            <a:avLst/>
          </a:prstGeom>
          <a:noFill/>
          <a:ln/>
        </p:spPr>
        <p:txBody>
          <a:bodyPr wrap="square" rtlCol="0" anchor="ctr"/>
          <a:lstStyle/>
          <a:p>
            <a:pPr indent="0" marL="0">
              <a:buNone/>
            </a:pPr>
            <a:r>
              <a:rPr lang="en-US" sz="1000" dirty="0">
                <a:solidFill>
                  <a:srgbClr val="D1FAE5"/>
                </a:solidFill>
                <a:latin typeface="Calibri" pitchFamily="34" charset="0"/>
                <a:ea typeface="Calibri" pitchFamily="34" charset="-122"/>
                <a:cs typeface="Calibri" pitchFamily="34" charset="-120"/>
              </a:rPr>
              <a:t>Tabla BD: recognitions</a:t>
            </a:r>
            <a:endParaRPr lang="en-US" sz="1000" dirty="0"/>
          </a:p>
        </p:txBody>
      </p:sp>
      <p:sp>
        <p:nvSpPr>
          <p:cNvPr id="18" name="Text 16"/>
          <p:cNvSpPr/>
          <p:nvPr/>
        </p:nvSpPr>
        <p:spPr>
          <a:xfrm>
            <a:off x="320040" y="2423160"/>
            <a:ext cx="7315200" cy="384048"/>
          </a:xfrm>
          <a:prstGeom prst="rect">
            <a:avLst/>
          </a:prstGeom>
          <a:noFill/>
          <a:ln/>
        </p:spPr>
        <p:txBody>
          <a:bodyPr wrap="square" rtlCol="0" anchor="ctr"/>
          <a:lstStyle/>
          <a:p>
            <a:pPr indent="0" marL="0">
              <a:buNone/>
            </a:pPr>
            <a:r>
              <a:rPr lang="en-US" sz="1300" b="1" dirty="0">
                <a:solidFill>
                  <a:srgbClr val="1A3C5E"/>
                </a:solidFill>
                <a:latin typeface="Calibri" pitchFamily="34" charset="0"/>
                <a:ea typeface="Calibri" pitchFamily="34" charset="-122"/>
                <a:cs typeface="Calibri" pitchFamily="34" charset="-120"/>
              </a:rPr>
              <a:t>Proceso de Generación — PdfGenerationService</a:t>
            </a:r>
            <a:endParaRPr lang="en-US" sz="1300" dirty="0"/>
          </a:p>
        </p:txBody>
      </p:sp>
      <p:sp>
        <p:nvSpPr>
          <p:cNvPr id="19" name="Shape 17"/>
          <p:cNvSpPr/>
          <p:nvPr/>
        </p:nvSpPr>
        <p:spPr>
          <a:xfrm>
            <a:off x="347472" y="2926080"/>
            <a:ext cx="402336" cy="402336"/>
          </a:xfrm>
          <a:prstGeom prst="ellipse">
            <a:avLst/>
          </a:prstGeom>
          <a:solidFill>
            <a:srgbClr val="2563EB"/>
          </a:solidFill>
          <a:ln/>
        </p:spPr>
      </p:sp>
      <p:sp>
        <p:nvSpPr>
          <p:cNvPr id="20" name="Text 18"/>
          <p:cNvSpPr/>
          <p:nvPr/>
        </p:nvSpPr>
        <p:spPr>
          <a:xfrm>
            <a:off x="347472" y="292608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Shape 19"/>
          <p:cNvSpPr/>
          <p:nvPr/>
        </p:nvSpPr>
        <p:spPr>
          <a:xfrm>
            <a:off x="850392" y="2880360"/>
            <a:ext cx="6629400" cy="475488"/>
          </a:xfrm>
          <a:prstGeom prst="roundRect">
            <a:avLst>
              <a:gd name="adj" fmla="val 11538"/>
            </a:avLst>
          </a:prstGeom>
          <a:solidFill>
            <a:srgbClr val="FFFFFF"/>
          </a:solidFill>
          <a:ln/>
        </p:spPr>
      </p:sp>
      <p:sp>
        <p:nvSpPr>
          <p:cNvPr id="22" name="Text 20"/>
          <p:cNvSpPr/>
          <p:nvPr/>
        </p:nvSpPr>
        <p:spPr>
          <a:xfrm>
            <a:off x="941832" y="2916936"/>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Se carga el archivo PDF plantilla (Template) desde storage/ usando FPDI::setSourceFile()</a:t>
            </a:r>
            <a:endParaRPr lang="en-US" sz="950" dirty="0"/>
          </a:p>
        </p:txBody>
      </p:sp>
      <p:sp>
        <p:nvSpPr>
          <p:cNvPr id="23" name="Shape 21"/>
          <p:cNvSpPr/>
          <p:nvPr/>
        </p:nvSpPr>
        <p:spPr>
          <a:xfrm>
            <a:off x="347472" y="3456432"/>
            <a:ext cx="402336" cy="402336"/>
          </a:xfrm>
          <a:prstGeom prst="ellipse">
            <a:avLst/>
          </a:prstGeom>
          <a:solidFill>
            <a:srgbClr val="0D9488"/>
          </a:solidFill>
          <a:ln/>
        </p:spPr>
      </p:sp>
      <p:sp>
        <p:nvSpPr>
          <p:cNvPr id="24" name="Text 22"/>
          <p:cNvSpPr/>
          <p:nvPr/>
        </p:nvSpPr>
        <p:spPr>
          <a:xfrm>
            <a:off x="347472" y="3456432"/>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Shape 23"/>
          <p:cNvSpPr/>
          <p:nvPr/>
        </p:nvSpPr>
        <p:spPr>
          <a:xfrm>
            <a:off x="850392" y="3410712"/>
            <a:ext cx="6629400" cy="475488"/>
          </a:xfrm>
          <a:prstGeom prst="roundRect">
            <a:avLst>
              <a:gd name="adj" fmla="val 11538"/>
            </a:avLst>
          </a:prstGeom>
          <a:solidFill>
            <a:srgbClr val="DBEAFE"/>
          </a:solidFill>
          <a:ln/>
        </p:spPr>
      </p:sp>
      <p:sp>
        <p:nvSpPr>
          <p:cNvPr id="26" name="Text 24"/>
          <p:cNvSpPr/>
          <p:nvPr/>
        </p:nvSpPr>
        <p:spPr>
          <a:xfrm>
            <a:off x="941832" y="3447288"/>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Se importan todas las páginas de la plantilla con addPage() + useTemplate()</a:t>
            </a:r>
            <a:endParaRPr lang="en-US" sz="950" dirty="0"/>
          </a:p>
        </p:txBody>
      </p:sp>
      <p:sp>
        <p:nvSpPr>
          <p:cNvPr id="27" name="Shape 25"/>
          <p:cNvSpPr/>
          <p:nvPr/>
        </p:nvSpPr>
        <p:spPr>
          <a:xfrm>
            <a:off x="347472" y="3986784"/>
            <a:ext cx="402336" cy="402336"/>
          </a:xfrm>
          <a:prstGeom prst="ellipse">
            <a:avLst/>
          </a:prstGeom>
          <a:solidFill>
            <a:srgbClr val="7C3AED"/>
          </a:solidFill>
          <a:ln/>
        </p:spPr>
      </p:sp>
      <p:sp>
        <p:nvSpPr>
          <p:cNvPr id="28" name="Text 26"/>
          <p:cNvSpPr/>
          <p:nvPr/>
        </p:nvSpPr>
        <p:spPr>
          <a:xfrm>
            <a:off x="347472" y="3986784"/>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Shape 27"/>
          <p:cNvSpPr/>
          <p:nvPr/>
        </p:nvSpPr>
        <p:spPr>
          <a:xfrm>
            <a:off x="850392" y="3941064"/>
            <a:ext cx="6629400" cy="475488"/>
          </a:xfrm>
          <a:prstGeom prst="roundRect">
            <a:avLst>
              <a:gd name="adj" fmla="val 11538"/>
            </a:avLst>
          </a:prstGeom>
          <a:solidFill>
            <a:srgbClr val="FFFFFF"/>
          </a:solidFill>
          <a:ln/>
        </p:spPr>
      </p:sp>
      <p:sp>
        <p:nvSpPr>
          <p:cNvPr id="30" name="Text 28"/>
          <p:cNvSpPr/>
          <p:nvPr/>
        </p:nvSpPr>
        <p:spPr>
          <a:xfrm>
            <a:off x="941832" y="3977640"/>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Se sobreimprimen datos dinámicos: nombre completo, institución, área, fecha, convocatoria</a:t>
            </a:r>
            <a:endParaRPr lang="en-US" sz="950" dirty="0"/>
          </a:p>
        </p:txBody>
      </p:sp>
      <p:sp>
        <p:nvSpPr>
          <p:cNvPr id="31" name="Shape 29"/>
          <p:cNvSpPr/>
          <p:nvPr/>
        </p:nvSpPr>
        <p:spPr>
          <a:xfrm>
            <a:off x="347472" y="4517136"/>
            <a:ext cx="402336" cy="402336"/>
          </a:xfrm>
          <a:prstGeom prst="ellipse">
            <a:avLst/>
          </a:prstGeom>
          <a:solidFill>
            <a:srgbClr val="059669"/>
          </a:solidFill>
          <a:ln/>
        </p:spPr>
      </p:sp>
      <p:sp>
        <p:nvSpPr>
          <p:cNvPr id="32" name="Text 30"/>
          <p:cNvSpPr/>
          <p:nvPr/>
        </p:nvSpPr>
        <p:spPr>
          <a:xfrm>
            <a:off x="347472" y="451713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Shape 31"/>
          <p:cNvSpPr/>
          <p:nvPr/>
        </p:nvSpPr>
        <p:spPr>
          <a:xfrm>
            <a:off x="850392" y="4471416"/>
            <a:ext cx="6629400" cy="475488"/>
          </a:xfrm>
          <a:prstGeom prst="roundRect">
            <a:avLst>
              <a:gd name="adj" fmla="val 11538"/>
            </a:avLst>
          </a:prstGeom>
          <a:solidFill>
            <a:srgbClr val="DBEAFE"/>
          </a:solidFill>
          <a:ln/>
        </p:spPr>
      </p:sp>
      <p:sp>
        <p:nvSpPr>
          <p:cNvPr id="34" name="Text 32"/>
          <p:cNvSpPr/>
          <p:nvPr/>
        </p:nvSpPr>
        <p:spPr>
          <a:xfrm>
            <a:off x="941832" y="4507992"/>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SignatureService::generateDigitalSeal() calcula el hash SHA-256 del contenido generado</a:t>
            </a:r>
            <a:endParaRPr lang="en-US" sz="950" dirty="0"/>
          </a:p>
        </p:txBody>
      </p:sp>
      <p:sp>
        <p:nvSpPr>
          <p:cNvPr id="35" name="Shape 33"/>
          <p:cNvSpPr/>
          <p:nvPr/>
        </p:nvSpPr>
        <p:spPr>
          <a:xfrm>
            <a:off x="347472" y="5047488"/>
            <a:ext cx="402336" cy="402336"/>
          </a:xfrm>
          <a:prstGeom prst="ellipse">
            <a:avLst/>
          </a:prstGeom>
          <a:solidFill>
            <a:srgbClr val="CA8A04"/>
          </a:solidFill>
          <a:ln/>
        </p:spPr>
      </p:sp>
      <p:sp>
        <p:nvSpPr>
          <p:cNvPr id="36" name="Text 34"/>
          <p:cNvSpPr/>
          <p:nvPr/>
        </p:nvSpPr>
        <p:spPr>
          <a:xfrm>
            <a:off x="347472" y="5047488"/>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Shape 35"/>
          <p:cNvSpPr/>
          <p:nvPr/>
        </p:nvSpPr>
        <p:spPr>
          <a:xfrm>
            <a:off x="850392" y="5001768"/>
            <a:ext cx="6629400" cy="475488"/>
          </a:xfrm>
          <a:prstGeom prst="roundRect">
            <a:avLst>
              <a:gd name="adj" fmla="val 11538"/>
            </a:avLst>
          </a:prstGeom>
          <a:solidFill>
            <a:srgbClr val="FFFFFF"/>
          </a:solidFill>
          <a:ln/>
        </p:spPr>
      </p:sp>
      <p:sp>
        <p:nvSpPr>
          <p:cNvPr id="38" name="Text 36"/>
          <p:cNvSpPr/>
          <p:nvPr/>
        </p:nvSpPr>
        <p:spPr>
          <a:xfrm>
            <a:off x="941832" y="5038344"/>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endroid/qr-code genera imagen PNG del QR con URL: https://host/verify-recognition/{identifier}</a:t>
            </a:r>
            <a:endParaRPr lang="en-US" sz="950" dirty="0"/>
          </a:p>
        </p:txBody>
      </p:sp>
      <p:sp>
        <p:nvSpPr>
          <p:cNvPr id="39" name="Shape 37"/>
          <p:cNvSpPr/>
          <p:nvPr/>
        </p:nvSpPr>
        <p:spPr>
          <a:xfrm>
            <a:off x="347472" y="5577840"/>
            <a:ext cx="402336" cy="402336"/>
          </a:xfrm>
          <a:prstGeom prst="ellipse">
            <a:avLst/>
          </a:prstGeom>
          <a:solidFill>
            <a:srgbClr val="EA580C"/>
          </a:solidFill>
          <a:ln/>
        </p:spPr>
      </p:sp>
      <p:sp>
        <p:nvSpPr>
          <p:cNvPr id="40" name="Text 38"/>
          <p:cNvSpPr/>
          <p:nvPr/>
        </p:nvSpPr>
        <p:spPr>
          <a:xfrm>
            <a:off x="347472" y="55778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Shape 39"/>
          <p:cNvSpPr/>
          <p:nvPr/>
        </p:nvSpPr>
        <p:spPr>
          <a:xfrm>
            <a:off x="850392" y="5532120"/>
            <a:ext cx="6629400" cy="475488"/>
          </a:xfrm>
          <a:prstGeom prst="roundRect">
            <a:avLst>
              <a:gd name="adj" fmla="val 11538"/>
            </a:avLst>
          </a:prstGeom>
          <a:solidFill>
            <a:srgbClr val="DBEAFE"/>
          </a:solidFill>
          <a:ln/>
        </p:spPr>
      </p:sp>
      <p:sp>
        <p:nvSpPr>
          <p:cNvPr id="42" name="Text 40"/>
          <p:cNvSpPr/>
          <p:nvPr/>
        </p:nvSpPr>
        <p:spPr>
          <a:xfrm>
            <a:off x="941832" y="5568696"/>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Se agrega página extra con código QR, datos de verificación y leyenda legal de autenticidad</a:t>
            </a:r>
            <a:endParaRPr lang="en-US" sz="950" dirty="0"/>
          </a:p>
        </p:txBody>
      </p:sp>
      <p:sp>
        <p:nvSpPr>
          <p:cNvPr id="43" name="Shape 41"/>
          <p:cNvSpPr/>
          <p:nvPr/>
        </p:nvSpPr>
        <p:spPr>
          <a:xfrm>
            <a:off x="347472" y="6108192"/>
            <a:ext cx="402336" cy="402336"/>
          </a:xfrm>
          <a:prstGeom prst="ellipse">
            <a:avLst/>
          </a:prstGeom>
          <a:solidFill>
            <a:srgbClr val="DC2626"/>
          </a:solidFill>
          <a:ln/>
        </p:spPr>
      </p:sp>
      <p:sp>
        <p:nvSpPr>
          <p:cNvPr id="44" name="Text 42"/>
          <p:cNvSpPr/>
          <p:nvPr/>
        </p:nvSpPr>
        <p:spPr>
          <a:xfrm>
            <a:off x="347472" y="6108192"/>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5" name="Shape 43"/>
          <p:cNvSpPr/>
          <p:nvPr/>
        </p:nvSpPr>
        <p:spPr>
          <a:xfrm>
            <a:off x="850392" y="6062472"/>
            <a:ext cx="6629400" cy="475488"/>
          </a:xfrm>
          <a:prstGeom prst="roundRect">
            <a:avLst>
              <a:gd name="adj" fmla="val 11538"/>
            </a:avLst>
          </a:prstGeom>
          <a:solidFill>
            <a:srgbClr val="FFFFFF"/>
          </a:solidFill>
          <a:ln/>
        </p:spPr>
      </p:sp>
      <p:sp>
        <p:nvSpPr>
          <p:cNvPr id="46" name="Text 44"/>
          <p:cNvSpPr/>
          <p:nvPr/>
        </p:nvSpPr>
        <p:spPr>
          <a:xfrm>
            <a:off x="941832" y="6099048"/>
            <a:ext cx="6473952"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identifier y digital_seal guardados en BD. PDF entregado al usuario como stream o descarga</a:t>
            </a:r>
            <a:endParaRPr lang="en-US" sz="950" dirty="0"/>
          </a:p>
        </p:txBody>
      </p:sp>
      <p:sp>
        <p:nvSpPr>
          <p:cNvPr id="47" name="Text 45"/>
          <p:cNvSpPr/>
          <p:nvPr/>
        </p:nvSpPr>
        <p:spPr>
          <a:xfrm>
            <a:off x="7772400" y="2423160"/>
            <a:ext cx="4297680" cy="384048"/>
          </a:xfrm>
          <a:prstGeom prst="rect">
            <a:avLst/>
          </a:prstGeom>
          <a:noFill/>
          <a:ln/>
        </p:spPr>
        <p:txBody>
          <a:bodyPr wrap="square" rtlCol="0" anchor="ctr"/>
          <a:lstStyle/>
          <a:p>
            <a:pPr indent="0" marL="0">
              <a:buNone/>
            </a:pPr>
            <a:r>
              <a:rPr lang="en-US" sz="1200" b="1" dirty="0">
                <a:solidFill>
                  <a:srgbClr val="1A3C5E"/>
                </a:solidFill>
                <a:latin typeface="Calibri" pitchFamily="34" charset="0"/>
                <a:ea typeface="Calibri" pitchFamily="34" charset="-122"/>
                <a:cs typeface="Calibri" pitchFamily="34" charset="-120"/>
              </a:rPr>
              <a:t>Verificación Pública — VerificationController</a:t>
            </a:r>
            <a:endParaRPr lang="en-US" sz="1200" dirty="0"/>
          </a:p>
        </p:txBody>
      </p:sp>
      <p:sp>
        <p:nvSpPr>
          <p:cNvPr id="48" name="Shape 46"/>
          <p:cNvSpPr/>
          <p:nvPr/>
        </p:nvSpPr>
        <p:spPr>
          <a:xfrm>
            <a:off x="7772400" y="2880360"/>
            <a:ext cx="4251960" cy="438912"/>
          </a:xfrm>
          <a:prstGeom prst="roundRect">
            <a:avLst>
              <a:gd name="adj" fmla="val 12500"/>
            </a:avLst>
          </a:prstGeom>
          <a:solidFill>
            <a:srgbClr val="FFFFFF"/>
          </a:solidFill>
          <a:ln/>
        </p:spPr>
      </p:sp>
      <p:sp>
        <p:nvSpPr>
          <p:cNvPr id="49" name="Text 47"/>
          <p:cNvSpPr/>
          <p:nvPr/>
        </p:nvSpPr>
        <p:spPr>
          <a:xfrm>
            <a:off x="7882128" y="2898648"/>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1. Usuario escanea QR del PDF</a:t>
            </a:r>
            <a:endParaRPr lang="en-US" sz="950" dirty="0"/>
          </a:p>
        </p:txBody>
      </p:sp>
      <p:sp>
        <p:nvSpPr>
          <p:cNvPr id="50" name="Shape 48"/>
          <p:cNvSpPr/>
          <p:nvPr/>
        </p:nvSpPr>
        <p:spPr>
          <a:xfrm>
            <a:off x="7772400" y="3392424"/>
            <a:ext cx="4251960" cy="438912"/>
          </a:xfrm>
          <a:prstGeom prst="roundRect">
            <a:avLst>
              <a:gd name="adj" fmla="val 12500"/>
            </a:avLst>
          </a:prstGeom>
          <a:solidFill>
            <a:srgbClr val="EDE9FE"/>
          </a:solidFill>
          <a:ln/>
        </p:spPr>
      </p:sp>
      <p:sp>
        <p:nvSpPr>
          <p:cNvPr id="51" name="Text 49"/>
          <p:cNvSpPr/>
          <p:nvPr/>
        </p:nvSpPr>
        <p:spPr>
          <a:xfrm>
            <a:off x="7882128" y="3410712"/>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2. GET /verify-recognition/{identifier}</a:t>
            </a:r>
            <a:endParaRPr lang="en-US" sz="950" dirty="0"/>
          </a:p>
        </p:txBody>
      </p:sp>
      <p:sp>
        <p:nvSpPr>
          <p:cNvPr id="52" name="Shape 50"/>
          <p:cNvSpPr/>
          <p:nvPr/>
        </p:nvSpPr>
        <p:spPr>
          <a:xfrm>
            <a:off x="7772400" y="3904488"/>
            <a:ext cx="4251960" cy="438912"/>
          </a:xfrm>
          <a:prstGeom prst="roundRect">
            <a:avLst>
              <a:gd name="adj" fmla="val 12500"/>
            </a:avLst>
          </a:prstGeom>
          <a:solidFill>
            <a:srgbClr val="FFFFFF"/>
          </a:solidFill>
          <a:ln/>
        </p:spPr>
      </p:sp>
      <p:sp>
        <p:nvSpPr>
          <p:cNvPr id="53" name="Text 51"/>
          <p:cNvSpPr/>
          <p:nvPr/>
        </p:nvSpPr>
        <p:spPr>
          <a:xfrm>
            <a:off x="7882128" y="3922776"/>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3. Busca en recognitions.identifier</a:t>
            </a:r>
            <a:endParaRPr lang="en-US" sz="950" dirty="0"/>
          </a:p>
        </p:txBody>
      </p:sp>
      <p:sp>
        <p:nvSpPr>
          <p:cNvPr id="54" name="Shape 52"/>
          <p:cNvSpPr/>
          <p:nvPr/>
        </p:nvSpPr>
        <p:spPr>
          <a:xfrm>
            <a:off x="7772400" y="4416552"/>
            <a:ext cx="4251960" cy="438912"/>
          </a:xfrm>
          <a:prstGeom prst="roundRect">
            <a:avLst>
              <a:gd name="adj" fmla="val 12500"/>
            </a:avLst>
          </a:prstGeom>
          <a:solidFill>
            <a:srgbClr val="EDE9FE"/>
          </a:solidFill>
          <a:ln/>
        </p:spPr>
      </p:sp>
      <p:sp>
        <p:nvSpPr>
          <p:cNvPr id="55" name="Text 53"/>
          <p:cNvSpPr/>
          <p:nvPr/>
        </p:nvSpPr>
        <p:spPr>
          <a:xfrm>
            <a:off x="7882128" y="4434840"/>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4. Si null → busca en applications.identifier</a:t>
            </a:r>
            <a:endParaRPr lang="en-US" sz="950" dirty="0"/>
          </a:p>
        </p:txBody>
      </p:sp>
      <p:sp>
        <p:nvSpPr>
          <p:cNvPr id="56" name="Shape 54"/>
          <p:cNvSpPr/>
          <p:nvPr/>
        </p:nvSpPr>
        <p:spPr>
          <a:xfrm>
            <a:off x="7772400" y="4928616"/>
            <a:ext cx="4251960" cy="438912"/>
          </a:xfrm>
          <a:prstGeom prst="roundRect">
            <a:avLst>
              <a:gd name="adj" fmla="val 12500"/>
            </a:avLst>
          </a:prstGeom>
          <a:solidFill>
            <a:srgbClr val="FFFFFF"/>
          </a:solidFill>
          <a:ln/>
        </p:spPr>
      </p:sp>
      <p:sp>
        <p:nvSpPr>
          <p:cNvPr id="57" name="Text 55"/>
          <p:cNvSpPr/>
          <p:nvPr/>
        </p:nvSpPr>
        <p:spPr>
          <a:xfrm>
            <a:off x="7882128" y="4946904"/>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5. Si null → retorna error 404</a:t>
            </a:r>
            <a:endParaRPr lang="en-US" sz="950" dirty="0"/>
          </a:p>
        </p:txBody>
      </p:sp>
      <p:sp>
        <p:nvSpPr>
          <p:cNvPr id="58" name="Shape 56"/>
          <p:cNvSpPr/>
          <p:nvPr/>
        </p:nvSpPr>
        <p:spPr>
          <a:xfrm>
            <a:off x="7772400" y="5440680"/>
            <a:ext cx="4251960" cy="438912"/>
          </a:xfrm>
          <a:prstGeom prst="roundRect">
            <a:avLst>
              <a:gd name="adj" fmla="val 12500"/>
            </a:avLst>
          </a:prstGeom>
          <a:solidFill>
            <a:srgbClr val="EDE9FE"/>
          </a:solidFill>
          <a:ln/>
        </p:spPr>
      </p:sp>
      <p:sp>
        <p:nvSpPr>
          <p:cNvPr id="59" name="Text 57"/>
          <p:cNvSpPr/>
          <p:nvPr/>
        </p:nvSpPr>
        <p:spPr>
          <a:xfrm>
            <a:off x="7882128" y="5458968"/>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6. Si match → retorna página Inertia pública</a:t>
            </a:r>
            <a:endParaRPr lang="en-US" sz="950" dirty="0"/>
          </a:p>
        </p:txBody>
      </p:sp>
      <p:sp>
        <p:nvSpPr>
          <p:cNvPr id="60" name="Shape 58"/>
          <p:cNvSpPr/>
          <p:nvPr/>
        </p:nvSpPr>
        <p:spPr>
          <a:xfrm>
            <a:off x="7772400" y="5952744"/>
            <a:ext cx="4251960" cy="438912"/>
          </a:xfrm>
          <a:prstGeom prst="roundRect">
            <a:avLst>
              <a:gd name="adj" fmla="val 12500"/>
            </a:avLst>
          </a:prstGeom>
          <a:solidFill>
            <a:srgbClr val="FFFFFF"/>
          </a:solidFill>
          <a:ln/>
        </p:spPr>
      </p:sp>
      <p:sp>
        <p:nvSpPr>
          <p:cNvPr id="61" name="Text 59"/>
          <p:cNvSpPr/>
          <p:nvPr/>
        </p:nvSpPr>
        <p:spPr>
          <a:xfrm>
            <a:off x="7882128" y="5971032"/>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7. Página muestra: nombre, fecha, convocatoria, sello</a:t>
            </a:r>
            <a:endParaRPr lang="en-US" sz="950" dirty="0"/>
          </a:p>
        </p:txBody>
      </p:sp>
      <p:sp>
        <p:nvSpPr>
          <p:cNvPr id="62" name="Shape 60"/>
          <p:cNvSpPr/>
          <p:nvPr/>
        </p:nvSpPr>
        <p:spPr>
          <a:xfrm>
            <a:off x="7772400" y="6464808"/>
            <a:ext cx="4251960" cy="438912"/>
          </a:xfrm>
          <a:prstGeom prst="roundRect">
            <a:avLst>
              <a:gd name="adj" fmla="val 12500"/>
            </a:avLst>
          </a:prstGeom>
          <a:solidFill>
            <a:srgbClr val="EDE9FE"/>
          </a:solidFill>
          <a:ln/>
        </p:spPr>
      </p:sp>
      <p:sp>
        <p:nvSpPr>
          <p:cNvPr id="63" name="Text 61"/>
          <p:cNvSpPr/>
          <p:nvPr/>
        </p:nvSpPr>
        <p:spPr>
          <a:xfrm>
            <a:off x="7882128" y="6483096"/>
            <a:ext cx="4023360" cy="402336"/>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8. Sin autenticación requerida 🌐</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Sistema de Notificaciones por Email — 16 Plantillas Mailable</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960120"/>
            <a:ext cx="11475720" cy="438912"/>
          </a:xfrm>
          <a:prstGeom prst="roundRect">
            <a:avLst>
              <a:gd name="adj" fmla="val 14583"/>
            </a:avLst>
          </a:prstGeom>
          <a:solidFill>
            <a:srgbClr val="FEF3C7"/>
          </a:solidFill>
          <a:ln/>
        </p:spPr>
      </p:sp>
      <p:sp>
        <p:nvSpPr>
          <p:cNvPr id="7" name="Text 5"/>
          <p:cNvSpPr/>
          <p:nvPr/>
        </p:nvSpPr>
        <p:spPr>
          <a:xfrm>
            <a:off x="457200" y="978408"/>
            <a:ext cx="11155680" cy="402336"/>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  Todas las clases Mailable usan Mail::to()-&gt;queue() — procesadas por el worker de cola asíncrona (driver: database, tabla jobs). SMTP: Brevo smtp-relay.brevo.com:2525</a:t>
            </a:r>
            <a:endParaRPr lang="en-US" sz="1000" dirty="0"/>
          </a:p>
        </p:txBody>
      </p:sp>
      <p:sp>
        <p:nvSpPr>
          <p:cNvPr id="8" name="Shape 6"/>
          <p:cNvSpPr/>
          <p:nvPr/>
        </p:nvSpPr>
        <p:spPr>
          <a:xfrm>
            <a:off x="320040" y="1508760"/>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9" name="Shape 7"/>
          <p:cNvSpPr/>
          <p:nvPr/>
        </p:nvSpPr>
        <p:spPr>
          <a:xfrm>
            <a:off x="320040" y="1508760"/>
            <a:ext cx="3767328" cy="438912"/>
          </a:xfrm>
          <a:prstGeom prst="roundRect">
            <a:avLst>
              <a:gd name="adj" fmla="val 18750"/>
            </a:avLst>
          </a:prstGeom>
          <a:solidFill>
            <a:srgbClr val="7C3AED"/>
          </a:solidFill>
          <a:ln/>
        </p:spPr>
      </p:sp>
      <p:sp>
        <p:nvSpPr>
          <p:cNvPr id="10" name="Shape 8"/>
          <p:cNvSpPr/>
          <p:nvPr/>
        </p:nvSpPr>
        <p:spPr>
          <a:xfrm>
            <a:off x="320040" y="1728216"/>
            <a:ext cx="3767328" cy="219456"/>
          </a:xfrm>
          <a:prstGeom prst="rect">
            <a:avLst/>
          </a:prstGeom>
          <a:solidFill>
            <a:srgbClr val="7C3AED"/>
          </a:solidFill>
          <a:ln/>
        </p:spPr>
      </p:sp>
      <p:sp>
        <p:nvSpPr>
          <p:cNvPr id="11" name="Text 9"/>
          <p:cNvSpPr/>
          <p:nvPr/>
        </p:nvSpPr>
        <p:spPr>
          <a:xfrm>
            <a:off x="411480" y="1563624"/>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Autenticación y Acceso</a:t>
            </a:r>
            <a:endParaRPr lang="en-US" sz="1100" dirty="0"/>
          </a:p>
        </p:txBody>
      </p:sp>
      <p:sp>
        <p:nvSpPr>
          <p:cNvPr id="12" name="Text 10"/>
          <p:cNvSpPr/>
          <p:nvPr/>
        </p:nvSpPr>
        <p:spPr>
          <a:xfrm>
            <a:off x="457200" y="2020824"/>
            <a:ext cx="3520440" cy="219456"/>
          </a:xfrm>
          <a:prstGeom prst="rect">
            <a:avLst/>
          </a:prstGeom>
          <a:noFill/>
          <a:ln/>
        </p:spPr>
        <p:txBody>
          <a:bodyPr wrap="square"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VerificationCode</a:t>
            </a:r>
            <a:endParaRPr lang="en-US" sz="900" dirty="0"/>
          </a:p>
        </p:txBody>
      </p:sp>
      <p:sp>
        <p:nvSpPr>
          <p:cNvPr id="13" name="Text 11"/>
          <p:cNvSpPr/>
          <p:nvPr/>
        </p:nvSpPr>
        <p:spPr>
          <a:xfrm>
            <a:off x="457200" y="2221992"/>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registrar usuario o solicitar reenvío de código 6 dígitos</a:t>
            </a:r>
            <a:endParaRPr lang="en-US" sz="850" dirty="0"/>
          </a:p>
        </p:txBody>
      </p:sp>
      <p:sp>
        <p:nvSpPr>
          <p:cNvPr id="14" name="Text 12"/>
          <p:cNvSpPr/>
          <p:nvPr/>
        </p:nvSpPr>
        <p:spPr>
          <a:xfrm>
            <a:off x="457200" y="2496312"/>
            <a:ext cx="3520440" cy="219456"/>
          </a:xfrm>
          <a:prstGeom prst="rect">
            <a:avLst/>
          </a:prstGeom>
          <a:noFill/>
          <a:ln/>
        </p:spPr>
        <p:txBody>
          <a:bodyPr wrap="square"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PasswordResetMail</a:t>
            </a:r>
            <a:endParaRPr lang="en-US" sz="900" dirty="0"/>
          </a:p>
        </p:txBody>
      </p:sp>
      <p:sp>
        <p:nvSpPr>
          <p:cNvPr id="15" name="Text 13"/>
          <p:cNvSpPr/>
          <p:nvPr/>
        </p:nvSpPr>
        <p:spPr>
          <a:xfrm>
            <a:off x="457200" y="269748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hacer clic en 'Olvidé mi contraseña' en el login</a:t>
            </a:r>
            <a:endParaRPr lang="en-US" sz="850" dirty="0"/>
          </a:p>
        </p:txBody>
      </p:sp>
      <p:sp>
        <p:nvSpPr>
          <p:cNvPr id="16" name="Shape 14"/>
          <p:cNvSpPr/>
          <p:nvPr/>
        </p:nvSpPr>
        <p:spPr>
          <a:xfrm>
            <a:off x="4297680" y="1508760"/>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17" name="Shape 15"/>
          <p:cNvSpPr/>
          <p:nvPr/>
        </p:nvSpPr>
        <p:spPr>
          <a:xfrm>
            <a:off x="4297680" y="1508760"/>
            <a:ext cx="3767328" cy="438912"/>
          </a:xfrm>
          <a:prstGeom prst="roundRect">
            <a:avLst>
              <a:gd name="adj" fmla="val 18750"/>
            </a:avLst>
          </a:prstGeom>
          <a:solidFill>
            <a:srgbClr val="2563EB"/>
          </a:solidFill>
          <a:ln/>
        </p:spPr>
      </p:sp>
      <p:sp>
        <p:nvSpPr>
          <p:cNvPr id="18" name="Shape 16"/>
          <p:cNvSpPr/>
          <p:nvPr/>
        </p:nvSpPr>
        <p:spPr>
          <a:xfrm>
            <a:off x="4297680" y="1728216"/>
            <a:ext cx="3767328" cy="219456"/>
          </a:xfrm>
          <a:prstGeom prst="rect">
            <a:avLst/>
          </a:prstGeom>
          <a:solidFill>
            <a:srgbClr val="2563EB"/>
          </a:solidFill>
          <a:ln/>
        </p:spPr>
      </p:sp>
      <p:sp>
        <p:nvSpPr>
          <p:cNvPr id="19" name="Text 17"/>
          <p:cNvSpPr/>
          <p:nvPr/>
        </p:nvSpPr>
        <p:spPr>
          <a:xfrm>
            <a:off x="4389120" y="1563624"/>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Convocatorias</a:t>
            </a:r>
            <a:endParaRPr lang="en-US" sz="1100" dirty="0"/>
          </a:p>
        </p:txBody>
      </p:sp>
      <p:sp>
        <p:nvSpPr>
          <p:cNvPr id="20" name="Text 18"/>
          <p:cNvSpPr/>
          <p:nvPr/>
        </p:nvSpPr>
        <p:spPr>
          <a:xfrm>
            <a:off x="4434840" y="2020824"/>
            <a:ext cx="3520440" cy="219456"/>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NewAnnouncement</a:t>
            </a:r>
            <a:endParaRPr lang="en-US" sz="900" dirty="0"/>
          </a:p>
        </p:txBody>
      </p:sp>
      <p:sp>
        <p:nvSpPr>
          <p:cNvPr id="21" name="Text 19"/>
          <p:cNvSpPr/>
          <p:nvPr/>
        </p:nvSpPr>
        <p:spPr>
          <a:xfrm>
            <a:off x="4434840" y="2221992"/>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transicionar convocatoria a etapa 'registro' → a todos los docentes</a:t>
            </a:r>
            <a:endParaRPr lang="en-US" sz="850" dirty="0"/>
          </a:p>
        </p:txBody>
      </p:sp>
      <p:sp>
        <p:nvSpPr>
          <p:cNvPr id="22" name="Text 20"/>
          <p:cNvSpPr/>
          <p:nvPr/>
        </p:nvSpPr>
        <p:spPr>
          <a:xfrm>
            <a:off x="4434840" y="2496312"/>
            <a:ext cx="3520440" cy="219456"/>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AnnouncementStageChange</a:t>
            </a:r>
            <a:endParaRPr lang="en-US" sz="900" dirty="0"/>
          </a:p>
        </p:txBody>
      </p:sp>
      <p:sp>
        <p:nvSpPr>
          <p:cNvPr id="23" name="Text 21"/>
          <p:cNvSpPr/>
          <p:nvPr/>
        </p:nvSpPr>
        <p:spPr>
          <a:xfrm>
            <a:off x="4434840" y="269748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cambiar etapa (evaluacion/resultados) → admin + evaluadores + docentes</a:t>
            </a:r>
            <a:endParaRPr lang="en-US" sz="850" dirty="0"/>
          </a:p>
        </p:txBody>
      </p:sp>
      <p:sp>
        <p:nvSpPr>
          <p:cNvPr id="24" name="Text 22"/>
          <p:cNvSpPr/>
          <p:nvPr/>
        </p:nvSpPr>
        <p:spPr>
          <a:xfrm>
            <a:off x="4434840" y="2971800"/>
            <a:ext cx="3520440" cy="219456"/>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AnnouncementDateChange</a:t>
            </a:r>
            <a:endParaRPr lang="en-US" sz="900" dirty="0"/>
          </a:p>
        </p:txBody>
      </p:sp>
      <p:sp>
        <p:nvSpPr>
          <p:cNvPr id="25" name="Text 23"/>
          <p:cNvSpPr/>
          <p:nvPr/>
        </p:nvSpPr>
        <p:spPr>
          <a:xfrm>
            <a:off x="4434840" y="3172968"/>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modificar fechas del calendario → a administradores</a:t>
            </a:r>
            <a:endParaRPr lang="en-US" sz="850" dirty="0"/>
          </a:p>
        </p:txBody>
      </p:sp>
      <p:sp>
        <p:nvSpPr>
          <p:cNvPr id="26" name="Text 24"/>
          <p:cNvSpPr/>
          <p:nvPr/>
        </p:nvSpPr>
        <p:spPr>
          <a:xfrm>
            <a:off x="4434840" y="3447288"/>
            <a:ext cx="3520440" cy="219456"/>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AnnouncementClosed</a:t>
            </a:r>
            <a:endParaRPr lang="en-US" sz="900" dirty="0"/>
          </a:p>
        </p:txBody>
      </p:sp>
      <p:sp>
        <p:nvSpPr>
          <p:cNvPr id="27" name="Text 25"/>
          <p:cNvSpPr/>
          <p:nvPr/>
        </p:nvSpPr>
        <p:spPr>
          <a:xfrm>
            <a:off x="4434840" y="3648456"/>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transicionar a etapa 'terminada' → a todos los usuarios</a:t>
            </a:r>
            <a:endParaRPr lang="en-US" sz="850" dirty="0"/>
          </a:p>
        </p:txBody>
      </p:sp>
      <p:sp>
        <p:nvSpPr>
          <p:cNvPr id="28" name="Shape 26"/>
          <p:cNvSpPr/>
          <p:nvPr/>
        </p:nvSpPr>
        <p:spPr>
          <a:xfrm>
            <a:off x="8275320" y="1508760"/>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29" name="Shape 27"/>
          <p:cNvSpPr/>
          <p:nvPr/>
        </p:nvSpPr>
        <p:spPr>
          <a:xfrm>
            <a:off x="8275320" y="1508760"/>
            <a:ext cx="3767328" cy="438912"/>
          </a:xfrm>
          <a:prstGeom prst="roundRect">
            <a:avLst>
              <a:gd name="adj" fmla="val 18750"/>
            </a:avLst>
          </a:prstGeom>
          <a:solidFill>
            <a:srgbClr val="0D9488"/>
          </a:solidFill>
          <a:ln/>
        </p:spPr>
      </p:sp>
      <p:sp>
        <p:nvSpPr>
          <p:cNvPr id="30" name="Shape 28"/>
          <p:cNvSpPr/>
          <p:nvPr/>
        </p:nvSpPr>
        <p:spPr>
          <a:xfrm>
            <a:off x="8275320" y="1728216"/>
            <a:ext cx="3767328" cy="219456"/>
          </a:xfrm>
          <a:prstGeom prst="rect">
            <a:avLst/>
          </a:prstGeom>
          <a:solidFill>
            <a:srgbClr val="0D9488"/>
          </a:solidFill>
          <a:ln/>
        </p:spPr>
      </p:sp>
      <p:sp>
        <p:nvSpPr>
          <p:cNvPr id="31" name="Text 29"/>
          <p:cNvSpPr/>
          <p:nvPr/>
        </p:nvSpPr>
        <p:spPr>
          <a:xfrm>
            <a:off x="8366760" y="1563624"/>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Evaluaciones e Asignaciones</a:t>
            </a:r>
            <a:endParaRPr lang="en-US" sz="1100" dirty="0"/>
          </a:p>
        </p:txBody>
      </p:sp>
      <p:sp>
        <p:nvSpPr>
          <p:cNvPr id="32" name="Text 30"/>
          <p:cNvSpPr/>
          <p:nvPr/>
        </p:nvSpPr>
        <p:spPr>
          <a:xfrm>
            <a:off x="8412480" y="2020824"/>
            <a:ext cx="3520440" cy="219456"/>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EvaluatorAssigned</a:t>
            </a:r>
            <a:endParaRPr lang="en-US" sz="900" dirty="0"/>
          </a:p>
        </p:txBody>
      </p:sp>
      <p:sp>
        <p:nvSpPr>
          <p:cNvPr id="33" name="Text 31"/>
          <p:cNvSpPr/>
          <p:nvPr/>
        </p:nvSpPr>
        <p:spPr>
          <a:xfrm>
            <a:off x="8412480" y="2221992"/>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crear Evaluation record → al evaluador asignado</a:t>
            </a:r>
            <a:endParaRPr lang="en-US" sz="850" dirty="0"/>
          </a:p>
        </p:txBody>
      </p:sp>
      <p:sp>
        <p:nvSpPr>
          <p:cNvPr id="34" name="Text 32"/>
          <p:cNvSpPr/>
          <p:nvPr/>
        </p:nvSpPr>
        <p:spPr>
          <a:xfrm>
            <a:off x="8412480" y="2496312"/>
            <a:ext cx="3520440" cy="219456"/>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EvaluatorReminder</a:t>
            </a:r>
            <a:endParaRPr lang="en-US" sz="900" dirty="0"/>
          </a:p>
        </p:txBody>
      </p:sp>
      <p:sp>
        <p:nvSpPr>
          <p:cNvPr id="35" name="Text 33"/>
          <p:cNvSpPr/>
          <p:nvPr/>
        </p:nvSpPr>
        <p:spPr>
          <a:xfrm>
            <a:off x="8412480" y="269748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Cron evaluations:remind (≤2 días) → al evaluador</a:t>
            </a:r>
            <a:endParaRPr lang="en-US" sz="850" dirty="0"/>
          </a:p>
        </p:txBody>
      </p:sp>
      <p:sp>
        <p:nvSpPr>
          <p:cNvPr id="36" name="Text 34"/>
          <p:cNvSpPr/>
          <p:nvPr/>
        </p:nvSpPr>
        <p:spPr>
          <a:xfrm>
            <a:off x="8412480" y="2971800"/>
            <a:ext cx="3520440" cy="219456"/>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RecognitionAvailable</a:t>
            </a:r>
            <a:endParaRPr lang="en-US" sz="900" dirty="0"/>
          </a:p>
        </p:txBody>
      </p:sp>
      <p:sp>
        <p:nvSpPr>
          <p:cNvPr id="37" name="Text 35"/>
          <p:cNvSpPr/>
          <p:nvPr/>
        </p:nvSpPr>
        <p:spPr>
          <a:xfrm>
            <a:off x="8412480" y="3172968"/>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activar reconocimiento del evaluador → al evaluador</a:t>
            </a:r>
            <a:endParaRPr lang="en-US" sz="850" dirty="0"/>
          </a:p>
        </p:txBody>
      </p:sp>
      <p:sp>
        <p:nvSpPr>
          <p:cNvPr id="38" name="Shape 36"/>
          <p:cNvSpPr/>
          <p:nvPr/>
        </p:nvSpPr>
        <p:spPr>
          <a:xfrm>
            <a:off x="320040" y="3995928"/>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39" name="Shape 37"/>
          <p:cNvSpPr/>
          <p:nvPr/>
        </p:nvSpPr>
        <p:spPr>
          <a:xfrm>
            <a:off x="320040" y="3995928"/>
            <a:ext cx="3767328" cy="438912"/>
          </a:xfrm>
          <a:prstGeom prst="roundRect">
            <a:avLst>
              <a:gd name="adj" fmla="val 18750"/>
            </a:avLst>
          </a:prstGeom>
          <a:solidFill>
            <a:srgbClr val="EA580C"/>
          </a:solidFill>
          <a:ln/>
        </p:spPr>
      </p:sp>
      <p:sp>
        <p:nvSpPr>
          <p:cNvPr id="40" name="Shape 38"/>
          <p:cNvSpPr/>
          <p:nvPr/>
        </p:nvSpPr>
        <p:spPr>
          <a:xfrm>
            <a:off x="320040" y="4215384"/>
            <a:ext cx="3767328" cy="219456"/>
          </a:xfrm>
          <a:prstGeom prst="rect">
            <a:avLst/>
          </a:prstGeom>
          <a:solidFill>
            <a:srgbClr val="EA580C"/>
          </a:solidFill>
          <a:ln/>
        </p:spPr>
      </p:sp>
      <p:sp>
        <p:nvSpPr>
          <p:cNvPr id="41" name="Text 39"/>
          <p:cNvSpPr/>
          <p:nvPr/>
        </p:nvSpPr>
        <p:spPr>
          <a:xfrm>
            <a:off x="411480" y="4050792"/>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Solicitudes y Veredictos</a:t>
            </a:r>
            <a:endParaRPr lang="en-US" sz="1100" dirty="0"/>
          </a:p>
        </p:txBody>
      </p:sp>
      <p:sp>
        <p:nvSpPr>
          <p:cNvPr id="42" name="Text 40"/>
          <p:cNvSpPr/>
          <p:nvPr/>
        </p:nvSpPr>
        <p:spPr>
          <a:xfrm>
            <a:off x="457200" y="4507992"/>
            <a:ext cx="3520440" cy="219456"/>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ApplicationVerdict</a:t>
            </a:r>
            <a:endParaRPr lang="en-US" sz="900" dirty="0"/>
          </a:p>
        </p:txBody>
      </p:sp>
      <p:sp>
        <p:nvSpPr>
          <p:cNvPr id="43" name="Text 41"/>
          <p:cNvSpPr/>
          <p:nvPr/>
        </p:nvSpPr>
        <p:spPr>
          <a:xfrm>
            <a:off x="457200" y="470916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emitir veredicto (aprobado/rechazado) por admin → al docente</a:t>
            </a:r>
            <a:endParaRPr lang="en-US" sz="850" dirty="0"/>
          </a:p>
        </p:txBody>
      </p:sp>
      <p:sp>
        <p:nvSpPr>
          <p:cNvPr id="44" name="Text 42"/>
          <p:cNvSpPr/>
          <p:nvPr/>
        </p:nvSpPr>
        <p:spPr>
          <a:xfrm>
            <a:off x="457200" y="4983480"/>
            <a:ext cx="3520440" cy="219456"/>
          </a:xfrm>
          <a:prstGeom prst="rect">
            <a:avLst/>
          </a:prstGeom>
          <a:noFill/>
          <a:ln/>
        </p:spPr>
        <p:txBody>
          <a:bodyPr wrap="square"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WeeklyApplicationsSummary</a:t>
            </a:r>
            <a:endParaRPr lang="en-US" sz="900" dirty="0"/>
          </a:p>
        </p:txBody>
      </p:sp>
      <p:sp>
        <p:nvSpPr>
          <p:cNvPr id="45" name="Text 43"/>
          <p:cNvSpPr/>
          <p:nvPr/>
        </p:nvSpPr>
        <p:spPr>
          <a:xfrm>
            <a:off x="457200" y="5184648"/>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Cron notifications:send-weekly (viernes 9AM) → a admins</a:t>
            </a:r>
            <a:endParaRPr lang="en-US" sz="850" dirty="0"/>
          </a:p>
        </p:txBody>
      </p:sp>
      <p:sp>
        <p:nvSpPr>
          <p:cNvPr id="46" name="Shape 44"/>
          <p:cNvSpPr/>
          <p:nvPr/>
        </p:nvSpPr>
        <p:spPr>
          <a:xfrm>
            <a:off x="4297680" y="3995928"/>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47" name="Shape 45"/>
          <p:cNvSpPr/>
          <p:nvPr/>
        </p:nvSpPr>
        <p:spPr>
          <a:xfrm>
            <a:off x="4297680" y="3995928"/>
            <a:ext cx="3767328" cy="438912"/>
          </a:xfrm>
          <a:prstGeom prst="roundRect">
            <a:avLst>
              <a:gd name="adj" fmla="val 18750"/>
            </a:avLst>
          </a:prstGeom>
          <a:solidFill>
            <a:srgbClr val="059669"/>
          </a:solidFill>
          <a:ln/>
        </p:spPr>
      </p:sp>
      <p:sp>
        <p:nvSpPr>
          <p:cNvPr id="48" name="Shape 46"/>
          <p:cNvSpPr/>
          <p:nvPr/>
        </p:nvSpPr>
        <p:spPr>
          <a:xfrm>
            <a:off x="4297680" y="4215384"/>
            <a:ext cx="3767328" cy="219456"/>
          </a:xfrm>
          <a:prstGeom prst="rect">
            <a:avLst/>
          </a:prstGeom>
          <a:solidFill>
            <a:srgbClr val="059669"/>
          </a:solidFill>
          <a:ln/>
        </p:spPr>
      </p:sp>
      <p:sp>
        <p:nvSpPr>
          <p:cNvPr id="49" name="Text 47"/>
          <p:cNvSpPr/>
          <p:nvPr/>
        </p:nvSpPr>
        <p:spPr>
          <a:xfrm>
            <a:off x="4389120" y="4050792"/>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Gestión de Usuarios</a:t>
            </a:r>
            <a:endParaRPr lang="en-US" sz="1100" dirty="0"/>
          </a:p>
        </p:txBody>
      </p:sp>
      <p:sp>
        <p:nvSpPr>
          <p:cNvPr id="50" name="Text 48"/>
          <p:cNvSpPr/>
          <p:nvPr/>
        </p:nvSpPr>
        <p:spPr>
          <a:xfrm>
            <a:off x="4434840" y="4507992"/>
            <a:ext cx="3520440" cy="219456"/>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UserStore</a:t>
            </a:r>
            <a:endParaRPr lang="en-US" sz="900" dirty="0"/>
          </a:p>
        </p:txBody>
      </p:sp>
      <p:sp>
        <p:nvSpPr>
          <p:cNvPr id="51" name="Text 49"/>
          <p:cNvSpPr/>
          <p:nvPr/>
        </p:nvSpPr>
        <p:spPr>
          <a:xfrm>
            <a:off x="4434840" y="470916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crear nuevo usuario desde panel de seguridad</a:t>
            </a:r>
            <a:endParaRPr lang="en-US" sz="850" dirty="0"/>
          </a:p>
        </p:txBody>
      </p:sp>
      <p:sp>
        <p:nvSpPr>
          <p:cNvPr id="52" name="Text 50"/>
          <p:cNvSpPr/>
          <p:nvPr/>
        </p:nvSpPr>
        <p:spPr>
          <a:xfrm>
            <a:off x="4434840" y="4983480"/>
            <a:ext cx="3520440" cy="219456"/>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UserUpdate</a:t>
            </a:r>
            <a:endParaRPr lang="en-US" sz="900" dirty="0"/>
          </a:p>
        </p:txBody>
      </p:sp>
      <p:sp>
        <p:nvSpPr>
          <p:cNvPr id="53" name="Text 51"/>
          <p:cNvSpPr/>
          <p:nvPr/>
        </p:nvSpPr>
        <p:spPr>
          <a:xfrm>
            <a:off x="4434840" y="5184648"/>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editar datos de un usuario existente</a:t>
            </a:r>
            <a:endParaRPr lang="en-US" sz="850" dirty="0"/>
          </a:p>
        </p:txBody>
      </p:sp>
      <p:sp>
        <p:nvSpPr>
          <p:cNvPr id="54" name="Text 52"/>
          <p:cNvSpPr/>
          <p:nvPr/>
        </p:nvSpPr>
        <p:spPr>
          <a:xfrm>
            <a:off x="4434840" y="5458968"/>
            <a:ext cx="3520440" cy="219456"/>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UserDelete</a:t>
            </a:r>
            <a:endParaRPr lang="en-US" sz="900" dirty="0"/>
          </a:p>
        </p:txBody>
      </p:sp>
      <p:sp>
        <p:nvSpPr>
          <p:cNvPr id="55" name="Text 53"/>
          <p:cNvSpPr/>
          <p:nvPr/>
        </p:nvSpPr>
        <p:spPr>
          <a:xfrm>
            <a:off x="4434840" y="5660136"/>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eliminar un usuario del sistema</a:t>
            </a:r>
            <a:endParaRPr lang="en-US" sz="850" dirty="0"/>
          </a:p>
        </p:txBody>
      </p:sp>
      <p:sp>
        <p:nvSpPr>
          <p:cNvPr id="56" name="Text 54"/>
          <p:cNvSpPr/>
          <p:nvPr/>
        </p:nvSpPr>
        <p:spPr>
          <a:xfrm>
            <a:off x="4434840" y="5934456"/>
            <a:ext cx="3520440" cy="219456"/>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BackupCompleted</a:t>
            </a:r>
            <a:endParaRPr lang="en-US" sz="900" dirty="0"/>
          </a:p>
        </p:txBody>
      </p:sp>
      <p:sp>
        <p:nvSpPr>
          <p:cNvPr id="57" name="Text 55"/>
          <p:cNvSpPr/>
          <p:nvPr/>
        </p:nvSpPr>
        <p:spPr>
          <a:xfrm>
            <a:off x="4434840" y="6135624"/>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completar backup BD manual o programado → super admin</a:t>
            </a:r>
            <a:endParaRPr lang="en-US" sz="850" dirty="0"/>
          </a:p>
        </p:txBody>
      </p:sp>
      <p:sp>
        <p:nvSpPr>
          <p:cNvPr id="58" name="Shape 56"/>
          <p:cNvSpPr/>
          <p:nvPr/>
        </p:nvSpPr>
        <p:spPr>
          <a:xfrm>
            <a:off x="8275320" y="3995928"/>
            <a:ext cx="3767328" cy="2286000"/>
          </a:xfrm>
          <a:prstGeom prst="roundRect">
            <a:avLst>
              <a:gd name="adj" fmla="val 3600"/>
            </a:avLst>
          </a:prstGeom>
          <a:solidFill>
            <a:srgbClr val="F3F4F6"/>
          </a:solidFill>
          <a:ln/>
          <a:effectLst>
            <a:outerShdw sx="100000" sy="100000" kx="0" ky="0" algn="bl" rotWithShape="0" blurRad="38100" dist="12700" dir="16200000">
              <a:srgbClr val="000000">
                <a:alpha val="75000"/>
              </a:srgbClr>
            </a:outerShdw>
          </a:effectLst>
        </p:spPr>
      </p:sp>
      <p:sp>
        <p:nvSpPr>
          <p:cNvPr id="59" name="Shape 57"/>
          <p:cNvSpPr/>
          <p:nvPr/>
        </p:nvSpPr>
        <p:spPr>
          <a:xfrm>
            <a:off x="8275320" y="3995928"/>
            <a:ext cx="3767328" cy="438912"/>
          </a:xfrm>
          <a:prstGeom prst="roundRect">
            <a:avLst>
              <a:gd name="adj" fmla="val 18750"/>
            </a:avLst>
          </a:prstGeom>
          <a:solidFill>
            <a:srgbClr val="DC2626"/>
          </a:solidFill>
          <a:ln/>
        </p:spPr>
      </p:sp>
      <p:sp>
        <p:nvSpPr>
          <p:cNvPr id="60" name="Shape 58"/>
          <p:cNvSpPr/>
          <p:nvPr/>
        </p:nvSpPr>
        <p:spPr>
          <a:xfrm>
            <a:off x="8275320" y="4215384"/>
            <a:ext cx="3767328" cy="219456"/>
          </a:xfrm>
          <a:prstGeom prst="rect">
            <a:avLst/>
          </a:prstGeom>
          <a:solidFill>
            <a:srgbClr val="DC2626"/>
          </a:solidFill>
          <a:ln/>
        </p:spPr>
      </p:sp>
      <p:sp>
        <p:nvSpPr>
          <p:cNvPr id="61" name="Text 59"/>
          <p:cNvSpPr/>
          <p:nvPr/>
        </p:nvSpPr>
        <p:spPr>
          <a:xfrm>
            <a:off x="8366760" y="4050792"/>
            <a:ext cx="35661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Contacto Público</a:t>
            </a:r>
            <a:endParaRPr lang="en-US" sz="1100" dirty="0"/>
          </a:p>
        </p:txBody>
      </p:sp>
      <p:sp>
        <p:nvSpPr>
          <p:cNvPr id="62" name="Text 60"/>
          <p:cNvSpPr/>
          <p:nvPr/>
        </p:nvSpPr>
        <p:spPr>
          <a:xfrm>
            <a:off x="8412480" y="4507992"/>
            <a:ext cx="3520440" cy="219456"/>
          </a:xfrm>
          <a:prstGeom prst="rect">
            <a:avLst/>
          </a:prstGeom>
          <a:noFill/>
          <a:ln/>
        </p:spPr>
        <p:txBody>
          <a:bodyPr wrap="square"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ContactFormMail</a:t>
            </a:r>
            <a:endParaRPr lang="en-US" sz="900" dirty="0"/>
          </a:p>
        </p:txBody>
      </p:sp>
      <p:sp>
        <p:nvSpPr>
          <p:cNvPr id="63" name="Text 61"/>
          <p:cNvSpPr/>
          <p:nvPr/>
        </p:nvSpPr>
        <p:spPr>
          <a:xfrm>
            <a:off x="8412480" y="4709160"/>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enviar formulario de contacto desde Home → al admin</a:t>
            </a:r>
            <a:endParaRPr lang="en-US" sz="850" dirty="0"/>
          </a:p>
        </p:txBody>
      </p:sp>
      <p:sp>
        <p:nvSpPr>
          <p:cNvPr id="64" name="Text 62"/>
          <p:cNvSpPr/>
          <p:nvPr/>
        </p:nvSpPr>
        <p:spPr>
          <a:xfrm>
            <a:off x="8412480" y="4983480"/>
            <a:ext cx="3520440" cy="219456"/>
          </a:xfrm>
          <a:prstGeom prst="rect">
            <a:avLst/>
          </a:prstGeom>
          <a:noFill/>
          <a:ln/>
        </p:spPr>
        <p:txBody>
          <a:bodyPr wrap="square"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ContactConfirmationMail</a:t>
            </a:r>
            <a:endParaRPr lang="en-US" sz="900" dirty="0"/>
          </a:p>
        </p:txBody>
      </p:sp>
      <p:sp>
        <p:nvSpPr>
          <p:cNvPr id="65" name="Text 63"/>
          <p:cNvSpPr/>
          <p:nvPr/>
        </p:nvSpPr>
        <p:spPr>
          <a:xfrm>
            <a:off x="8412480" y="5184648"/>
            <a:ext cx="3520440" cy="219456"/>
          </a:xfrm>
          <a:prstGeom prst="rect">
            <a:avLst/>
          </a:prstGeom>
          <a:noFill/>
          <a:ln/>
        </p:spPr>
        <p:txBody>
          <a:bodyPr wrap="square" rtlCol="0" anchor="ctr"/>
          <a:lstStyle/>
          <a:p>
            <a:pPr indent="0" marL="0">
              <a:buNone/>
            </a:pPr>
            <a:r>
              <a:rPr lang="en-US" sz="850" dirty="0">
                <a:solidFill>
                  <a:srgbClr val="6B7280"/>
                </a:solidFill>
                <a:latin typeface="Calibri" pitchFamily="34" charset="0"/>
                <a:ea typeface="Calibri" pitchFamily="34" charset="-122"/>
                <a:cs typeface="Calibri" pitchFamily="34" charset="-120"/>
              </a:rPr>
              <a:t>Al enviar formulario → confirmación al usuario que contactó</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Comandos Artisan Programados — 6 Cron Jobs Automáticos</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960120"/>
            <a:ext cx="11475720" cy="411480"/>
          </a:xfrm>
          <a:prstGeom prst="roundRect">
            <a:avLst>
              <a:gd name="adj" fmla="val 15556"/>
            </a:avLst>
          </a:prstGeom>
          <a:solidFill>
            <a:srgbClr val="DBEAFE"/>
          </a:solidFill>
          <a:ln/>
        </p:spPr>
      </p:sp>
      <p:sp>
        <p:nvSpPr>
          <p:cNvPr id="7" name="Text 5"/>
          <p:cNvSpPr/>
          <p:nvPr/>
        </p:nvSpPr>
        <p:spPr>
          <a:xfrm>
            <a:off x="457200" y="978408"/>
            <a:ext cx="11155680" cy="374904"/>
          </a:xfrm>
          <a:prstGeom prst="rect">
            <a:avLst/>
          </a:prstGeom>
          <a:noFill/>
          <a:ln/>
        </p:spPr>
        <p:txBody>
          <a:bodyPr wrap="square" rtlCol="0" anchor="ctr"/>
          <a:lstStyle/>
          <a:p>
            <a:pPr indent="0" marL="0">
              <a:buNone/>
            </a:pPr>
            <a:r>
              <a:rPr lang="en-US" sz="1000" dirty="0">
                <a:solidFill>
                  <a:srgbClr val="1A3C5E"/>
                </a:solidFill>
                <a:latin typeface="Calibri" pitchFamily="34" charset="0"/>
                <a:ea typeface="Calibri" pitchFamily="34" charset="-122"/>
                <a:cs typeface="Calibri" pitchFamily="34" charset="-120"/>
              </a:rPr>
              <a:t>Todos registrados en app/Console/Kernel.php via $schedule-&gt;command()-&gt;daily() / -&gt;weekly(Monday) etc.</a:t>
            </a:r>
            <a:endParaRPr lang="en-US" sz="1000" dirty="0"/>
          </a:p>
        </p:txBody>
      </p:sp>
      <p:sp>
        <p:nvSpPr>
          <p:cNvPr id="8" name="Shape 6"/>
          <p:cNvSpPr/>
          <p:nvPr/>
        </p:nvSpPr>
        <p:spPr>
          <a:xfrm>
            <a:off x="320040" y="146304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9" name="Shape 7"/>
          <p:cNvSpPr/>
          <p:nvPr/>
        </p:nvSpPr>
        <p:spPr>
          <a:xfrm>
            <a:off x="320040" y="1463040"/>
            <a:ext cx="2926080" cy="768096"/>
          </a:xfrm>
          <a:prstGeom prst="roundRect">
            <a:avLst>
              <a:gd name="adj" fmla="val 9524"/>
            </a:avLst>
          </a:prstGeom>
          <a:solidFill>
            <a:srgbClr val="059669"/>
          </a:solidFill>
          <a:ln/>
        </p:spPr>
      </p:sp>
      <p:sp>
        <p:nvSpPr>
          <p:cNvPr id="10" name="Shape 8"/>
          <p:cNvSpPr/>
          <p:nvPr/>
        </p:nvSpPr>
        <p:spPr>
          <a:xfrm>
            <a:off x="914400" y="1463040"/>
            <a:ext cx="2331720" cy="768096"/>
          </a:xfrm>
          <a:prstGeom prst="rect">
            <a:avLst/>
          </a:prstGeom>
          <a:solidFill>
            <a:srgbClr val="059669"/>
          </a:solidFill>
          <a:ln/>
        </p:spPr>
      </p:sp>
      <p:sp>
        <p:nvSpPr>
          <p:cNvPr id="11" name="Text 9"/>
          <p:cNvSpPr/>
          <p:nvPr/>
        </p:nvSpPr>
        <p:spPr>
          <a:xfrm>
            <a:off x="402336" y="150876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convocatoria:update-status</a:t>
            </a:r>
            <a:endParaRPr lang="en-US" sz="900" dirty="0"/>
          </a:p>
        </p:txBody>
      </p:sp>
      <p:sp>
        <p:nvSpPr>
          <p:cNvPr id="12" name="Shape 10"/>
          <p:cNvSpPr/>
          <p:nvPr/>
        </p:nvSpPr>
        <p:spPr>
          <a:xfrm>
            <a:off x="402336" y="1883664"/>
            <a:ext cx="1188720" cy="274320"/>
          </a:xfrm>
          <a:prstGeom prst="roundRect">
            <a:avLst>
              <a:gd name="adj" fmla="val 13333"/>
            </a:avLst>
          </a:prstGeom>
          <a:solidFill>
            <a:srgbClr val="2A5C3E"/>
          </a:solidFill>
          <a:ln/>
        </p:spPr>
      </p:sp>
      <p:sp>
        <p:nvSpPr>
          <p:cNvPr id="13" name="Text 11"/>
          <p:cNvSpPr/>
          <p:nvPr/>
        </p:nvSpPr>
        <p:spPr>
          <a:xfrm>
            <a:off x="402336" y="188366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Diario</a:t>
            </a:r>
            <a:endParaRPr lang="en-US" sz="850" dirty="0"/>
          </a:p>
        </p:txBody>
      </p:sp>
      <p:sp>
        <p:nvSpPr>
          <p:cNvPr id="14" name="Text 12"/>
          <p:cNvSpPr/>
          <p:nvPr/>
        </p:nvSpPr>
        <p:spPr>
          <a:xfrm>
            <a:off x="1691640" y="188366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Automático · 00:00 cada día</a:t>
            </a:r>
            <a:endParaRPr lang="en-US" sz="750" dirty="0"/>
          </a:p>
        </p:txBody>
      </p:sp>
      <p:sp>
        <p:nvSpPr>
          <p:cNvPr id="15" name="Text 13"/>
          <p:cNvSpPr/>
          <p:nvPr/>
        </p:nvSpPr>
        <p:spPr>
          <a:xfrm>
            <a:off x="3383280" y="152704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Por cada Announcement activa: carga su Calendar. Compara cada fecha con Carbon::today(). Si la fecha de inicio de la siguiente etapa ha llegado → actualiza announcement.status. Si el status cambió → NotificationService::notifyAnnouncementStageChange().</a:t>
            </a:r>
            <a:endParaRPr lang="en-US" sz="950" dirty="0"/>
          </a:p>
        </p:txBody>
      </p:sp>
      <p:sp>
        <p:nvSpPr>
          <p:cNvPr id="16" name="Shape 14"/>
          <p:cNvSpPr/>
          <p:nvPr/>
        </p:nvSpPr>
        <p:spPr>
          <a:xfrm>
            <a:off x="320040" y="233172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17" name="Shape 15"/>
          <p:cNvSpPr/>
          <p:nvPr/>
        </p:nvSpPr>
        <p:spPr>
          <a:xfrm>
            <a:off x="320040" y="2331720"/>
            <a:ext cx="2926080" cy="768096"/>
          </a:xfrm>
          <a:prstGeom prst="roundRect">
            <a:avLst>
              <a:gd name="adj" fmla="val 9524"/>
            </a:avLst>
          </a:prstGeom>
          <a:solidFill>
            <a:srgbClr val="CA8A04"/>
          </a:solidFill>
          <a:ln/>
        </p:spPr>
      </p:sp>
      <p:sp>
        <p:nvSpPr>
          <p:cNvPr id="18" name="Shape 16"/>
          <p:cNvSpPr/>
          <p:nvPr/>
        </p:nvSpPr>
        <p:spPr>
          <a:xfrm>
            <a:off x="914400" y="2331720"/>
            <a:ext cx="2331720" cy="768096"/>
          </a:xfrm>
          <a:prstGeom prst="rect">
            <a:avLst/>
          </a:prstGeom>
          <a:solidFill>
            <a:srgbClr val="CA8A04"/>
          </a:solidFill>
          <a:ln/>
        </p:spPr>
      </p:sp>
      <p:sp>
        <p:nvSpPr>
          <p:cNvPr id="19" name="Text 17"/>
          <p:cNvSpPr/>
          <p:nvPr/>
        </p:nvSpPr>
        <p:spPr>
          <a:xfrm>
            <a:off x="402336" y="237744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evaluations:remind</a:t>
            </a:r>
            <a:endParaRPr lang="en-US" sz="900" dirty="0"/>
          </a:p>
        </p:txBody>
      </p:sp>
      <p:sp>
        <p:nvSpPr>
          <p:cNvPr id="20" name="Shape 18"/>
          <p:cNvSpPr/>
          <p:nvPr/>
        </p:nvSpPr>
        <p:spPr>
          <a:xfrm>
            <a:off x="402336" y="2752344"/>
            <a:ext cx="1188720" cy="274320"/>
          </a:xfrm>
          <a:prstGeom prst="roundRect">
            <a:avLst>
              <a:gd name="adj" fmla="val 13333"/>
            </a:avLst>
          </a:prstGeom>
          <a:solidFill>
            <a:srgbClr val="2A5C3E"/>
          </a:solidFill>
          <a:ln/>
        </p:spPr>
      </p:sp>
      <p:sp>
        <p:nvSpPr>
          <p:cNvPr id="21" name="Text 19"/>
          <p:cNvSpPr/>
          <p:nvPr/>
        </p:nvSpPr>
        <p:spPr>
          <a:xfrm>
            <a:off x="402336" y="275234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Diario</a:t>
            </a:r>
            <a:endParaRPr lang="en-US" sz="850" dirty="0"/>
          </a:p>
        </p:txBody>
      </p:sp>
      <p:sp>
        <p:nvSpPr>
          <p:cNvPr id="22" name="Text 20"/>
          <p:cNvSpPr/>
          <p:nvPr/>
        </p:nvSpPr>
        <p:spPr>
          <a:xfrm>
            <a:off x="1691640" y="275234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Automático · 08:00 cada día</a:t>
            </a:r>
            <a:endParaRPr lang="en-US" sz="750" dirty="0"/>
          </a:p>
        </p:txBody>
      </p:sp>
      <p:sp>
        <p:nvSpPr>
          <p:cNvPr id="23" name="Text 21"/>
          <p:cNvSpPr/>
          <p:nvPr/>
        </p:nvSpPr>
        <p:spPr>
          <a:xfrm>
            <a:off x="3383280" y="239572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Busca Evaluation { status = 'pending' } donde deadline_at - today() &lt;= 2 días hábiles Y no se ha enviado reminder. Llama NotificationService::notifyEvaluatorReminder(Evaluation).</a:t>
            </a:r>
            <a:endParaRPr lang="en-US" sz="950" dirty="0"/>
          </a:p>
        </p:txBody>
      </p:sp>
      <p:sp>
        <p:nvSpPr>
          <p:cNvPr id="24" name="Shape 22"/>
          <p:cNvSpPr/>
          <p:nvPr/>
        </p:nvSpPr>
        <p:spPr>
          <a:xfrm>
            <a:off x="320040" y="320040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25" name="Shape 23"/>
          <p:cNvSpPr/>
          <p:nvPr/>
        </p:nvSpPr>
        <p:spPr>
          <a:xfrm>
            <a:off x="320040" y="3200400"/>
            <a:ext cx="2926080" cy="768096"/>
          </a:xfrm>
          <a:prstGeom prst="roundRect">
            <a:avLst>
              <a:gd name="adj" fmla="val 9524"/>
            </a:avLst>
          </a:prstGeom>
          <a:solidFill>
            <a:srgbClr val="DC2626"/>
          </a:solidFill>
          <a:ln/>
        </p:spPr>
      </p:sp>
      <p:sp>
        <p:nvSpPr>
          <p:cNvPr id="26" name="Shape 24"/>
          <p:cNvSpPr/>
          <p:nvPr/>
        </p:nvSpPr>
        <p:spPr>
          <a:xfrm>
            <a:off x="914400" y="3200400"/>
            <a:ext cx="2331720" cy="768096"/>
          </a:xfrm>
          <a:prstGeom prst="rect">
            <a:avLst/>
          </a:prstGeom>
          <a:solidFill>
            <a:srgbClr val="DC2626"/>
          </a:solidFill>
          <a:ln/>
        </p:spPr>
      </p:sp>
      <p:sp>
        <p:nvSpPr>
          <p:cNvPr id="27" name="Text 25"/>
          <p:cNvSpPr/>
          <p:nvPr/>
        </p:nvSpPr>
        <p:spPr>
          <a:xfrm>
            <a:off x="402336" y="324612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evaluations:expire</a:t>
            </a:r>
            <a:endParaRPr lang="en-US" sz="900" dirty="0"/>
          </a:p>
        </p:txBody>
      </p:sp>
      <p:sp>
        <p:nvSpPr>
          <p:cNvPr id="28" name="Shape 26"/>
          <p:cNvSpPr/>
          <p:nvPr/>
        </p:nvSpPr>
        <p:spPr>
          <a:xfrm>
            <a:off x="402336" y="3621024"/>
            <a:ext cx="1188720" cy="274320"/>
          </a:xfrm>
          <a:prstGeom prst="roundRect">
            <a:avLst>
              <a:gd name="adj" fmla="val 13333"/>
            </a:avLst>
          </a:prstGeom>
          <a:solidFill>
            <a:srgbClr val="2A5C3E"/>
          </a:solidFill>
          <a:ln/>
        </p:spPr>
      </p:sp>
      <p:sp>
        <p:nvSpPr>
          <p:cNvPr id="29" name="Text 27"/>
          <p:cNvSpPr/>
          <p:nvPr/>
        </p:nvSpPr>
        <p:spPr>
          <a:xfrm>
            <a:off x="402336" y="362102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Diario</a:t>
            </a:r>
            <a:endParaRPr lang="en-US" sz="850" dirty="0"/>
          </a:p>
        </p:txBody>
      </p:sp>
      <p:sp>
        <p:nvSpPr>
          <p:cNvPr id="30" name="Text 28"/>
          <p:cNvSpPr/>
          <p:nvPr/>
        </p:nvSpPr>
        <p:spPr>
          <a:xfrm>
            <a:off x="1691640" y="362102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Automático · 01:00 cada día</a:t>
            </a:r>
            <a:endParaRPr lang="en-US" sz="750" dirty="0"/>
          </a:p>
        </p:txBody>
      </p:sp>
      <p:sp>
        <p:nvSpPr>
          <p:cNvPr id="31" name="Text 29"/>
          <p:cNvSpPr/>
          <p:nvPr/>
        </p:nvSpPr>
        <p:spPr>
          <a:xfrm>
            <a:off x="3383280" y="326440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Busca Evaluation { status = 'pending', deadline_at &lt; Carbon::now() }. Actualiza status = 'expired'. Sin notificación. El admin lo visualiza en el panel de solicitudes.</a:t>
            </a:r>
            <a:endParaRPr lang="en-US" sz="950" dirty="0"/>
          </a:p>
        </p:txBody>
      </p:sp>
      <p:sp>
        <p:nvSpPr>
          <p:cNvPr id="32" name="Shape 30"/>
          <p:cNvSpPr/>
          <p:nvPr/>
        </p:nvSpPr>
        <p:spPr>
          <a:xfrm>
            <a:off x="320040" y="406908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33" name="Shape 31"/>
          <p:cNvSpPr/>
          <p:nvPr/>
        </p:nvSpPr>
        <p:spPr>
          <a:xfrm>
            <a:off x="320040" y="4069080"/>
            <a:ext cx="2926080" cy="768096"/>
          </a:xfrm>
          <a:prstGeom prst="roundRect">
            <a:avLst>
              <a:gd name="adj" fmla="val 9524"/>
            </a:avLst>
          </a:prstGeom>
          <a:solidFill>
            <a:srgbClr val="7C3AED"/>
          </a:solidFill>
          <a:ln/>
        </p:spPr>
      </p:sp>
      <p:sp>
        <p:nvSpPr>
          <p:cNvPr id="34" name="Shape 32"/>
          <p:cNvSpPr/>
          <p:nvPr/>
        </p:nvSpPr>
        <p:spPr>
          <a:xfrm>
            <a:off x="914400" y="4069080"/>
            <a:ext cx="2331720" cy="768096"/>
          </a:xfrm>
          <a:prstGeom prst="rect">
            <a:avLst/>
          </a:prstGeom>
          <a:solidFill>
            <a:srgbClr val="7C3AED"/>
          </a:solidFill>
          <a:ln/>
        </p:spPr>
      </p:sp>
      <p:sp>
        <p:nvSpPr>
          <p:cNvPr id="35" name="Text 33"/>
          <p:cNvSpPr/>
          <p:nvPr/>
        </p:nvSpPr>
        <p:spPr>
          <a:xfrm>
            <a:off x="402336" y="411480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notifications:send-weekly</a:t>
            </a:r>
            <a:endParaRPr lang="en-US" sz="900" dirty="0"/>
          </a:p>
        </p:txBody>
      </p:sp>
      <p:sp>
        <p:nvSpPr>
          <p:cNvPr id="36" name="Shape 34"/>
          <p:cNvSpPr/>
          <p:nvPr/>
        </p:nvSpPr>
        <p:spPr>
          <a:xfrm>
            <a:off x="402336" y="4489704"/>
            <a:ext cx="1188720" cy="274320"/>
          </a:xfrm>
          <a:prstGeom prst="roundRect">
            <a:avLst>
              <a:gd name="adj" fmla="val 13333"/>
            </a:avLst>
          </a:prstGeom>
          <a:solidFill>
            <a:srgbClr val="2A5C3E"/>
          </a:solidFill>
          <a:ln/>
        </p:spPr>
      </p:sp>
      <p:sp>
        <p:nvSpPr>
          <p:cNvPr id="37" name="Text 35"/>
          <p:cNvSpPr/>
          <p:nvPr/>
        </p:nvSpPr>
        <p:spPr>
          <a:xfrm>
            <a:off x="402336" y="448970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Viernes</a:t>
            </a:r>
            <a:endParaRPr lang="en-US" sz="850" dirty="0"/>
          </a:p>
        </p:txBody>
      </p:sp>
      <p:sp>
        <p:nvSpPr>
          <p:cNvPr id="38" name="Text 36"/>
          <p:cNvSpPr/>
          <p:nvPr/>
        </p:nvSpPr>
        <p:spPr>
          <a:xfrm>
            <a:off x="1691640" y="448970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Viernes · 09:00</a:t>
            </a:r>
            <a:endParaRPr lang="en-US" sz="750" dirty="0"/>
          </a:p>
        </p:txBody>
      </p:sp>
      <p:sp>
        <p:nvSpPr>
          <p:cNvPr id="39" name="Text 37"/>
          <p:cNvSpPr/>
          <p:nvPr/>
        </p:nvSpPr>
        <p:spPr>
          <a:xfrm>
            <a:off x="3383280" y="413308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Genera estadísticas de la semana: solicitudes nuevas, en revisión, aprobadas, rechazadas. Construye WeeklyApplicationsSummary y lo envía a todos los usuarios con rol Admin.</a:t>
            </a:r>
            <a:endParaRPr lang="en-US" sz="950" dirty="0"/>
          </a:p>
        </p:txBody>
      </p:sp>
      <p:sp>
        <p:nvSpPr>
          <p:cNvPr id="40" name="Shape 38"/>
          <p:cNvSpPr/>
          <p:nvPr/>
        </p:nvSpPr>
        <p:spPr>
          <a:xfrm>
            <a:off x="320040" y="493776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41" name="Shape 39"/>
          <p:cNvSpPr/>
          <p:nvPr/>
        </p:nvSpPr>
        <p:spPr>
          <a:xfrm>
            <a:off x="320040" y="4937760"/>
            <a:ext cx="2926080" cy="768096"/>
          </a:xfrm>
          <a:prstGeom prst="roundRect">
            <a:avLst>
              <a:gd name="adj" fmla="val 9524"/>
            </a:avLst>
          </a:prstGeom>
          <a:solidFill>
            <a:srgbClr val="1A3C5E"/>
          </a:solidFill>
          <a:ln/>
        </p:spPr>
      </p:sp>
      <p:sp>
        <p:nvSpPr>
          <p:cNvPr id="42" name="Shape 40"/>
          <p:cNvSpPr/>
          <p:nvPr/>
        </p:nvSpPr>
        <p:spPr>
          <a:xfrm>
            <a:off x="914400" y="4937760"/>
            <a:ext cx="2331720" cy="768096"/>
          </a:xfrm>
          <a:prstGeom prst="rect">
            <a:avLst/>
          </a:prstGeom>
          <a:solidFill>
            <a:srgbClr val="1A3C5E"/>
          </a:solidFill>
          <a:ln/>
        </p:spPr>
      </p:sp>
      <p:sp>
        <p:nvSpPr>
          <p:cNvPr id="43" name="Text 41"/>
          <p:cNvSpPr/>
          <p:nvPr/>
        </p:nvSpPr>
        <p:spPr>
          <a:xfrm>
            <a:off x="402336" y="498348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backup:run-scheduled</a:t>
            </a:r>
            <a:endParaRPr lang="en-US" sz="900" dirty="0"/>
          </a:p>
        </p:txBody>
      </p:sp>
      <p:sp>
        <p:nvSpPr>
          <p:cNvPr id="44" name="Shape 42"/>
          <p:cNvSpPr/>
          <p:nvPr/>
        </p:nvSpPr>
        <p:spPr>
          <a:xfrm>
            <a:off x="402336" y="5358384"/>
            <a:ext cx="1188720" cy="274320"/>
          </a:xfrm>
          <a:prstGeom prst="roundRect">
            <a:avLst>
              <a:gd name="adj" fmla="val 13333"/>
            </a:avLst>
          </a:prstGeom>
          <a:solidFill>
            <a:srgbClr val="2A5C3E"/>
          </a:solidFill>
          <a:ln/>
        </p:spPr>
      </p:sp>
      <p:sp>
        <p:nvSpPr>
          <p:cNvPr id="45" name="Text 43"/>
          <p:cNvSpPr/>
          <p:nvPr/>
        </p:nvSpPr>
        <p:spPr>
          <a:xfrm>
            <a:off x="402336" y="535838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Variable</a:t>
            </a:r>
            <a:endParaRPr lang="en-US" sz="850" dirty="0"/>
          </a:p>
        </p:txBody>
      </p:sp>
      <p:sp>
        <p:nvSpPr>
          <p:cNvPr id="46" name="Text 44"/>
          <p:cNvSpPr/>
          <p:nvPr/>
        </p:nvSpPr>
        <p:spPr>
          <a:xfrm>
            <a:off x="1691640" y="535838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Variable (configurado via panel SuperAdmin)</a:t>
            </a:r>
            <a:endParaRPr lang="en-US" sz="750" dirty="0"/>
          </a:p>
        </p:txBody>
      </p:sp>
      <p:sp>
        <p:nvSpPr>
          <p:cNvPr id="47" name="Text 45"/>
          <p:cNvSpPr/>
          <p:nvPr/>
        </p:nvSpPr>
        <p:spPr>
          <a:xfrm>
            <a:off x="3383280" y="500176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Revisa BackupSchedule records activos. Ejecuta backup full o incremental según configuración. Comprime BD, almacena en storage y crea registro Backup. Envía BackupCompleted a super admins.</a:t>
            </a:r>
            <a:endParaRPr lang="en-US" sz="950" dirty="0"/>
          </a:p>
        </p:txBody>
      </p:sp>
      <p:sp>
        <p:nvSpPr>
          <p:cNvPr id="48" name="Shape 46"/>
          <p:cNvSpPr/>
          <p:nvPr/>
        </p:nvSpPr>
        <p:spPr>
          <a:xfrm>
            <a:off x="320040" y="5806440"/>
            <a:ext cx="11475720" cy="768096"/>
          </a:xfrm>
          <a:prstGeom prst="roundRect">
            <a:avLst>
              <a:gd name="adj" fmla="val 9524"/>
            </a:avLst>
          </a:prstGeom>
          <a:solidFill>
            <a:srgbClr val="FFFFFF"/>
          </a:solidFill>
          <a:ln/>
          <a:effectLst>
            <a:outerShdw sx="100000" sy="100000" kx="0" ky="0" algn="bl" rotWithShape="0" blurRad="38100" dist="12700" dir="16200000">
              <a:srgbClr val="000000">
                <a:alpha val="75000"/>
              </a:srgbClr>
            </a:outerShdw>
          </a:effectLst>
        </p:spPr>
      </p:sp>
      <p:sp>
        <p:nvSpPr>
          <p:cNvPr id="49" name="Shape 47"/>
          <p:cNvSpPr/>
          <p:nvPr/>
        </p:nvSpPr>
        <p:spPr>
          <a:xfrm>
            <a:off x="320040" y="5806440"/>
            <a:ext cx="2926080" cy="768096"/>
          </a:xfrm>
          <a:prstGeom prst="roundRect">
            <a:avLst>
              <a:gd name="adj" fmla="val 9524"/>
            </a:avLst>
          </a:prstGeom>
          <a:solidFill>
            <a:srgbClr val="475569"/>
          </a:solidFill>
          <a:ln/>
        </p:spPr>
      </p:sp>
      <p:sp>
        <p:nvSpPr>
          <p:cNvPr id="50" name="Shape 48"/>
          <p:cNvSpPr/>
          <p:nvPr/>
        </p:nvSpPr>
        <p:spPr>
          <a:xfrm>
            <a:off x="914400" y="5806440"/>
            <a:ext cx="2331720" cy="768096"/>
          </a:xfrm>
          <a:prstGeom prst="rect">
            <a:avLst/>
          </a:prstGeom>
          <a:solidFill>
            <a:srgbClr val="475569"/>
          </a:solidFill>
          <a:ln/>
        </p:spPr>
      </p:sp>
      <p:sp>
        <p:nvSpPr>
          <p:cNvPr id="51" name="Text 49"/>
          <p:cNvSpPr/>
          <p:nvPr/>
        </p:nvSpPr>
        <p:spPr>
          <a:xfrm>
            <a:off x="402336" y="5852160"/>
            <a:ext cx="2788920" cy="347472"/>
          </a:xfrm>
          <a:prstGeom prst="rect">
            <a:avLst/>
          </a:prstGeom>
          <a:noFill/>
          <a:ln/>
        </p:spPr>
        <p:txBody>
          <a:bodyPr wrap="square" rtlCol="0" anchor="ctr"/>
          <a:lstStyle/>
          <a:p>
            <a:pPr indent="0" marL="0">
              <a:buNone/>
            </a:pPr>
            <a:r>
              <a:rPr lang="en-US" sz="900" b="1" dirty="0">
                <a:solidFill>
                  <a:srgbClr val="FFFFFF"/>
                </a:solidFill>
                <a:latin typeface="Calibri Mono" pitchFamily="34" charset="0"/>
                <a:ea typeface="Calibri Mono" pitchFamily="34" charset="-122"/>
                <a:cs typeface="Calibri Mono" pitchFamily="34" charset="-120"/>
              </a:rPr>
              <a:t>fix-permissions</a:t>
            </a:r>
            <a:endParaRPr lang="en-US" sz="900" dirty="0"/>
          </a:p>
        </p:txBody>
      </p:sp>
      <p:sp>
        <p:nvSpPr>
          <p:cNvPr id="52" name="Shape 50"/>
          <p:cNvSpPr/>
          <p:nvPr/>
        </p:nvSpPr>
        <p:spPr>
          <a:xfrm>
            <a:off x="402336" y="6227064"/>
            <a:ext cx="1188720" cy="274320"/>
          </a:xfrm>
          <a:prstGeom prst="roundRect">
            <a:avLst>
              <a:gd name="adj" fmla="val 13333"/>
            </a:avLst>
          </a:prstGeom>
          <a:solidFill>
            <a:srgbClr val="2A5C3E"/>
          </a:solidFill>
          <a:ln/>
        </p:spPr>
      </p:sp>
      <p:sp>
        <p:nvSpPr>
          <p:cNvPr id="53" name="Text 51"/>
          <p:cNvSpPr/>
          <p:nvPr/>
        </p:nvSpPr>
        <p:spPr>
          <a:xfrm>
            <a:off x="402336" y="6227064"/>
            <a:ext cx="11887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Manual</a:t>
            </a:r>
            <a:endParaRPr lang="en-US" sz="850" dirty="0"/>
          </a:p>
        </p:txBody>
      </p:sp>
      <p:sp>
        <p:nvSpPr>
          <p:cNvPr id="54" name="Text 52"/>
          <p:cNvSpPr/>
          <p:nvPr/>
        </p:nvSpPr>
        <p:spPr>
          <a:xfrm>
            <a:off x="1691640" y="6227064"/>
            <a:ext cx="1463040" cy="274320"/>
          </a:xfrm>
          <a:prstGeom prst="rect">
            <a:avLst/>
          </a:prstGeom>
          <a:noFill/>
          <a:ln/>
        </p:spPr>
        <p:txBody>
          <a:bodyPr wrap="square" rtlCol="0" anchor="ctr"/>
          <a:lstStyle/>
          <a:p>
            <a:pPr indent="0" marL="0">
              <a:buNone/>
            </a:pPr>
            <a:r>
              <a:rPr lang="en-US" sz="750" dirty="0">
                <a:solidFill>
                  <a:srgbClr val="D1FAE5"/>
                </a:solidFill>
                <a:latin typeface="Calibri" pitchFamily="34" charset="0"/>
                <a:ea typeface="Calibri" pitchFamily="34" charset="-122"/>
                <a:cs typeface="Calibri" pitchFamily="34" charset="-120"/>
              </a:rPr>
              <a:t>Manual · php artisan fix-permissions</a:t>
            </a:r>
            <a:endParaRPr lang="en-US" sz="750" dirty="0"/>
          </a:p>
        </p:txBody>
      </p:sp>
      <p:sp>
        <p:nvSpPr>
          <p:cNvPr id="55" name="Text 53"/>
          <p:cNvSpPr/>
          <p:nvPr/>
        </p:nvSpPr>
        <p:spPr>
          <a:xfrm>
            <a:off x="3383280" y="5870448"/>
            <a:ext cx="8275320" cy="65836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Recorre la lista maestra de permissions definida en el seeder. Para cada permiso verifica que exista y esté asignado correctamente a los roles correspondientes. No envía notificaciones.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Seguridad y Autenticación — Múltiples Capas de Protección</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5760720" cy="2514600"/>
          </a:xfrm>
          <a:prstGeom prst="roundRect">
            <a:avLst>
              <a:gd name="adj" fmla="val 3636"/>
            </a:avLst>
          </a:prstGeom>
          <a:solidFill>
            <a:srgbClr val="F3F4F6"/>
          </a:solidFill>
          <a:ln/>
          <a:effectLst>
            <a:outerShdw sx="100000" sy="100000" kx="0" ky="0" algn="bl" rotWithShape="0" blurRad="50800" dist="25400" dir="16200000">
              <a:srgbClr val="000000">
                <a:alpha val="75000"/>
              </a:srgbClr>
            </a:outerShdw>
          </a:effectLst>
        </p:spPr>
      </p:sp>
      <p:sp>
        <p:nvSpPr>
          <p:cNvPr id="7" name="Shape 5"/>
          <p:cNvSpPr/>
          <p:nvPr/>
        </p:nvSpPr>
        <p:spPr>
          <a:xfrm>
            <a:off x="320040" y="1005840"/>
            <a:ext cx="5760720" cy="566928"/>
          </a:xfrm>
          <a:prstGeom prst="roundRect">
            <a:avLst>
              <a:gd name="adj" fmla="val 16129"/>
            </a:avLst>
          </a:prstGeom>
          <a:solidFill>
            <a:srgbClr val="7C3AED"/>
          </a:solidFill>
          <a:ln/>
        </p:spPr>
      </p:sp>
      <p:sp>
        <p:nvSpPr>
          <p:cNvPr id="8" name="Shape 6"/>
          <p:cNvSpPr/>
          <p:nvPr/>
        </p:nvSpPr>
        <p:spPr>
          <a:xfrm>
            <a:off x="320040" y="1298448"/>
            <a:ext cx="5760720" cy="274320"/>
          </a:xfrm>
          <a:prstGeom prst="rect">
            <a:avLst/>
          </a:prstGeom>
          <a:solidFill>
            <a:srgbClr val="7C3AED"/>
          </a:solidFill>
          <a:ln/>
        </p:spPr>
      </p:sp>
      <p:sp>
        <p:nvSpPr>
          <p:cNvPr id="9" name="Text 7"/>
          <p:cNvSpPr/>
          <p:nvPr/>
        </p:nvSpPr>
        <p:spPr>
          <a:xfrm>
            <a:off x="411480" y="1088136"/>
            <a:ext cx="55778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Laravel Fortify (Auth Base)</a:t>
            </a:r>
            <a:endParaRPr lang="en-US" sz="1300" dirty="0"/>
          </a:p>
        </p:txBody>
      </p:sp>
      <p:sp>
        <p:nvSpPr>
          <p:cNvPr id="10" name="Shape 8"/>
          <p:cNvSpPr/>
          <p:nvPr/>
        </p:nvSpPr>
        <p:spPr>
          <a:xfrm>
            <a:off x="457200" y="1792224"/>
            <a:ext cx="91440" cy="91440"/>
          </a:xfrm>
          <a:prstGeom prst="ellipse">
            <a:avLst/>
          </a:prstGeom>
          <a:solidFill>
            <a:srgbClr val="7C3AED"/>
          </a:solidFill>
          <a:ln/>
        </p:spPr>
      </p:sp>
      <p:sp>
        <p:nvSpPr>
          <p:cNvPr id="11" name="Text 9"/>
          <p:cNvSpPr/>
          <p:nvPr/>
        </p:nvSpPr>
        <p:spPr>
          <a:xfrm>
            <a:off x="621792" y="1645920"/>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Login con email + contraseña. Rate limiting automático contra fuerza bruta.</a:t>
            </a:r>
            <a:endParaRPr lang="en-US" sz="950" dirty="0"/>
          </a:p>
        </p:txBody>
      </p:sp>
      <p:sp>
        <p:nvSpPr>
          <p:cNvPr id="12" name="Shape 10"/>
          <p:cNvSpPr/>
          <p:nvPr/>
        </p:nvSpPr>
        <p:spPr>
          <a:xfrm>
            <a:off x="457200" y="2194560"/>
            <a:ext cx="91440" cy="91440"/>
          </a:xfrm>
          <a:prstGeom prst="ellipse">
            <a:avLst/>
          </a:prstGeom>
          <a:solidFill>
            <a:srgbClr val="7C3AED"/>
          </a:solidFill>
          <a:ln/>
        </p:spPr>
      </p:sp>
      <p:sp>
        <p:nvSpPr>
          <p:cNvPr id="13" name="Text 11"/>
          <p:cNvSpPr/>
          <p:nvPr/>
        </p:nvSpPr>
        <p:spPr>
          <a:xfrm>
            <a:off x="621792" y="2048256"/>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Restablecimiento de contraseña: enlace firmado por email (tokens en BD).</a:t>
            </a:r>
            <a:endParaRPr lang="en-US" sz="950" dirty="0"/>
          </a:p>
        </p:txBody>
      </p:sp>
      <p:sp>
        <p:nvSpPr>
          <p:cNvPr id="14" name="Shape 12"/>
          <p:cNvSpPr/>
          <p:nvPr/>
        </p:nvSpPr>
        <p:spPr>
          <a:xfrm>
            <a:off x="457200" y="2596896"/>
            <a:ext cx="91440" cy="91440"/>
          </a:xfrm>
          <a:prstGeom prst="ellipse">
            <a:avLst/>
          </a:prstGeom>
          <a:solidFill>
            <a:srgbClr val="7C3AED"/>
          </a:solidFill>
          <a:ln/>
        </p:spPr>
      </p:sp>
      <p:sp>
        <p:nvSpPr>
          <p:cNvPr id="15" name="Text 13"/>
          <p:cNvSpPr/>
          <p:nvPr/>
        </p:nvSpPr>
        <p:spPr>
          <a:xfrm>
            <a:off x="621792" y="2450592"/>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Verificación de email: código numérico de 6 dígitos (no enlace), expira en 24h.</a:t>
            </a:r>
            <a:endParaRPr lang="en-US" sz="950" dirty="0"/>
          </a:p>
        </p:txBody>
      </p:sp>
      <p:sp>
        <p:nvSpPr>
          <p:cNvPr id="16" name="Shape 14"/>
          <p:cNvSpPr/>
          <p:nvPr/>
        </p:nvSpPr>
        <p:spPr>
          <a:xfrm>
            <a:off x="457200" y="2999232"/>
            <a:ext cx="91440" cy="91440"/>
          </a:xfrm>
          <a:prstGeom prst="ellipse">
            <a:avLst/>
          </a:prstGeom>
          <a:solidFill>
            <a:srgbClr val="7C3AED"/>
          </a:solidFill>
          <a:ln/>
        </p:spPr>
      </p:sp>
      <p:sp>
        <p:nvSpPr>
          <p:cNvPr id="17" name="Text 15"/>
          <p:cNvSpPr/>
          <p:nvPr/>
        </p:nvSpPr>
        <p:spPr>
          <a:xfrm>
            <a:off x="621792" y="2852928"/>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Two-Factor Authentication (2FA): código de 6 dígitos enviado por email al segundo paso del login.</a:t>
            </a:r>
            <a:endParaRPr lang="en-US" sz="950" dirty="0"/>
          </a:p>
        </p:txBody>
      </p:sp>
      <p:sp>
        <p:nvSpPr>
          <p:cNvPr id="18" name="Shape 16"/>
          <p:cNvSpPr/>
          <p:nvPr/>
        </p:nvSpPr>
        <p:spPr>
          <a:xfrm>
            <a:off x="457200" y="3401568"/>
            <a:ext cx="91440" cy="91440"/>
          </a:xfrm>
          <a:prstGeom prst="ellipse">
            <a:avLst/>
          </a:prstGeom>
          <a:solidFill>
            <a:srgbClr val="7C3AED"/>
          </a:solidFill>
          <a:ln/>
        </p:spPr>
      </p:sp>
      <p:sp>
        <p:nvSpPr>
          <p:cNvPr id="19" name="Text 17"/>
          <p:cNvSpPr/>
          <p:nvPr/>
        </p:nvSpPr>
        <p:spPr>
          <a:xfrm>
            <a:off x="621792" y="3255264"/>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Fortify configurado con feature flags en config/fortify.php.</a:t>
            </a:r>
            <a:endParaRPr lang="en-US" sz="950" dirty="0"/>
          </a:p>
        </p:txBody>
      </p:sp>
      <p:sp>
        <p:nvSpPr>
          <p:cNvPr id="20" name="Shape 18"/>
          <p:cNvSpPr/>
          <p:nvPr/>
        </p:nvSpPr>
        <p:spPr>
          <a:xfrm>
            <a:off x="6309360" y="1005840"/>
            <a:ext cx="5760720" cy="2514600"/>
          </a:xfrm>
          <a:prstGeom prst="roundRect">
            <a:avLst>
              <a:gd name="adj" fmla="val 3636"/>
            </a:avLst>
          </a:prstGeom>
          <a:solidFill>
            <a:srgbClr val="F3F4F6"/>
          </a:solidFill>
          <a:ln/>
          <a:effectLst>
            <a:outerShdw sx="100000" sy="100000" kx="0" ky="0" algn="bl" rotWithShape="0" blurRad="50800" dist="25400" dir="16200000">
              <a:srgbClr val="000000">
                <a:alpha val="75000"/>
              </a:srgbClr>
            </a:outerShdw>
          </a:effectLst>
        </p:spPr>
      </p:sp>
      <p:sp>
        <p:nvSpPr>
          <p:cNvPr id="21" name="Shape 19"/>
          <p:cNvSpPr/>
          <p:nvPr/>
        </p:nvSpPr>
        <p:spPr>
          <a:xfrm>
            <a:off x="6309360" y="1005840"/>
            <a:ext cx="5760720" cy="566928"/>
          </a:xfrm>
          <a:prstGeom prst="roundRect">
            <a:avLst>
              <a:gd name="adj" fmla="val 16129"/>
            </a:avLst>
          </a:prstGeom>
          <a:solidFill>
            <a:srgbClr val="2563EB"/>
          </a:solidFill>
          <a:ln/>
        </p:spPr>
      </p:sp>
      <p:sp>
        <p:nvSpPr>
          <p:cNvPr id="22" name="Shape 20"/>
          <p:cNvSpPr/>
          <p:nvPr/>
        </p:nvSpPr>
        <p:spPr>
          <a:xfrm>
            <a:off x="6309360" y="1298448"/>
            <a:ext cx="5760720" cy="274320"/>
          </a:xfrm>
          <a:prstGeom prst="rect">
            <a:avLst/>
          </a:prstGeom>
          <a:solidFill>
            <a:srgbClr val="2563EB"/>
          </a:solidFill>
          <a:ln/>
        </p:spPr>
      </p:sp>
      <p:sp>
        <p:nvSpPr>
          <p:cNvPr id="23" name="Text 21"/>
          <p:cNvSpPr/>
          <p:nvPr/>
        </p:nvSpPr>
        <p:spPr>
          <a:xfrm>
            <a:off x="6400800" y="1088136"/>
            <a:ext cx="55778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Autorización RBAC con Spatie</a:t>
            </a:r>
            <a:endParaRPr lang="en-US" sz="1300" dirty="0"/>
          </a:p>
        </p:txBody>
      </p:sp>
      <p:sp>
        <p:nvSpPr>
          <p:cNvPr id="24" name="Shape 22"/>
          <p:cNvSpPr/>
          <p:nvPr/>
        </p:nvSpPr>
        <p:spPr>
          <a:xfrm>
            <a:off x="6446520" y="1792224"/>
            <a:ext cx="91440" cy="91440"/>
          </a:xfrm>
          <a:prstGeom prst="ellipse">
            <a:avLst/>
          </a:prstGeom>
          <a:solidFill>
            <a:srgbClr val="2563EB"/>
          </a:solidFill>
          <a:ln/>
        </p:spPr>
      </p:sp>
      <p:sp>
        <p:nvSpPr>
          <p:cNvPr id="25" name="Text 23"/>
          <p:cNvSpPr/>
          <p:nvPr/>
        </p:nvSpPr>
        <p:spPr>
          <a:xfrm>
            <a:off x="6611112" y="1645920"/>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4 roles del sistema con permisos granulares por módulo y acción.</a:t>
            </a:r>
            <a:endParaRPr lang="en-US" sz="950" dirty="0"/>
          </a:p>
        </p:txBody>
      </p:sp>
      <p:sp>
        <p:nvSpPr>
          <p:cNvPr id="26" name="Shape 24"/>
          <p:cNvSpPr/>
          <p:nvPr/>
        </p:nvSpPr>
        <p:spPr>
          <a:xfrm>
            <a:off x="6446520" y="2194560"/>
            <a:ext cx="91440" cy="91440"/>
          </a:xfrm>
          <a:prstGeom prst="ellipse">
            <a:avLst/>
          </a:prstGeom>
          <a:solidFill>
            <a:srgbClr val="2563EB"/>
          </a:solidFill>
          <a:ln/>
        </p:spPr>
      </p:sp>
      <p:sp>
        <p:nvSpPr>
          <p:cNvPr id="27" name="Text 25"/>
          <p:cNvSpPr/>
          <p:nvPr/>
        </p:nvSpPr>
        <p:spPr>
          <a:xfrm>
            <a:off x="6611112" y="2048256"/>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Permisos registrados en BD: tabla permissions. Asignados via tabla role_has_permissions.</a:t>
            </a:r>
            <a:endParaRPr lang="en-US" sz="950" dirty="0"/>
          </a:p>
        </p:txBody>
      </p:sp>
      <p:sp>
        <p:nvSpPr>
          <p:cNvPr id="28" name="Shape 26"/>
          <p:cNvSpPr/>
          <p:nvPr/>
        </p:nvSpPr>
        <p:spPr>
          <a:xfrm>
            <a:off x="6446520" y="2596896"/>
            <a:ext cx="91440" cy="91440"/>
          </a:xfrm>
          <a:prstGeom prst="ellipse">
            <a:avLst/>
          </a:prstGeom>
          <a:solidFill>
            <a:srgbClr val="2563EB"/>
          </a:solidFill>
          <a:ln/>
        </p:spPr>
      </p:sp>
      <p:sp>
        <p:nvSpPr>
          <p:cNvPr id="29" name="Text 27"/>
          <p:cNvSpPr/>
          <p:nvPr/>
        </p:nvSpPr>
        <p:spPr>
          <a:xfrm>
            <a:off x="6611112" y="2450592"/>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Super Admin: Gate::before() devuelve true para todo — bypass completo sin consultar permisos.</a:t>
            </a:r>
            <a:endParaRPr lang="en-US" sz="950" dirty="0"/>
          </a:p>
        </p:txBody>
      </p:sp>
      <p:sp>
        <p:nvSpPr>
          <p:cNvPr id="30" name="Shape 28"/>
          <p:cNvSpPr/>
          <p:nvPr/>
        </p:nvSpPr>
        <p:spPr>
          <a:xfrm>
            <a:off x="6446520" y="2999232"/>
            <a:ext cx="91440" cy="91440"/>
          </a:xfrm>
          <a:prstGeom prst="ellipse">
            <a:avLst/>
          </a:prstGeom>
          <a:solidFill>
            <a:srgbClr val="2563EB"/>
          </a:solidFill>
          <a:ln/>
        </p:spPr>
      </p:sp>
      <p:sp>
        <p:nvSpPr>
          <p:cNvPr id="31" name="Text 29"/>
          <p:cNvSpPr/>
          <p:nvPr/>
        </p:nvSpPr>
        <p:spPr>
          <a:xfrm>
            <a:off x="6611112" y="2852928"/>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Controladores usan middleware: auth, role:Admin, permission:applications.edit, etc.</a:t>
            </a:r>
            <a:endParaRPr lang="en-US" sz="950" dirty="0"/>
          </a:p>
        </p:txBody>
      </p:sp>
      <p:sp>
        <p:nvSpPr>
          <p:cNvPr id="32" name="Shape 30"/>
          <p:cNvSpPr/>
          <p:nvPr/>
        </p:nvSpPr>
        <p:spPr>
          <a:xfrm>
            <a:off x="6446520" y="3401568"/>
            <a:ext cx="91440" cy="91440"/>
          </a:xfrm>
          <a:prstGeom prst="ellipse">
            <a:avLst/>
          </a:prstGeom>
          <a:solidFill>
            <a:srgbClr val="2563EB"/>
          </a:solidFill>
          <a:ln/>
        </p:spPr>
      </p:sp>
      <p:sp>
        <p:nvSpPr>
          <p:cNvPr id="33" name="Text 31"/>
          <p:cNvSpPr/>
          <p:nvPr/>
        </p:nvSpPr>
        <p:spPr>
          <a:xfrm>
            <a:off x="6611112" y="3255264"/>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Los módulos del sistema son configurables vía CRUD en el panel de Seguridad.</a:t>
            </a:r>
            <a:endParaRPr lang="en-US" sz="950" dirty="0"/>
          </a:p>
        </p:txBody>
      </p:sp>
      <p:sp>
        <p:nvSpPr>
          <p:cNvPr id="34" name="Shape 32"/>
          <p:cNvSpPr/>
          <p:nvPr/>
        </p:nvSpPr>
        <p:spPr>
          <a:xfrm>
            <a:off x="320040" y="3703320"/>
            <a:ext cx="5760720" cy="2514600"/>
          </a:xfrm>
          <a:prstGeom prst="roundRect">
            <a:avLst>
              <a:gd name="adj" fmla="val 3636"/>
            </a:avLst>
          </a:prstGeom>
          <a:solidFill>
            <a:srgbClr val="F3F4F6"/>
          </a:solidFill>
          <a:ln/>
          <a:effectLst>
            <a:outerShdw sx="100000" sy="100000" kx="0" ky="0" algn="bl" rotWithShape="0" blurRad="50800" dist="25400" dir="16200000">
              <a:srgbClr val="000000">
                <a:alpha val="75000"/>
              </a:srgbClr>
            </a:outerShdw>
          </a:effectLst>
        </p:spPr>
      </p:sp>
      <p:sp>
        <p:nvSpPr>
          <p:cNvPr id="35" name="Shape 33"/>
          <p:cNvSpPr/>
          <p:nvPr/>
        </p:nvSpPr>
        <p:spPr>
          <a:xfrm>
            <a:off x="320040" y="3703320"/>
            <a:ext cx="5760720" cy="566928"/>
          </a:xfrm>
          <a:prstGeom prst="roundRect">
            <a:avLst>
              <a:gd name="adj" fmla="val 16129"/>
            </a:avLst>
          </a:prstGeom>
          <a:solidFill>
            <a:srgbClr val="0D9488"/>
          </a:solidFill>
          <a:ln/>
        </p:spPr>
      </p:sp>
      <p:sp>
        <p:nvSpPr>
          <p:cNvPr id="36" name="Shape 34"/>
          <p:cNvSpPr/>
          <p:nvPr/>
        </p:nvSpPr>
        <p:spPr>
          <a:xfrm>
            <a:off x="320040" y="3995928"/>
            <a:ext cx="5760720" cy="274320"/>
          </a:xfrm>
          <a:prstGeom prst="rect">
            <a:avLst/>
          </a:prstGeom>
          <a:solidFill>
            <a:srgbClr val="0D9488"/>
          </a:solidFill>
          <a:ln/>
        </p:spPr>
      </p:sp>
      <p:sp>
        <p:nvSpPr>
          <p:cNvPr id="37" name="Text 35"/>
          <p:cNvSpPr/>
          <p:nvPr/>
        </p:nvSpPr>
        <p:spPr>
          <a:xfrm>
            <a:off x="411480" y="3785616"/>
            <a:ext cx="55778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Validación CURP — API RENAPO</a:t>
            </a:r>
            <a:endParaRPr lang="en-US" sz="1300" dirty="0"/>
          </a:p>
        </p:txBody>
      </p:sp>
      <p:sp>
        <p:nvSpPr>
          <p:cNvPr id="38" name="Shape 36"/>
          <p:cNvSpPr/>
          <p:nvPr/>
        </p:nvSpPr>
        <p:spPr>
          <a:xfrm>
            <a:off x="457200" y="4489704"/>
            <a:ext cx="91440" cy="91440"/>
          </a:xfrm>
          <a:prstGeom prst="ellipse">
            <a:avLst/>
          </a:prstGeom>
          <a:solidFill>
            <a:srgbClr val="0D9488"/>
          </a:solidFill>
          <a:ln/>
        </p:spPr>
      </p:sp>
      <p:sp>
        <p:nvSpPr>
          <p:cNvPr id="39" name="Text 37"/>
          <p:cNvSpPr/>
          <p:nvPr/>
        </p:nvSpPr>
        <p:spPr>
          <a:xfrm>
            <a:off x="621792" y="4343400"/>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Al registrar usuario, el CURP se valida en tiempo real contra el Registro Nacional.</a:t>
            </a:r>
            <a:endParaRPr lang="en-US" sz="950" dirty="0"/>
          </a:p>
        </p:txBody>
      </p:sp>
      <p:sp>
        <p:nvSpPr>
          <p:cNvPr id="40" name="Shape 38"/>
          <p:cNvSpPr/>
          <p:nvPr/>
        </p:nvSpPr>
        <p:spPr>
          <a:xfrm>
            <a:off x="457200" y="4892040"/>
            <a:ext cx="91440" cy="91440"/>
          </a:xfrm>
          <a:prstGeom prst="ellipse">
            <a:avLst/>
          </a:prstGeom>
          <a:solidFill>
            <a:srgbClr val="0D9488"/>
          </a:solidFill>
          <a:ln/>
        </p:spPr>
      </p:sp>
      <p:sp>
        <p:nvSpPr>
          <p:cNvPr id="41" name="Text 39"/>
          <p:cNvSpPr/>
          <p:nvPr/>
        </p:nvSpPr>
        <p:spPr>
          <a:xfrm>
            <a:off x="621792" y="4745736"/>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CurpService::buscarPorCurp() realiza petición HTTP a la API de RENAPO.</a:t>
            </a:r>
            <a:endParaRPr lang="en-US" sz="950" dirty="0"/>
          </a:p>
        </p:txBody>
      </p:sp>
      <p:sp>
        <p:nvSpPr>
          <p:cNvPr id="42" name="Shape 40"/>
          <p:cNvSpPr/>
          <p:nvPr/>
        </p:nvSpPr>
        <p:spPr>
          <a:xfrm>
            <a:off x="457200" y="5294376"/>
            <a:ext cx="91440" cy="91440"/>
          </a:xfrm>
          <a:prstGeom prst="ellipse">
            <a:avLst/>
          </a:prstGeom>
          <a:solidFill>
            <a:srgbClr val="0D9488"/>
          </a:solidFill>
          <a:ln/>
        </p:spPr>
      </p:sp>
      <p:sp>
        <p:nvSpPr>
          <p:cNvPr id="43" name="Text 41"/>
          <p:cNvSpPr/>
          <p:nvPr/>
        </p:nvSpPr>
        <p:spPr>
          <a:xfrm>
            <a:off x="621792" y="5148072"/>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Retorna: nombre completo, estado de nacimiento, confirmación de validez.</a:t>
            </a:r>
            <a:endParaRPr lang="en-US" sz="950" dirty="0"/>
          </a:p>
        </p:txBody>
      </p:sp>
      <p:sp>
        <p:nvSpPr>
          <p:cNvPr id="44" name="Shape 42"/>
          <p:cNvSpPr/>
          <p:nvPr/>
        </p:nvSpPr>
        <p:spPr>
          <a:xfrm>
            <a:off x="457200" y="5696712"/>
            <a:ext cx="91440" cy="91440"/>
          </a:xfrm>
          <a:prstGeom prst="ellipse">
            <a:avLst/>
          </a:prstGeom>
          <a:solidFill>
            <a:srgbClr val="0D9488"/>
          </a:solidFill>
          <a:ln/>
        </p:spPr>
      </p:sp>
      <p:sp>
        <p:nvSpPr>
          <p:cNvPr id="45" name="Text 43"/>
          <p:cNvSpPr/>
          <p:nvPr/>
        </p:nvSpPr>
        <p:spPr>
          <a:xfrm>
            <a:off x="621792" y="5550408"/>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Si el CURP no existe o es inválido, el registro es rechazado con error de validación.</a:t>
            </a:r>
            <a:endParaRPr lang="en-US" sz="950" dirty="0"/>
          </a:p>
        </p:txBody>
      </p:sp>
      <p:sp>
        <p:nvSpPr>
          <p:cNvPr id="46" name="Shape 44"/>
          <p:cNvSpPr/>
          <p:nvPr/>
        </p:nvSpPr>
        <p:spPr>
          <a:xfrm>
            <a:off x="6309360" y="3703320"/>
            <a:ext cx="5760720" cy="2514600"/>
          </a:xfrm>
          <a:prstGeom prst="roundRect">
            <a:avLst>
              <a:gd name="adj" fmla="val 3636"/>
            </a:avLst>
          </a:prstGeom>
          <a:solidFill>
            <a:srgbClr val="F3F4F6"/>
          </a:solidFill>
          <a:ln/>
          <a:effectLst>
            <a:outerShdw sx="100000" sy="100000" kx="0" ky="0" algn="bl" rotWithShape="0" blurRad="50800" dist="25400" dir="16200000">
              <a:srgbClr val="000000">
                <a:alpha val="75000"/>
              </a:srgbClr>
            </a:outerShdw>
          </a:effectLst>
        </p:spPr>
      </p:sp>
      <p:sp>
        <p:nvSpPr>
          <p:cNvPr id="47" name="Shape 45"/>
          <p:cNvSpPr/>
          <p:nvPr/>
        </p:nvSpPr>
        <p:spPr>
          <a:xfrm>
            <a:off x="6309360" y="3703320"/>
            <a:ext cx="5760720" cy="566928"/>
          </a:xfrm>
          <a:prstGeom prst="roundRect">
            <a:avLst>
              <a:gd name="adj" fmla="val 16129"/>
            </a:avLst>
          </a:prstGeom>
          <a:solidFill>
            <a:srgbClr val="EA580C"/>
          </a:solidFill>
          <a:ln/>
        </p:spPr>
      </p:sp>
      <p:sp>
        <p:nvSpPr>
          <p:cNvPr id="48" name="Shape 46"/>
          <p:cNvSpPr/>
          <p:nvPr/>
        </p:nvSpPr>
        <p:spPr>
          <a:xfrm>
            <a:off x="6309360" y="3995928"/>
            <a:ext cx="5760720" cy="274320"/>
          </a:xfrm>
          <a:prstGeom prst="rect">
            <a:avLst/>
          </a:prstGeom>
          <a:solidFill>
            <a:srgbClr val="EA580C"/>
          </a:solidFill>
          <a:ln/>
        </p:spPr>
      </p:sp>
      <p:sp>
        <p:nvSpPr>
          <p:cNvPr id="49" name="Text 47"/>
          <p:cNvSpPr/>
          <p:nvPr/>
        </p:nvSpPr>
        <p:spPr>
          <a:xfrm>
            <a:off x="6400800" y="3785616"/>
            <a:ext cx="557784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Autenticidad de Documentos PDF</a:t>
            </a:r>
            <a:endParaRPr lang="en-US" sz="1300" dirty="0"/>
          </a:p>
        </p:txBody>
      </p:sp>
      <p:sp>
        <p:nvSpPr>
          <p:cNvPr id="50" name="Shape 48"/>
          <p:cNvSpPr/>
          <p:nvPr/>
        </p:nvSpPr>
        <p:spPr>
          <a:xfrm>
            <a:off x="6446520" y="4489704"/>
            <a:ext cx="91440" cy="91440"/>
          </a:xfrm>
          <a:prstGeom prst="ellipse">
            <a:avLst/>
          </a:prstGeom>
          <a:solidFill>
            <a:srgbClr val="EA580C"/>
          </a:solidFill>
          <a:ln/>
        </p:spPr>
      </p:sp>
      <p:sp>
        <p:nvSpPr>
          <p:cNvPr id="51" name="Text 49"/>
          <p:cNvSpPr/>
          <p:nvPr/>
        </p:nvSpPr>
        <p:spPr>
          <a:xfrm>
            <a:off x="6611112" y="4343400"/>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Cada PDF lleva un identificador único irrepetible (6 chars aleatorios + tipo + año + ID).</a:t>
            </a:r>
            <a:endParaRPr lang="en-US" sz="950" dirty="0"/>
          </a:p>
        </p:txBody>
      </p:sp>
      <p:sp>
        <p:nvSpPr>
          <p:cNvPr id="52" name="Shape 50"/>
          <p:cNvSpPr/>
          <p:nvPr/>
        </p:nvSpPr>
        <p:spPr>
          <a:xfrm>
            <a:off x="6446520" y="4892040"/>
            <a:ext cx="91440" cy="91440"/>
          </a:xfrm>
          <a:prstGeom prst="ellipse">
            <a:avLst/>
          </a:prstGeom>
          <a:solidFill>
            <a:srgbClr val="EA580C"/>
          </a:solidFill>
          <a:ln/>
        </p:spPr>
      </p:sp>
      <p:sp>
        <p:nvSpPr>
          <p:cNvPr id="53" name="Text 51"/>
          <p:cNvSpPr/>
          <p:nvPr/>
        </p:nvSpPr>
        <p:spPr>
          <a:xfrm>
            <a:off x="6611112" y="4745736"/>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Sello digital = hash SHA-256 del contenido del documento generado.</a:t>
            </a:r>
            <a:endParaRPr lang="en-US" sz="950" dirty="0"/>
          </a:p>
        </p:txBody>
      </p:sp>
      <p:sp>
        <p:nvSpPr>
          <p:cNvPr id="54" name="Shape 52"/>
          <p:cNvSpPr/>
          <p:nvPr/>
        </p:nvSpPr>
        <p:spPr>
          <a:xfrm>
            <a:off x="6446520" y="5294376"/>
            <a:ext cx="91440" cy="91440"/>
          </a:xfrm>
          <a:prstGeom prst="ellipse">
            <a:avLst/>
          </a:prstGeom>
          <a:solidFill>
            <a:srgbClr val="EA580C"/>
          </a:solidFill>
          <a:ln/>
        </p:spPr>
      </p:sp>
      <p:sp>
        <p:nvSpPr>
          <p:cNvPr id="55" name="Text 53"/>
          <p:cNvSpPr/>
          <p:nvPr/>
        </p:nvSpPr>
        <p:spPr>
          <a:xfrm>
            <a:off x="6611112" y="5148072"/>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Identificador y sello guardados en BD (applications o recognitions).</a:t>
            </a:r>
            <a:endParaRPr lang="en-US" sz="950" dirty="0"/>
          </a:p>
        </p:txBody>
      </p:sp>
      <p:sp>
        <p:nvSpPr>
          <p:cNvPr id="56" name="Shape 54"/>
          <p:cNvSpPr/>
          <p:nvPr/>
        </p:nvSpPr>
        <p:spPr>
          <a:xfrm>
            <a:off x="6446520" y="5696712"/>
            <a:ext cx="91440" cy="91440"/>
          </a:xfrm>
          <a:prstGeom prst="ellipse">
            <a:avLst/>
          </a:prstGeom>
          <a:solidFill>
            <a:srgbClr val="EA580C"/>
          </a:solidFill>
          <a:ln/>
        </p:spPr>
      </p:sp>
      <p:sp>
        <p:nvSpPr>
          <p:cNvPr id="57" name="Text 55"/>
          <p:cNvSpPr/>
          <p:nvPr/>
        </p:nvSpPr>
        <p:spPr>
          <a:xfrm>
            <a:off x="6611112" y="5550408"/>
            <a:ext cx="5349240" cy="36576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Cualquier persona puede verificar autenticidad en /verify-recognition/{identifier} sin cuenta.</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0D9488"/>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Automatizaciones y Características Inteligentes del Sistema</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11475720" cy="484632"/>
          </a:xfrm>
          <a:prstGeom prst="roundRect">
            <a:avLst>
              <a:gd name="adj" fmla="val 13208"/>
            </a:avLst>
          </a:prstGeom>
          <a:solidFill>
            <a:srgbClr val="FFFFFF"/>
          </a:solidFill>
          <a:ln/>
        </p:spPr>
      </p:sp>
      <p:sp>
        <p:nvSpPr>
          <p:cNvPr id="7" name="Shape 5"/>
          <p:cNvSpPr/>
          <p:nvPr/>
        </p:nvSpPr>
        <p:spPr>
          <a:xfrm>
            <a:off x="320040" y="1005840"/>
            <a:ext cx="4114800" cy="484632"/>
          </a:xfrm>
          <a:prstGeom prst="roundRect">
            <a:avLst>
              <a:gd name="adj" fmla="val 13208"/>
            </a:avLst>
          </a:prstGeom>
          <a:solidFill>
            <a:srgbClr val="059669"/>
          </a:solidFill>
          <a:ln/>
        </p:spPr>
      </p:sp>
      <p:sp>
        <p:nvSpPr>
          <p:cNvPr id="8" name="Shape 6"/>
          <p:cNvSpPr/>
          <p:nvPr/>
        </p:nvSpPr>
        <p:spPr>
          <a:xfrm>
            <a:off x="1828800" y="1005840"/>
            <a:ext cx="2606040" cy="484632"/>
          </a:xfrm>
          <a:prstGeom prst="rect">
            <a:avLst/>
          </a:prstGeom>
          <a:solidFill>
            <a:srgbClr val="059669"/>
          </a:solidFill>
          <a:ln/>
        </p:spPr>
      </p:sp>
      <p:sp>
        <p:nvSpPr>
          <p:cNvPr id="9" name="Text 7"/>
          <p:cNvSpPr/>
          <p:nvPr/>
        </p:nvSpPr>
        <p:spPr>
          <a:xfrm>
            <a:off x="411480" y="104241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Transición de etapas automática</a:t>
            </a:r>
            <a:endParaRPr lang="en-US" sz="1050" dirty="0"/>
          </a:p>
        </p:txBody>
      </p:sp>
      <p:sp>
        <p:nvSpPr>
          <p:cNvPr id="10" name="Text 8"/>
          <p:cNvSpPr/>
          <p:nvPr/>
        </p:nvSpPr>
        <p:spPr>
          <a:xfrm>
            <a:off x="4572000" y="104241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El cron diario compara Carbon::now() con las 7 fechas del Calendar de cada convocatoria. Sin intervención humana, la convocatoria avanza de etapa y notifica a todos los involucrados.</a:t>
            </a:r>
            <a:endParaRPr lang="en-US" sz="950" dirty="0"/>
          </a:p>
        </p:txBody>
      </p:sp>
      <p:sp>
        <p:nvSpPr>
          <p:cNvPr id="11" name="Shape 9"/>
          <p:cNvSpPr/>
          <p:nvPr/>
        </p:nvSpPr>
        <p:spPr>
          <a:xfrm>
            <a:off x="320040" y="1554480"/>
            <a:ext cx="11475720" cy="484632"/>
          </a:xfrm>
          <a:prstGeom prst="roundRect">
            <a:avLst>
              <a:gd name="adj" fmla="val 13208"/>
            </a:avLst>
          </a:prstGeom>
          <a:solidFill>
            <a:srgbClr val="DBEAFE"/>
          </a:solidFill>
          <a:ln/>
        </p:spPr>
      </p:sp>
      <p:sp>
        <p:nvSpPr>
          <p:cNvPr id="12" name="Shape 10"/>
          <p:cNvSpPr/>
          <p:nvPr/>
        </p:nvSpPr>
        <p:spPr>
          <a:xfrm>
            <a:off x="320040" y="1554480"/>
            <a:ext cx="4114800" cy="484632"/>
          </a:xfrm>
          <a:prstGeom prst="roundRect">
            <a:avLst>
              <a:gd name="adj" fmla="val 13208"/>
            </a:avLst>
          </a:prstGeom>
          <a:solidFill>
            <a:srgbClr val="2563EB"/>
          </a:solidFill>
          <a:ln/>
        </p:spPr>
      </p:sp>
      <p:sp>
        <p:nvSpPr>
          <p:cNvPr id="13" name="Shape 11"/>
          <p:cNvSpPr/>
          <p:nvPr/>
        </p:nvSpPr>
        <p:spPr>
          <a:xfrm>
            <a:off x="1828800" y="1554480"/>
            <a:ext cx="2606040" cy="484632"/>
          </a:xfrm>
          <a:prstGeom prst="rect">
            <a:avLst/>
          </a:prstGeom>
          <a:solidFill>
            <a:srgbClr val="2563EB"/>
          </a:solidFill>
          <a:ln/>
        </p:spPr>
      </p:sp>
      <p:sp>
        <p:nvSpPr>
          <p:cNvPr id="14" name="Text 12"/>
          <p:cNvSpPr/>
          <p:nvPr/>
        </p:nvSpPr>
        <p:spPr>
          <a:xfrm>
            <a:off x="411480" y="159105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Cola de correos asíncrona</a:t>
            </a:r>
            <a:endParaRPr lang="en-US" sz="1050" dirty="0"/>
          </a:p>
        </p:txBody>
      </p:sp>
      <p:sp>
        <p:nvSpPr>
          <p:cNvPr id="15" name="Text 13"/>
          <p:cNvSpPr/>
          <p:nvPr/>
        </p:nvSpPr>
        <p:spPr>
          <a:xfrm>
            <a:off x="4572000" y="159105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Todos los Mailable usan Mail::to()-&gt;queue(). La respuesta HTTP al usuario es inmediata. Un worker php artisan queue:work procesa los jobs en segundo plano desde la tabla 'jobs' de MySQL.</a:t>
            </a:r>
            <a:endParaRPr lang="en-US" sz="950" dirty="0"/>
          </a:p>
        </p:txBody>
      </p:sp>
      <p:sp>
        <p:nvSpPr>
          <p:cNvPr id="16" name="Shape 14"/>
          <p:cNvSpPr/>
          <p:nvPr/>
        </p:nvSpPr>
        <p:spPr>
          <a:xfrm>
            <a:off x="320040" y="2103120"/>
            <a:ext cx="11475720" cy="484632"/>
          </a:xfrm>
          <a:prstGeom prst="roundRect">
            <a:avLst>
              <a:gd name="adj" fmla="val 13208"/>
            </a:avLst>
          </a:prstGeom>
          <a:solidFill>
            <a:srgbClr val="FFFFFF"/>
          </a:solidFill>
          <a:ln/>
        </p:spPr>
      </p:sp>
      <p:sp>
        <p:nvSpPr>
          <p:cNvPr id="17" name="Shape 15"/>
          <p:cNvSpPr/>
          <p:nvPr/>
        </p:nvSpPr>
        <p:spPr>
          <a:xfrm>
            <a:off x="320040" y="2103120"/>
            <a:ext cx="4114800" cy="484632"/>
          </a:xfrm>
          <a:prstGeom prst="roundRect">
            <a:avLst>
              <a:gd name="adj" fmla="val 13208"/>
            </a:avLst>
          </a:prstGeom>
          <a:solidFill>
            <a:srgbClr val="DC2626"/>
          </a:solidFill>
          <a:ln/>
        </p:spPr>
      </p:sp>
      <p:sp>
        <p:nvSpPr>
          <p:cNvPr id="18" name="Shape 16"/>
          <p:cNvSpPr/>
          <p:nvPr/>
        </p:nvSpPr>
        <p:spPr>
          <a:xfrm>
            <a:off x="1828800" y="2103120"/>
            <a:ext cx="2606040" cy="484632"/>
          </a:xfrm>
          <a:prstGeom prst="rect">
            <a:avLst/>
          </a:prstGeom>
          <a:solidFill>
            <a:srgbClr val="DC2626"/>
          </a:solidFill>
          <a:ln/>
        </p:spPr>
      </p:sp>
      <p:sp>
        <p:nvSpPr>
          <p:cNvPr id="19" name="Text 17"/>
          <p:cNvSpPr/>
          <p:nvPr/>
        </p:nvSpPr>
        <p:spPr>
          <a:xfrm>
            <a:off x="411480" y="213969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Expiración automática de evaluaciones</a:t>
            </a:r>
            <a:endParaRPr lang="en-US" sz="1050" dirty="0"/>
          </a:p>
        </p:txBody>
      </p:sp>
      <p:sp>
        <p:nvSpPr>
          <p:cNvPr id="20" name="Text 18"/>
          <p:cNvSpPr/>
          <p:nvPr/>
        </p:nvSpPr>
        <p:spPr>
          <a:xfrm>
            <a:off x="4572000" y="213969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Si un evaluador no envía su calificación antes del deadline_at, el cron evaluations:expire actualiza status='expired'. El admin visualiza qué evaluaciones han vencido en su panel.</a:t>
            </a:r>
            <a:endParaRPr lang="en-US" sz="950" dirty="0"/>
          </a:p>
        </p:txBody>
      </p:sp>
      <p:sp>
        <p:nvSpPr>
          <p:cNvPr id="21" name="Shape 19"/>
          <p:cNvSpPr/>
          <p:nvPr/>
        </p:nvSpPr>
        <p:spPr>
          <a:xfrm>
            <a:off x="320040" y="2651760"/>
            <a:ext cx="11475720" cy="484632"/>
          </a:xfrm>
          <a:prstGeom prst="roundRect">
            <a:avLst>
              <a:gd name="adj" fmla="val 13208"/>
            </a:avLst>
          </a:prstGeom>
          <a:solidFill>
            <a:srgbClr val="DBEAFE"/>
          </a:solidFill>
          <a:ln/>
        </p:spPr>
      </p:sp>
      <p:sp>
        <p:nvSpPr>
          <p:cNvPr id="22" name="Shape 20"/>
          <p:cNvSpPr/>
          <p:nvPr/>
        </p:nvSpPr>
        <p:spPr>
          <a:xfrm>
            <a:off x="320040" y="2651760"/>
            <a:ext cx="4114800" cy="484632"/>
          </a:xfrm>
          <a:prstGeom prst="roundRect">
            <a:avLst>
              <a:gd name="adj" fmla="val 13208"/>
            </a:avLst>
          </a:prstGeom>
          <a:solidFill>
            <a:srgbClr val="7C3AED"/>
          </a:solidFill>
          <a:ln/>
        </p:spPr>
      </p:sp>
      <p:sp>
        <p:nvSpPr>
          <p:cNvPr id="23" name="Shape 21"/>
          <p:cNvSpPr/>
          <p:nvPr/>
        </p:nvSpPr>
        <p:spPr>
          <a:xfrm>
            <a:off x="1828800" y="2651760"/>
            <a:ext cx="2606040" cy="484632"/>
          </a:xfrm>
          <a:prstGeom prst="rect">
            <a:avLst/>
          </a:prstGeom>
          <a:solidFill>
            <a:srgbClr val="7C3AED"/>
          </a:solidFill>
          <a:ln/>
        </p:spPr>
      </p:sp>
      <p:sp>
        <p:nvSpPr>
          <p:cNvPr id="24" name="Text 22"/>
          <p:cNvSpPr/>
          <p:nvPr/>
        </p:nvSpPr>
        <p:spPr>
          <a:xfrm>
            <a:off x="411480" y="268833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Reportes semanales automáticos</a:t>
            </a:r>
            <a:endParaRPr lang="en-US" sz="1050" dirty="0"/>
          </a:p>
        </p:txBody>
      </p:sp>
      <p:sp>
        <p:nvSpPr>
          <p:cNvPr id="25" name="Text 23"/>
          <p:cNvSpPr/>
          <p:nvPr/>
        </p:nvSpPr>
        <p:spPr>
          <a:xfrm>
            <a:off x="4572000" y="268833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Cada viernes a las 9AM el cron notifications:send-weekly genera y envía un resumen estadístico de solicitudes (nuevas, en revisión, aprobadas, rechazadas) a todos los administradores.</a:t>
            </a:r>
            <a:endParaRPr lang="en-US" sz="950" dirty="0"/>
          </a:p>
        </p:txBody>
      </p:sp>
      <p:sp>
        <p:nvSpPr>
          <p:cNvPr id="26" name="Shape 24"/>
          <p:cNvSpPr/>
          <p:nvPr/>
        </p:nvSpPr>
        <p:spPr>
          <a:xfrm>
            <a:off x="320040" y="3200400"/>
            <a:ext cx="11475720" cy="484632"/>
          </a:xfrm>
          <a:prstGeom prst="roundRect">
            <a:avLst>
              <a:gd name="adj" fmla="val 13208"/>
            </a:avLst>
          </a:prstGeom>
          <a:solidFill>
            <a:srgbClr val="FFFFFF"/>
          </a:solidFill>
          <a:ln/>
        </p:spPr>
      </p:sp>
      <p:sp>
        <p:nvSpPr>
          <p:cNvPr id="27" name="Shape 25"/>
          <p:cNvSpPr/>
          <p:nvPr/>
        </p:nvSpPr>
        <p:spPr>
          <a:xfrm>
            <a:off x="320040" y="3200400"/>
            <a:ext cx="4114800" cy="484632"/>
          </a:xfrm>
          <a:prstGeom prst="roundRect">
            <a:avLst>
              <a:gd name="adj" fmla="val 13208"/>
            </a:avLst>
          </a:prstGeom>
          <a:solidFill>
            <a:srgbClr val="0D9488"/>
          </a:solidFill>
          <a:ln/>
        </p:spPr>
      </p:sp>
      <p:sp>
        <p:nvSpPr>
          <p:cNvPr id="28" name="Shape 26"/>
          <p:cNvSpPr/>
          <p:nvPr/>
        </p:nvSpPr>
        <p:spPr>
          <a:xfrm>
            <a:off x="1828800" y="3200400"/>
            <a:ext cx="2606040" cy="484632"/>
          </a:xfrm>
          <a:prstGeom prst="rect">
            <a:avLst/>
          </a:prstGeom>
          <a:solidFill>
            <a:srgbClr val="0D9488"/>
          </a:solidFill>
          <a:ln/>
        </p:spPr>
      </p:sp>
      <p:sp>
        <p:nvSpPr>
          <p:cNvPr id="29" name="Text 27"/>
          <p:cNvSpPr/>
          <p:nvPr/>
        </p:nvSpPr>
        <p:spPr>
          <a:xfrm>
            <a:off x="411480" y="323697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Validación CURP en tiempo real</a:t>
            </a:r>
            <a:endParaRPr lang="en-US" sz="1050" dirty="0"/>
          </a:p>
        </p:txBody>
      </p:sp>
      <p:sp>
        <p:nvSpPr>
          <p:cNvPr id="30" name="Text 28"/>
          <p:cNvSpPr/>
          <p:nvPr/>
        </p:nvSpPr>
        <p:spPr>
          <a:xfrm>
            <a:off x="4572000" y="323697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Al registrar un nuevo usuario, el sistema consulta la API de RENAPO para validar que el CURP existe. Esto previene registros con identidades falsas o datos incorrectos.</a:t>
            </a:r>
            <a:endParaRPr lang="en-US" sz="950" dirty="0"/>
          </a:p>
        </p:txBody>
      </p:sp>
      <p:sp>
        <p:nvSpPr>
          <p:cNvPr id="31" name="Shape 29"/>
          <p:cNvSpPr/>
          <p:nvPr/>
        </p:nvSpPr>
        <p:spPr>
          <a:xfrm>
            <a:off x="320040" y="3749040"/>
            <a:ext cx="11475720" cy="484632"/>
          </a:xfrm>
          <a:prstGeom prst="roundRect">
            <a:avLst>
              <a:gd name="adj" fmla="val 13208"/>
            </a:avLst>
          </a:prstGeom>
          <a:solidFill>
            <a:srgbClr val="DBEAFE"/>
          </a:solidFill>
          <a:ln/>
        </p:spPr>
      </p:sp>
      <p:sp>
        <p:nvSpPr>
          <p:cNvPr id="32" name="Shape 30"/>
          <p:cNvSpPr/>
          <p:nvPr/>
        </p:nvSpPr>
        <p:spPr>
          <a:xfrm>
            <a:off x="320040" y="3749040"/>
            <a:ext cx="4114800" cy="484632"/>
          </a:xfrm>
          <a:prstGeom prst="roundRect">
            <a:avLst>
              <a:gd name="adj" fmla="val 13208"/>
            </a:avLst>
          </a:prstGeom>
          <a:solidFill>
            <a:srgbClr val="EA580C"/>
          </a:solidFill>
          <a:ln/>
        </p:spPr>
      </p:sp>
      <p:sp>
        <p:nvSpPr>
          <p:cNvPr id="33" name="Shape 31"/>
          <p:cNvSpPr/>
          <p:nvPr/>
        </p:nvSpPr>
        <p:spPr>
          <a:xfrm>
            <a:off x="1828800" y="3749040"/>
            <a:ext cx="2606040" cy="484632"/>
          </a:xfrm>
          <a:prstGeom prst="rect">
            <a:avLst/>
          </a:prstGeom>
          <a:solidFill>
            <a:srgbClr val="EA580C"/>
          </a:solidFill>
          <a:ln/>
        </p:spPr>
      </p:sp>
      <p:sp>
        <p:nvSpPr>
          <p:cNvPr id="34" name="Text 32"/>
          <p:cNvSpPr/>
          <p:nvPr/>
        </p:nvSpPr>
        <p:spPr>
          <a:xfrm>
            <a:off x="411480" y="378561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Sello digital único por documento</a:t>
            </a:r>
            <a:endParaRPr lang="en-US" sz="1050" dirty="0"/>
          </a:p>
        </p:txBody>
      </p:sp>
      <p:sp>
        <p:nvSpPr>
          <p:cNvPr id="35" name="Text 33"/>
          <p:cNvSpPr/>
          <p:nvPr/>
        </p:nvSpPr>
        <p:spPr>
          <a:xfrm>
            <a:off x="4572000" y="378561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Cada PDF generado recibe un identificador único (6 chars aleatorios) más un sello SHA-256. Ambos se guardan en BD. Cualquier persona puede verificar la autenticidad escaneando el QR.</a:t>
            </a:r>
            <a:endParaRPr lang="en-US" sz="950" dirty="0"/>
          </a:p>
        </p:txBody>
      </p:sp>
      <p:sp>
        <p:nvSpPr>
          <p:cNvPr id="36" name="Shape 34"/>
          <p:cNvSpPr/>
          <p:nvPr/>
        </p:nvSpPr>
        <p:spPr>
          <a:xfrm>
            <a:off x="320040" y="4297680"/>
            <a:ext cx="11475720" cy="484632"/>
          </a:xfrm>
          <a:prstGeom prst="roundRect">
            <a:avLst>
              <a:gd name="adj" fmla="val 13208"/>
            </a:avLst>
          </a:prstGeom>
          <a:solidFill>
            <a:srgbClr val="FFFFFF"/>
          </a:solidFill>
          <a:ln/>
        </p:spPr>
      </p:sp>
      <p:sp>
        <p:nvSpPr>
          <p:cNvPr id="37" name="Shape 35"/>
          <p:cNvSpPr/>
          <p:nvPr/>
        </p:nvSpPr>
        <p:spPr>
          <a:xfrm>
            <a:off x="320040" y="4297680"/>
            <a:ext cx="4114800" cy="484632"/>
          </a:xfrm>
          <a:prstGeom prst="roundRect">
            <a:avLst>
              <a:gd name="adj" fmla="val 13208"/>
            </a:avLst>
          </a:prstGeom>
          <a:solidFill>
            <a:srgbClr val="475569"/>
          </a:solidFill>
          <a:ln/>
        </p:spPr>
      </p:sp>
      <p:sp>
        <p:nvSpPr>
          <p:cNvPr id="38" name="Shape 36"/>
          <p:cNvSpPr/>
          <p:nvPr/>
        </p:nvSpPr>
        <p:spPr>
          <a:xfrm>
            <a:off x="1828800" y="4297680"/>
            <a:ext cx="2606040" cy="484632"/>
          </a:xfrm>
          <a:prstGeom prst="rect">
            <a:avLst/>
          </a:prstGeom>
          <a:solidFill>
            <a:srgbClr val="475569"/>
          </a:solidFill>
          <a:ln/>
        </p:spPr>
      </p:sp>
      <p:sp>
        <p:nvSpPr>
          <p:cNvPr id="39" name="Text 37"/>
          <p:cNvSpPr/>
          <p:nvPr/>
        </p:nvSpPr>
        <p:spPr>
          <a:xfrm>
            <a:off x="411480" y="433425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Backups automáticos configurables</a:t>
            </a:r>
            <a:endParaRPr lang="en-US" sz="1050" dirty="0"/>
          </a:p>
        </p:txBody>
      </p:sp>
      <p:sp>
        <p:nvSpPr>
          <p:cNvPr id="40" name="Text 38"/>
          <p:cNvSpPr/>
          <p:nvPr/>
        </p:nvSpPr>
        <p:spPr>
          <a:xfrm>
            <a:off x="4572000" y="433425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El SuperAdmin configura schedules de backup (full/incremental) desde el panel. El cron ejecuta mysqldump, comprime el resultado y notifica por email al completar.</a:t>
            </a:r>
            <a:endParaRPr lang="en-US" sz="950" dirty="0"/>
          </a:p>
        </p:txBody>
      </p:sp>
      <p:sp>
        <p:nvSpPr>
          <p:cNvPr id="41" name="Shape 39"/>
          <p:cNvSpPr/>
          <p:nvPr/>
        </p:nvSpPr>
        <p:spPr>
          <a:xfrm>
            <a:off x="320040" y="4846320"/>
            <a:ext cx="11475720" cy="484632"/>
          </a:xfrm>
          <a:prstGeom prst="roundRect">
            <a:avLst>
              <a:gd name="adj" fmla="val 13208"/>
            </a:avLst>
          </a:prstGeom>
          <a:solidFill>
            <a:srgbClr val="DBEAFE"/>
          </a:solidFill>
          <a:ln/>
        </p:spPr>
      </p:sp>
      <p:sp>
        <p:nvSpPr>
          <p:cNvPr id="42" name="Shape 40"/>
          <p:cNvSpPr/>
          <p:nvPr/>
        </p:nvSpPr>
        <p:spPr>
          <a:xfrm>
            <a:off x="320040" y="4846320"/>
            <a:ext cx="4114800" cy="484632"/>
          </a:xfrm>
          <a:prstGeom prst="roundRect">
            <a:avLst>
              <a:gd name="adj" fmla="val 13208"/>
            </a:avLst>
          </a:prstGeom>
          <a:solidFill>
            <a:srgbClr val="CA8A04"/>
          </a:solidFill>
          <a:ln/>
        </p:spPr>
      </p:sp>
      <p:sp>
        <p:nvSpPr>
          <p:cNvPr id="43" name="Shape 41"/>
          <p:cNvSpPr/>
          <p:nvPr/>
        </p:nvSpPr>
        <p:spPr>
          <a:xfrm>
            <a:off x="1828800" y="4846320"/>
            <a:ext cx="2606040" cy="484632"/>
          </a:xfrm>
          <a:prstGeom prst="rect">
            <a:avLst/>
          </a:prstGeom>
          <a:solidFill>
            <a:srgbClr val="CA8A04"/>
          </a:solidFill>
          <a:ln/>
        </p:spPr>
      </p:sp>
      <p:sp>
        <p:nvSpPr>
          <p:cNvPr id="44" name="Text 42"/>
          <p:cNvSpPr/>
          <p:nvPr/>
        </p:nvSpPr>
        <p:spPr>
          <a:xfrm>
            <a:off x="411480" y="488289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Exportación/Importación Excel masiva</a:t>
            </a:r>
            <a:endParaRPr lang="en-US" sz="1050" dirty="0"/>
          </a:p>
        </p:txBody>
      </p:sp>
      <p:sp>
        <p:nvSpPr>
          <p:cNvPr id="45" name="Text 43"/>
          <p:cNvSpPr/>
          <p:nvPr/>
        </p:nvSpPr>
        <p:spPr>
          <a:xfrm>
            <a:off x="4572000" y="488289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Admins pueden exportar solicitudes, usuarios, instituciones y áreas prioritarias a Excel. También pueden importar catálogos completos (usuarios, instituciones, áreas) desde plantillas.</a:t>
            </a:r>
            <a:endParaRPr lang="en-US" sz="950" dirty="0"/>
          </a:p>
        </p:txBody>
      </p:sp>
      <p:sp>
        <p:nvSpPr>
          <p:cNvPr id="46" name="Shape 44"/>
          <p:cNvSpPr/>
          <p:nvPr/>
        </p:nvSpPr>
        <p:spPr>
          <a:xfrm>
            <a:off x="320040" y="5394960"/>
            <a:ext cx="11475720" cy="484632"/>
          </a:xfrm>
          <a:prstGeom prst="roundRect">
            <a:avLst>
              <a:gd name="adj" fmla="val 13208"/>
            </a:avLst>
          </a:prstGeom>
          <a:solidFill>
            <a:srgbClr val="FFFFFF"/>
          </a:solidFill>
          <a:ln/>
        </p:spPr>
      </p:sp>
      <p:sp>
        <p:nvSpPr>
          <p:cNvPr id="47" name="Shape 45"/>
          <p:cNvSpPr/>
          <p:nvPr/>
        </p:nvSpPr>
        <p:spPr>
          <a:xfrm>
            <a:off x="320040" y="5394960"/>
            <a:ext cx="4114800" cy="484632"/>
          </a:xfrm>
          <a:prstGeom prst="roundRect">
            <a:avLst>
              <a:gd name="adj" fmla="val 13208"/>
            </a:avLst>
          </a:prstGeom>
          <a:solidFill>
            <a:srgbClr val="059669"/>
          </a:solidFill>
          <a:ln/>
        </p:spPr>
      </p:sp>
      <p:sp>
        <p:nvSpPr>
          <p:cNvPr id="48" name="Shape 46"/>
          <p:cNvSpPr/>
          <p:nvPr/>
        </p:nvSpPr>
        <p:spPr>
          <a:xfrm>
            <a:off x="1828800" y="5394960"/>
            <a:ext cx="2606040" cy="484632"/>
          </a:xfrm>
          <a:prstGeom prst="rect">
            <a:avLst/>
          </a:prstGeom>
          <a:solidFill>
            <a:srgbClr val="059669"/>
          </a:solidFill>
          <a:ln/>
        </p:spPr>
      </p:sp>
      <p:sp>
        <p:nvSpPr>
          <p:cNvPr id="49" name="Text 47"/>
          <p:cNvSpPr/>
          <p:nvPr/>
        </p:nvSpPr>
        <p:spPr>
          <a:xfrm>
            <a:off x="411480" y="543153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Recordatorios automáticos de plazo</a:t>
            </a:r>
            <a:endParaRPr lang="en-US" sz="1050" dirty="0"/>
          </a:p>
        </p:txBody>
      </p:sp>
      <p:sp>
        <p:nvSpPr>
          <p:cNvPr id="50" name="Text 48"/>
          <p:cNvSpPr/>
          <p:nvPr/>
        </p:nvSpPr>
        <p:spPr>
          <a:xfrm>
            <a:off x="4572000" y="543153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El cron evaluations:remind detecta evaluaciones con ≤2 días hábiles antes del deadline_at y envía EvaluatorReminder automáticamente, sin configuración manual por parte del admin.</a:t>
            </a:r>
            <a:endParaRPr lang="en-US" sz="950" dirty="0"/>
          </a:p>
        </p:txBody>
      </p:sp>
      <p:sp>
        <p:nvSpPr>
          <p:cNvPr id="51" name="Shape 49"/>
          <p:cNvSpPr/>
          <p:nvPr/>
        </p:nvSpPr>
        <p:spPr>
          <a:xfrm>
            <a:off x="320040" y="5943600"/>
            <a:ext cx="11475720" cy="484632"/>
          </a:xfrm>
          <a:prstGeom prst="roundRect">
            <a:avLst>
              <a:gd name="adj" fmla="val 13208"/>
            </a:avLst>
          </a:prstGeom>
          <a:solidFill>
            <a:srgbClr val="DBEAFE"/>
          </a:solidFill>
          <a:ln/>
        </p:spPr>
      </p:sp>
      <p:sp>
        <p:nvSpPr>
          <p:cNvPr id="52" name="Shape 50"/>
          <p:cNvSpPr/>
          <p:nvPr/>
        </p:nvSpPr>
        <p:spPr>
          <a:xfrm>
            <a:off x="320040" y="5943600"/>
            <a:ext cx="4114800" cy="484632"/>
          </a:xfrm>
          <a:prstGeom prst="roundRect">
            <a:avLst>
              <a:gd name="adj" fmla="val 13208"/>
            </a:avLst>
          </a:prstGeom>
          <a:solidFill>
            <a:srgbClr val="7C3AED"/>
          </a:solidFill>
          <a:ln/>
        </p:spPr>
      </p:sp>
      <p:sp>
        <p:nvSpPr>
          <p:cNvPr id="53" name="Shape 51"/>
          <p:cNvSpPr/>
          <p:nvPr/>
        </p:nvSpPr>
        <p:spPr>
          <a:xfrm>
            <a:off x="1828800" y="5943600"/>
            <a:ext cx="2606040" cy="484632"/>
          </a:xfrm>
          <a:prstGeom prst="rect">
            <a:avLst/>
          </a:prstGeom>
          <a:solidFill>
            <a:srgbClr val="7C3AED"/>
          </a:solidFill>
          <a:ln/>
        </p:spPr>
      </p:sp>
      <p:sp>
        <p:nvSpPr>
          <p:cNvPr id="54" name="Text 52"/>
          <p:cNvSpPr/>
          <p:nvPr/>
        </p:nvSpPr>
        <p:spPr>
          <a:xfrm>
            <a:off x="411480" y="5980176"/>
            <a:ext cx="39319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Rúbricas dinámicas por convocatoria</a:t>
            </a:r>
            <a:endParaRPr lang="en-US" sz="1050" dirty="0"/>
          </a:p>
        </p:txBody>
      </p:sp>
      <p:sp>
        <p:nvSpPr>
          <p:cNvPr id="55" name="Text 53"/>
          <p:cNvSpPr/>
          <p:nvPr/>
        </p:nvSpPr>
        <p:spPr>
          <a:xfrm>
            <a:off x="4572000" y="5980176"/>
            <a:ext cx="7132320" cy="41148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Cada convocatoria puede tener su propia rúbrica con preguntas y opciones personalizadas. El evaluador califica usando exactamente la rúbrica que definió el admin para esa convocatoria.</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Exportación e Importación de Datos con Laravel Excel</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Text 4"/>
          <p:cNvSpPr/>
          <p:nvPr/>
        </p:nvSpPr>
        <p:spPr>
          <a:xfrm>
            <a:off x="365760" y="1005840"/>
            <a:ext cx="11430000" cy="347472"/>
          </a:xfrm>
          <a:prstGeom prst="rect">
            <a:avLst/>
          </a:prstGeom>
          <a:noFill/>
          <a:ln/>
        </p:spPr>
        <p:txBody>
          <a:bodyPr wrap="square" rtlCol="0" anchor="ctr"/>
          <a:lstStyle/>
          <a:p>
            <a:pPr indent="0" marL="0">
              <a:buNone/>
            </a:pPr>
            <a:r>
              <a:rPr lang="en-US" sz="1200" dirty="0">
                <a:solidFill>
                  <a:srgbClr val="6B7280"/>
                </a:solidFill>
                <a:latin typeface="Calibri Italic" pitchFamily="34" charset="0"/>
                <a:ea typeface="Calibri Italic" pitchFamily="34" charset="-122"/>
                <a:cs typeface="Calibri Italic" pitchFamily="34" charset="-120"/>
              </a:rPr>
              <a:t>Powered by Maatwebsite/Laravel-Excel (PhpSpreadsheet) — Clases en app/Exports/ y app/Imports/</a:t>
            </a:r>
            <a:endParaRPr lang="en-US" sz="1200" dirty="0"/>
          </a:p>
        </p:txBody>
      </p:sp>
      <p:sp>
        <p:nvSpPr>
          <p:cNvPr id="7" name="Shape 5"/>
          <p:cNvSpPr/>
          <p:nvPr/>
        </p:nvSpPr>
        <p:spPr>
          <a:xfrm>
            <a:off x="320040" y="1444752"/>
            <a:ext cx="7132320" cy="411480"/>
          </a:xfrm>
          <a:prstGeom prst="rect">
            <a:avLst/>
          </a:prstGeom>
          <a:solidFill>
            <a:srgbClr val="059669"/>
          </a:solidFill>
          <a:ln/>
        </p:spPr>
      </p:sp>
      <p:sp>
        <p:nvSpPr>
          <p:cNvPr id="8" name="Text 6"/>
          <p:cNvSpPr/>
          <p:nvPr/>
        </p:nvSpPr>
        <p:spPr>
          <a:xfrm>
            <a:off x="411480" y="1444752"/>
            <a:ext cx="69494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EXPORTACIONES — 8 clases (app/Exports/)</a:t>
            </a:r>
            <a:endParaRPr lang="en-US" sz="1200" dirty="0"/>
          </a:p>
        </p:txBody>
      </p:sp>
      <p:sp>
        <p:nvSpPr>
          <p:cNvPr id="9" name="Shape 7"/>
          <p:cNvSpPr/>
          <p:nvPr/>
        </p:nvSpPr>
        <p:spPr>
          <a:xfrm>
            <a:off x="320040" y="1920240"/>
            <a:ext cx="7132320" cy="484632"/>
          </a:xfrm>
          <a:prstGeom prst="roundRect">
            <a:avLst>
              <a:gd name="adj" fmla="val 9434"/>
            </a:avLst>
          </a:prstGeom>
          <a:solidFill>
            <a:srgbClr val="F0FDF4"/>
          </a:solidFill>
          <a:ln/>
        </p:spPr>
      </p:sp>
      <p:sp>
        <p:nvSpPr>
          <p:cNvPr id="10" name="Text 8"/>
          <p:cNvSpPr/>
          <p:nvPr/>
        </p:nvSpPr>
        <p:spPr>
          <a:xfrm>
            <a:off x="457200" y="1938528"/>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ApplicationsExport</a:t>
            </a:r>
            <a:endParaRPr lang="en-US" sz="950" dirty="0"/>
          </a:p>
        </p:txBody>
      </p:sp>
      <p:sp>
        <p:nvSpPr>
          <p:cNvPr id="11" name="Text 9"/>
          <p:cNvSpPr/>
          <p:nvPr/>
        </p:nvSpPr>
        <p:spPr>
          <a:xfrm>
            <a:off x="3611880" y="1938528"/>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Solicitudes con estado, puntaje de evaluación, docente, institución y área</a:t>
            </a:r>
            <a:endParaRPr lang="en-US" sz="950" dirty="0"/>
          </a:p>
        </p:txBody>
      </p:sp>
      <p:sp>
        <p:nvSpPr>
          <p:cNvPr id="12" name="Shape 10"/>
          <p:cNvSpPr/>
          <p:nvPr/>
        </p:nvSpPr>
        <p:spPr>
          <a:xfrm>
            <a:off x="320040" y="2455164"/>
            <a:ext cx="7132320" cy="484632"/>
          </a:xfrm>
          <a:prstGeom prst="roundRect">
            <a:avLst>
              <a:gd name="adj" fmla="val 9434"/>
            </a:avLst>
          </a:prstGeom>
          <a:solidFill>
            <a:srgbClr val="FFFFFF"/>
          </a:solidFill>
          <a:ln/>
        </p:spPr>
      </p:sp>
      <p:sp>
        <p:nvSpPr>
          <p:cNvPr id="13" name="Text 11"/>
          <p:cNvSpPr/>
          <p:nvPr/>
        </p:nvSpPr>
        <p:spPr>
          <a:xfrm>
            <a:off x="457200" y="2473452"/>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UsersExport</a:t>
            </a:r>
            <a:endParaRPr lang="en-US" sz="950" dirty="0"/>
          </a:p>
        </p:txBody>
      </p:sp>
      <p:sp>
        <p:nvSpPr>
          <p:cNvPr id="14" name="Text 12"/>
          <p:cNvSpPr/>
          <p:nvPr/>
        </p:nvSpPr>
        <p:spPr>
          <a:xfrm>
            <a:off x="3611880" y="2473452"/>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Listado de usuarios activos con roles, institución, área y CURP</a:t>
            </a:r>
            <a:endParaRPr lang="en-US" sz="950" dirty="0"/>
          </a:p>
        </p:txBody>
      </p:sp>
      <p:sp>
        <p:nvSpPr>
          <p:cNvPr id="15" name="Shape 13"/>
          <p:cNvSpPr/>
          <p:nvPr/>
        </p:nvSpPr>
        <p:spPr>
          <a:xfrm>
            <a:off x="320040" y="2990088"/>
            <a:ext cx="7132320" cy="484632"/>
          </a:xfrm>
          <a:prstGeom prst="roundRect">
            <a:avLst>
              <a:gd name="adj" fmla="val 9434"/>
            </a:avLst>
          </a:prstGeom>
          <a:solidFill>
            <a:srgbClr val="F0FDF4"/>
          </a:solidFill>
          <a:ln/>
        </p:spPr>
      </p:sp>
      <p:sp>
        <p:nvSpPr>
          <p:cNvPr id="16" name="Text 14"/>
          <p:cNvSpPr/>
          <p:nvPr/>
        </p:nvSpPr>
        <p:spPr>
          <a:xfrm>
            <a:off x="457200" y="3008376"/>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UsersTemplateExport</a:t>
            </a:r>
            <a:endParaRPr lang="en-US" sz="950" dirty="0"/>
          </a:p>
        </p:txBody>
      </p:sp>
      <p:sp>
        <p:nvSpPr>
          <p:cNvPr id="17" name="Text 15"/>
          <p:cNvSpPr/>
          <p:nvPr/>
        </p:nvSpPr>
        <p:spPr>
          <a:xfrm>
            <a:off x="3611880" y="3008376"/>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Plantilla en blanco para carga masiva con cabeceras predefinidas</a:t>
            </a:r>
            <a:endParaRPr lang="en-US" sz="950" dirty="0"/>
          </a:p>
        </p:txBody>
      </p:sp>
      <p:sp>
        <p:nvSpPr>
          <p:cNvPr id="18" name="Shape 16"/>
          <p:cNvSpPr/>
          <p:nvPr/>
        </p:nvSpPr>
        <p:spPr>
          <a:xfrm>
            <a:off x="320040" y="3525012"/>
            <a:ext cx="7132320" cy="484632"/>
          </a:xfrm>
          <a:prstGeom prst="roundRect">
            <a:avLst>
              <a:gd name="adj" fmla="val 9434"/>
            </a:avLst>
          </a:prstGeom>
          <a:solidFill>
            <a:srgbClr val="FFFFFF"/>
          </a:solidFill>
          <a:ln/>
        </p:spPr>
      </p:sp>
      <p:sp>
        <p:nvSpPr>
          <p:cNvPr id="19" name="Text 17"/>
          <p:cNvSpPr/>
          <p:nvPr/>
        </p:nvSpPr>
        <p:spPr>
          <a:xfrm>
            <a:off x="457200" y="3543300"/>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InstitutionsExport</a:t>
            </a:r>
            <a:endParaRPr lang="en-US" sz="950" dirty="0"/>
          </a:p>
        </p:txBody>
      </p:sp>
      <p:sp>
        <p:nvSpPr>
          <p:cNvPr id="20" name="Text 18"/>
          <p:cNvSpPr/>
          <p:nvPr/>
        </p:nvSpPr>
        <p:spPr>
          <a:xfrm>
            <a:off x="3611880" y="3543300"/>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Catálogo de instituciones con clave, nombre y estado</a:t>
            </a:r>
            <a:endParaRPr lang="en-US" sz="950" dirty="0"/>
          </a:p>
        </p:txBody>
      </p:sp>
      <p:sp>
        <p:nvSpPr>
          <p:cNvPr id="21" name="Shape 19"/>
          <p:cNvSpPr/>
          <p:nvPr/>
        </p:nvSpPr>
        <p:spPr>
          <a:xfrm>
            <a:off x="320040" y="4059936"/>
            <a:ext cx="7132320" cy="484632"/>
          </a:xfrm>
          <a:prstGeom prst="roundRect">
            <a:avLst>
              <a:gd name="adj" fmla="val 9434"/>
            </a:avLst>
          </a:prstGeom>
          <a:solidFill>
            <a:srgbClr val="F0FDF4"/>
          </a:solidFill>
          <a:ln/>
        </p:spPr>
      </p:sp>
      <p:sp>
        <p:nvSpPr>
          <p:cNvPr id="22" name="Text 20"/>
          <p:cNvSpPr/>
          <p:nvPr/>
        </p:nvSpPr>
        <p:spPr>
          <a:xfrm>
            <a:off x="457200" y="4078224"/>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InstitutionsTemplateExport</a:t>
            </a:r>
            <a:endParaRPr lang="en-US" sz="950" dirty="0"/>
          </a:p>
        </p:txBody>
      </p:sp>
      <p:sp>
        <p:nvSpPr>
          <p:cNvPr id="23" name="Text 21"/>
          <p:cNvSpPr/>
          <p:nvPr/>
        </p:nvSpPr>
        <p:spPr>
          <a:xfrm>
            <a:off x="3611880" y="4078224"/>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Plantilla de importación de instituciones</a:t>
            </a:r>
            <a:endParaRPr lang="en-US" sz="950" dirty="0"/>
          </a:p>
        </p:txBody>
      </p:sp>
      <p:sp>
        <p:nvSpPr>
          <p:cNvPr id="24" name="Shape 22"/>
          <p:cNvSpPr/>
          <p:nvPr/>
        </p:nvSpPr>
        <p:spPr>
          <a:xfrm>
            <a:off x="320040" y="4594860"/>
            <a:ext cx="7132320" cy="484632"/>
          </a:xfrm>
          <a:prstGeom prst="roundRect">
            <a:avLst>
              <a:gd name="adj" fmla="val 9434"/>
            </a:avLst>
          </a:prstGeom>
          <a:solidFill>
            <a:srgbClr val="FFFFFF"/>
          </a:solidFill>
          <a:ln/>
        </p:spPr>
      </p:sp>
      <p:sp>
        <p:nvSpPr>
          <p:cNvPr id="25" name="Text 23"/>
          <p:cNvSpPr/>
          <p:nvPr/>
        </p:nvSpPr>
        <p:spPr>
          <a:xfrm>
            <a:off x="457200" y="4613148"/>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PriorityAreasExport</a:t>
            </a:r>
            <a:endParaRPr lang="en-US" sz="950" dirty="0"/>
          </a:p>
        </p:txBody>
      </p:sp>
      <p:sp>
        <p:nvSpPr>
          <p:cNvPr id="26" name="Text 24"/>
          <p:cNvSpPr/>
          <p:nvPr/>
        </p:nvSpPr>
        <p:spPr>
          <a:xfrm>
            <a:off x="3611880" y="4613148"/>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Áreas prioritarias con sus sub-áreas relacionadas</a:t>
            </a:r>
            <a:endParaRPr lang="en-US" sz="950" dirty="0"/>
          </a:p>
        </p:txBody>
      </p:sp>
      <p:sp>
        <p:nvSpPr>
          <p:cNvPr id="27" name="Shape 25"/>
          <p:cNvSpPr/>
          <p:nvPr/>
        </p:nvSpPr>
        <p:spPr>
          <a:xfrm>
            <a:off x="320040" y="5129784"/>
            <a:ext cx="7132320" cy="484632"/>
          </a:xfrm>
          <a:prstGeom prst="roundRect">
            <a:avLst>
              <a:gd name="adj" fmla="val 9434"/>
            </a:avLst>
          </a:prstGeom>
          <a:solidFill>
            <a:srgbClr val="F0FDF4"/>
          </a:solidFill>
          <a:ln/>
        </p:spPr>
      </p:sp>
      <p:sp>
        <p:nvSpPr>
          <p:cNvPr id="28" name="Text 26"/>
          <p:cNvSpPr/>
          <p:nvPr/>
        </p:nvSpPr>
        <p:spPr>
          <a:xfrm>
            <a:off x="457200" y="5148072"/>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PriorityAreasTemplateExport</a:t>
            </a:r>
            <a:endParaRPr lang="en-US" sz="950" dirty="0"/>
          </a:p>
        </p:txBody>
      </p:sp>
      <p:sp>
        <p:nvSpPr>
          <p:cNvPr id="29" name="Text 27"/>
          <p:cNvSpPr/>
          <p:nvPr/>
        </p:nvSpPr>
        <p:spPr>
          <a:xfrm>
            <a:off x="3611880" y="5148072"/>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Plantilla de importación de áreas prioritarias</a:t>
            </a:r>
            <a:endParaRPr lang="en-US" sz="950" dirty="0"/>
          </a:p>
        </p:txBody>
      </p:sp>
      <p:sp>
        <p:nvSpPr>
          <p:cNvPr id="30" name="Shape 28"/>
          <p:cNvSpPr/>
          <p:nvPr/>
        </p:nvSpPr>
        <p:spPr>
          <a:xfrm>
            <a:off x="320040" y="5664708"/>
            <a:ext cx="7132320" cy="484632"/>
          </a:xfrm>
          <a:prstGeom prst="roundRect">
            <a:avLst>
              <a:gd name="adj" fmla="val 9434"/>
            </a:avLst>
          </a:prstGeom>
          <a:solidFill>
            <a:srgbClr val="FFFFFF"/>
          </a:solidFill>
          <a:ln/>
        </p:spPr>
      </p:sp>
      <p:sp>
        <p:nvSpPr>
          <p:cNvPr id="31" name="Text 29"/>
          <p:cNvSpPr/>
          <p:nvPr/>
        </p:nvSpPr>
        <p:spPr>
          <a:xfrm>
            <a:off x="457200" y="5682996"/>
            <a:ext cx="3017520" cy="438912"/>
          </a:xfrm>
          <a:prstGeom prst="rect">
            <a:avLst/>
          </a:prstGeom>
          <a:noFill/>
          <a:ln/>
        </p:spPr>
        <p:txBody>
          <a:bodyPr wrap="square" rtlCol="0" anchor="ctr"/>
          <a:lstStyle/>
          <a:p>
            <a:pPr indent="0" marL="0">
              <a:buNone/>
            </a:pPr>
            <a:r>
              <a:rPr lang="en-US" sz="950" b="1" dirty="0">
                <a:solidFill>
                  <a:srgbClr val="059669"/>
                </a:solidFill>
                <a:latin typeface="Calibri Mono" pitchFamily="34" charset="0"/>
                <a:ea typeface="Calibri Mono" pitchFamily="34" charset="-122"/>
                <a:cs typeface="Calibri Mono" pitchFamily="34" charset="-120"/>
              </a:rPr>
              <a:t>SubAreasExport</a:t>
            </a:r>
            <a:endParaRPr lang="en-US" sz="950" dirty="0"/>
          </a:p>
        </p:txBody>
      </p:sp>
      <p:sp>
        <p:nvSpPr>
          <p:cNvPr id="32" name="Text 30"/>
          <p:cNvSpPr/>
          <p:nvPr/>
        </p:nvSpPr>
        <p:spPr>
          <a:xfrm>
            <a:off x="3611880" y="5682996"/>
            <a:ext cx="3749040" cy="438912"/>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Sub-áreas con referencia a área prioritaria padre</a:t>
            </a:r>
            <a:endParaRPr lang="en-US" sz="950" dirty="0"/>
          </a:p>
        </p:txBody>
      </p:sp>
      <p:sp>
        <p:nvSpPr>
          <p:cNvPr id="33" name="Shape 31"/>
          <p:cNvSpPr/>
          <p:nvPr/>
        </p:nvSpPr>
        <p:spPr>
          <a:xfrm>
            <a:off x="7772400" y="1444752"/>
            <a:ext cx="4297680" cy="411480"/>
          </a:xfrm>
          <a:prstGeom prst="rect">
            <a:avLst/>
          </a:prstGeom>
          <a:solidFill>
            <a:srgbClr val="2563EB"/>
          </a:solidFill>
          <a:ln/>
        </p:spPr>
      </p:sp>
      <p:sp>
        <p:nvSpPr>
          <p:cNvPr id="34" name="Text 32"/>
          <p:cNvSpPr/>
          <p:nvPr/>
        </p:nvSpPr>
        <p:spPr>
          <a:xfrm>
            <a:off x="7863840" y="1444752"/>
            <a:ext cx="41148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IMPORTACIONES — 3 clases</a:t>
            </a:r>
            <a:endParaRPr lang="en-US" sz="1200" dirty="0"/>
          </a:p>
        </p:txBody>
      </p:sp>
      <p:sp>
        <p:nvSpPr>
          <p:cNvPr id="35" name="Shape 33"/>
          <p:cNvSpPr/>
          <p:nvPr/>
        </p:nvSpPr>
        <p:spPr>
          <a:xfrm>
            <a:off x="7772400" y="1920240"/>
            <a:ext cx="4297680" cy="1554480"/>
          </a:xfrm>
          <a:prstGeom prst="roundRect">
            <a:avLst>
              <a:gd name="adj" fmla="val 4706"/>
            </a:avLst>
          </a:prstGeom>
          <a:solidFill>
            <a:srgbClr val="DBEAFE"/>
          </a:solidFill>
          <a:ln/>
          <a:effectLst>
            <a:outerShdw sx="100000" sy="100000" kx="0" ky="0" algn="bl" rotWithShape="0" blurRad="38100" dist="12700" dir="16200000">
              <a:srgbClr val="000000">
                <a:alpha val="75000"/>
              </a:srgbClr>
            </a:outerShdw>
          </a:effectLst>
        </p:spPr>
      </p:sp>
      <p:sp>
        <p:nvSpPr>
          <p:cNvPr id="36" name="Shape 34"/>
          <p:cNvSpPr/>
          <p:nvPr/>
        </p:nvSpPr>
        <p:spPr>
          <a:xfrm>
            <a:off x="7772400" y="1920240"/>
            <a:ext cx="4297680" cy="384048"/>
          </a:xfrm>
          <a:prstGeom prst="roundRect">
            <a:avLst>
              <a:gd name="adj" fmla="val 19048"/>
            </a:avLst>
          </a:prstGeom>
          <a:solidFill>
            <a:srgbClr val="2563EB"/>
          </a:solidFill>
          <a:ln/>
        </p:spPr>
      </p:sp>
      <p:sp>
        <p:nvSpPr>
          <p:cNvPr id="37" name="Shape 35"/>
          <p:cNvSpPr/>
          <p:nvPr/>
        </p:nvSpPr>
        <p:spPr>
          <a:xfrm>
            <a:off x="7772400" y="2112264"/>
            <a:ext cx="4297680" cy="192024"/>
          </a:xfrm>
          <a:prstGeom prst="rect">
            <a:avLst/>
          </a:prstGeom>
          <a:solidFill>
            <a:srgbClr val="2563EB"/>
          </a:solidFill>
          <a:ln/>
        </p:spPr>
      </p:sp>
      <p:sp>
        <p:nvSpPr>
          <p:cNvPr id="38" name="Text 36"/>
          <p:cNvSpPr/>
          <p:nvPr/>
        </p:nvSpPr>
        <p:spPr>
          <a:xfrm>
            <a:off x="7863840" y="1938528"/>
            <a:ext cx="4114800" cy="329184"/>
          </a:xfrm>
          <a:prstGeom prst="rect">
            <a:avLst/>
          </a:prstGeom>
          <a:noFill/>
          <a:ln/>
        </p:spPr>
        <p:txBody>
          <a:bodyPr wrap="square" rtlCol="0" anchor="ctr"/>
          <a:lstStyle/>
          <a:p>
            <a:pPr indent="0" marL="0">
              <a:buNone/>
            </a:pPr>
            <a:r>
              <a:rPr lang="en-US" sz="1000" b="1" dirty="0">
                <a:solidFill>
                  <a:srgbClr val="FFFFFF"/>
                </a:solidFill>
                <a:latin typeface="Calibri Mono" pitchFamily="34" charset="0"/>
                <a:ea typeface="Calibri Mono" pitchFamily="34" charset="-122"/>
                <a:cs typeface="Calibri Mono" pitchFamily="34" charset="-120"/>
              </a:rPr>
              <a:t>UsersImport</a:t>
            </a:r>
            <a:endParaRPr lang="en-US" sz="1000" dirty="0"/>
          </a:p>
        </p:txBody>
      </p:sp>
      <p:sp>
        <p:nvSpPr>
          <p:cNvPr id="39" name="Text 37"/>
          <p:cNvSpPr/>
          <p:nvPr/>
        </p:nvSpPr>
        <p:spPr>
          <a:xfrm>
            <a:off x="7863840" y="2350008"/>
            <a:ext cx="4114800" cy="10058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Importación masiva de usuarios. Valida CURP, email único y relaciones con institución/área.</a:t>
            </a:r>
            <a:endParaRPr lang="en-US" sz="950" dirty="0"/>
          </a:p>
        </p:txBody>
      </p:sp>
      <p:sp>
        <p:nvSpPr>
          <p:cNvPr id="40" name="Shape 38"/>
          <p:cNvSpPr/>
          <p:nvPr/>
        </p:nvSpPr>
        <p:spPr>
          <a:xfrm>
            <a:off x="7772400" y="3657600"/>
            <a:ext cx="4297680" cy="1554480"/>
          </a:xfrm>
          <a:prstGeom prst="roundRect">
            <a:avLst>
              <a:gd name="adj" fmla="val 4706"/>
            </a:avLst>
          </a:prstGeom>
          <a:solidFill>
            <a:srgbClr val="FFFFFF"/>
          </a:solidFill>
          <a:ln/>
          <a:effectLst>
            <a:outerShdw sx="100000" sy="100000" kx="0" ky="0" algn="bl" rotWithShape="0" blurRad="38100" dist="12700" dir="16200000">
              <a:srgbClr val="000000">
                <a:alpha val="75000"/>
              </a:srgbClr>
            </a:outerShdw>
          </a:effectLst>
        </p:spPr>
      </p:sp>
      <p:sp>
        <p:nvSpPr>
          <p:cNvPr id="41" name="Shape 39"/>
          <p:cNvSpPr/>
          <p:nvPr/>
        </p:nvSpPr>
        <p:spPr>
          <a:xfrm>
            <a:off x="7772400" y="3657600"/>
            <a:ext cx="4297680" cy="384048"/>
          </a:xfrm>
          <a:prstGeom prst="roundRect">
            <a:avLst>
              <a:gd name="adj" fmla="val 19048"/>
            </a:avLst>
          </a:prstGeom>
          <a:solidFill>
            <a:srgbClr val="2563EB"/>
          </a:solidFill>
          <a:ln/>
        </p:spPr>
      </p:sp>
      <p:sp>
        <p:nvSpPr>
          <p:cNvPr id="42" name="Shape 40"/>
          <p:cNvSpPr/>
          <p:nvPr/>
        </p:nvSpPr>
        <p:spPr>
          <a:xfrm>
            <a:off x="7772400" y="3849624"/>
            <a:ext cx="4297680" cy="192024"/>
          </a:xfrm>
          <a:prstGeom prst="rect">
            <a:avLst/>
          </a:prstGeom>
          <a:solidFill>
            <a:srgbClr val="2563EB"/>
          </a:solidFill>
          <a:ln/>
        </p:spPr>
      </p:sp>
      <p:sp>
        <p:nvSpPr>
          <p:cNvPr id="43" name="Text 41"/>
          <p:cNvSpPr/>
          <p:nvPr/>
        </p:nvSpPr>
        <p:spPr>
          <a:xfrm>
            <a:off x="7863840" y="3675888"/>
            <a:ext cx="4114800" cy="329184"/>
          </a:xfrm>
          <a:prstGeom prst="rect">
            <a:avLst/>
          </a:prstGeom>
          <a:noFill/>
          <a:ln/>
        </p:spPr>
        <p:txBody>
          <a:bodyPr wrap="square" rtlCol="0" anchor="ctr"/>
          <a:lstStyle/>
          <a:p>
            <a:pPr indent="0" marL="0">
              <a:buNone/>
            </a:pPr>
            <a:r>
              <a:rPr lang="en-US" sz="1000" b="1" dirty="0">
                <a:solidFill>
                  <a:srgbClr val="FFFFFF"/>
                </a:solidFill>
                <a:latin typeface="Calibri Mono" pitchFamily="34" charset="0"/>
                <a:ea typeface="Calibri Mono" pitchFamily="34" charset="-122"/>
                <a:cs typeface="Calibri Mono" pitchFamily="34" charset="-120"/>
              </a:rPr>
              <a:t>InstitutionsImport</a:t>
            </a:r>
            <a:endParaRPr lang="en-US" sz="1000" dirty="0"/>
          </a:p>
        </p:txBody>
      </p:sp>
      <p:sp>
        <p:nvSpPr>
          <p:cNvPr id="44" name="Text 42"/>
          <p:cNvSpPr/>
          <p:nvPr/>
        </p:nvSpPr>
        <p:spPr>
          <a:xfrm>
            <a:off x="7863840" y="4087368"/>
            <a:ext cx="4114800" cy="10058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Importación de catálogo. Crea o actualiza instituciones. Ignora duplicados por clave.</a:t>
            </a:r>
            <a:endParaRPr lang="en-US" sz="950" dirty="0"/>
          </a:p>
        </p:txBody>
      </p:sp>
      <p:sp>
        <p:nvSpPr>
          <p:cNvPr id="45" name="Shape 43"/>
          <p:cNvSpPr/>
          <p:nvPr/>
        </p:nvSpPr>
        <p:spPr>
          <a:xfrm>
            <a:off x="7772400" y="5394960"/>
            <a:ext cx="4297680" cy="1554480"/>
          </a:xfrm>
          <a:prstGeom prst="roundRect">
            <a:avLst>
              <a:gd name="adj" fmla="val 4706"/>
            </a:avLst>
          </a:prstGeom>
          <a:solidFill>
            <a:srgbClr val="DBEAFE"/>
          </a:solidFill>
          <a:ln/>
          <a:effectLst>
            <a:outerShdw sx="100000" sy="100000" kx="0" ky="0" algn="bl" rotWithShape="0" blurRad="38100" dist="12700" dir="16200000">
              <a:srgbClr val="000000">
                <a:alpha val="75000"/>
              </a:srgbClr>
            </a:outerShdw>
          </a:effectLst>
        </p:spPr>
      </p:sp>
      <p:sp>
        <p:nvSpPr>
          <p:cNvPr id="46" name="Shape 44"/>
          <p:cNvSpPr/>
          <p:nvPr/>
        </p:nvSpPr>
        <p:spPr>
          <a:xfrm>
            <a:off x="7772400" y="5394960"/>
            <a:ext cx="4297680" cy="384048"/>
          </a:xfrm>
          <a:prstGeom prst="roundRect">
            <a:avLst>
              <a:gd name="adj" fmla="val 19048"/>
            </a:avLst>
          </a:prstGeom>
          <a:solidFill>
            <a:srgbClr val="2563EB"/>
          </a:solidFill>
          <a:ln/>
        </p:spPr>
      </p:sp>
      <p:sp>
        <p:nvSpPr>
          <p:cNvPr id="47" name="Shape 45"/>
          <p:cNvSpPr/>
          <p:nvPr/>
        </p:nvSpPr>
        <p:spPr>
          <a:xfrm>
            <a:off x="7772400" y="5586984"/>
            <a:ext cx="4297680" cy="192024"/>
          </a:xfrm>
          <a:prstGeom prst="rect">
            <a:avLst/>
          </a:prstGeom>
          <a:solidFill>
            <a:srgbClr val="2563EB"/>
          </a:solidFill>
          <a:ln/>
        </p:spPr>
      </p:sp>
      <p:sp>
        <p:nvSpPr>
          <p:cNvPr id="48" name="Text 46"/>
          <p:cNvSpPr/>
          <p:nvPr/>
        </p:nvSpPr>
        <p:spPr>
          <a:xfrm>
            <a:off x="7863840" y="5413248"/>
            <a:ext cx="4114800" cy="329184"/>
          </a:xfrm>
          <a:prstGeom prst="rect">
            <a:avLst/>
          </a:prstGeom>
          <a:noFill/>
          <a:ln/>
        </p:spPr>
        <p:txBody>
          <a:bodyPr wrap="square" rtlCol="0" anchor="ctr"/>
          <a:lstStyle/>
          <a:p>
            <a:pPr indent="0" marL="0">
              <a:buNone/>
            </a:pPr>
            <a:r>
              <a:rPr lang="en-US" sz="1000" b="1" dirty="0">
                <a:solidFill>
                  <a:srgbClr val="FFFFFF"/>
                </a:solidFill>
                <a:latin typeface="Calibri Mono" pitchFamily="34" charset="0"/>
                <a:ea typeface="Calibri Mono" pitchFamily="34" charset="-122"/>
                <a:cs typeface="Calibri Mono" pitchFamily="34" charset="-120"/>
              </a:rPr>
              <a:t>PriorityAreasImport</a:t>
            </a:r>
            <a:endParaRPr lang="en-US" sz="1000" dirty="0"/>
          </a:p>
        </p:txBody>
      </p:sp>
      <p:sp>
        <p:nvSpPr>
          <p:cNvPr id="49" name="Text 47"/>
          <p:cNvSpPr/>
          <p:nvPr/>
        </p:nvSpPr>
        <p:spPr>
          <a:xfrm>
            <a:off x="7863840" y="5824728"/>
            <a:ext cx="4114800" cy="1005840"/>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Importación de áreas y sub-áreas en una sola operación. Crea la jerarquía automáticamente.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F172A"/>
          </a:solidFill>
          <a:ln/>
        </p:spPr>
      </p:sp>
      <p:sp>
        <p:nvSpPr>
          <p:cNvPr id="3" name="Shape 1"/>
          <p:cNvSpPr/>
          <p:nvPr/>
        </p:nvSpPr>
        <p:spPr>
          <a:xfrm>
            <a:off x="0" y="0"/>
            <a:ext cx="12192000" cy="868680"/>
          </a:xfrm>
          <a:prstGeom prst="rect">
            <a:avLst/>
          </a:prstGeom>
          <a:solidFill>
            <a:srgbClr val="2563EB"/>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Estructura del Proyecto Laravel 12</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11475720" cy="521208"/>
          </a:xfrm>
          <a:prstGeom prst="roundRect">
            <a:avLst>
              <a:gd name="adj" fmla="val 10526"/>
            </a:avLst>
          </a:prstGeom>
          <a:solidFill>
            <a:srgbClr val="1E293B"/>
          </a:solidFill>
          <a:ln/>
        </p:spPr>
      </p:sp>
      <p:sp>
        <p:nvSpPr>
          <p:cNvPr id="7" name="Text 5"/>
          <p:cNvSpPr/>
          <p:nvPr/>
        </p:nvSpPr>
        <p:spPr>
          <a:xfrm>
            <a:off x="457200" y="1042416"/>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app/Http/Controllers/</a:t>
            </a:r>
            <a:endParaRPr lang="en-US" sz="950" dirty="0"/>
          </a:p>
        </p:txBody>
      </p:sp>
      <p:sp>
        <p:nvSpPr>
          <p:cNvPr id="8" name="Text 6"/>
          <p:cNvSpPr/>
          <p:nvPr/>
        </p:nvSpPr>
        <p:spPr>
          <a:xfrm>
            <a:off x="4114800" y="1042416"/>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18 controladores en 7 subdirectorios: Admin, Teacher, Evaluator, SuperAdmin, Public, Catalog, Security — uno por dominio funcional</a:t>
            </a:r>
            <a:endParaRPr lang="en-US" sz="950" dirty="0"/>
          </a:p>
        </p:txBody>
      </p:sp>
      <p:sp>
        <p:nvSpPr>
          <p:cNvPr id="9" name="Shape 7"/>
          <p:cNvSpPr/>
          <p:nvPr/>
        </p:nvSpPr>
        <p:spPr>
          <a:xfrm>
            <a:off x="320040" y="1609344"/>
            <a:ext cx="11475720" cy="521208"/>
          </a:xfrm>
          <a:prstGeom prst="roundRect">
            <a:avLst>
              <a:gd name="adj" fmla="val 10526"/>
            </a:avLst>
          </a:prstGeom>
          <a:solidFill>
            <a:srgbClr val="1E293B"/>
          </a:solidFill>
          <a:ln/>
        </p:spPr>
      </p:sp>
      <p:sp>
        <p:nvSpPr>
          <p:cNvPr id="10" name="Text 8"/>
          <p:cNvSpPr/>
          <p:nvPr/>
        </p:nvSpPr>
        <p:spPr>
          <a:xfrm>
            <a:off x="457200" y="1645920"/>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app/Models/</a:t>
            </a:r>
            <a:endParaRPr lang="en-US" sz="950" dirty="0"/>
          </a:p>
        </p:txBody>
      </p:sp>
      <p:sp>
        <p:nvSpPr>
          <p:cNvPr id="11" name="Text 9"/>
          <p:cNvSpPr/>
          <p:nvPr/>
        </p:nvSpPr>
        <p:spPr>
          <a:xfrm>
            <a:off x="4114800" y="1645920"/>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24 modelos Eloquent: User, Application, Announcement, Calendar, Evaluation, Recognition, Rubric, Template, Institution, Backup + auxiliares</a:t>
            </a:r>
            <a:endParaRPr lang="en-US" sz="950" dirty="0"/>
          </a:p>
        </p:txBody>
      </p:sp>
      <p:sp>
        <p:nvSpPr>
          <p:cNvPr id="12" name="Shape 10"/>
          <p:cNvSpPr/>
          <p:nvPr/>
        </p:nvSpPr>
        <p:spPr>
          <a:xfrm>
            <a:off x="320040" y="2212848"/>
            <a:ext cx="11475720" cy="521208"/>
          </a:xfrm>
          <a:prstGeom prst="roundRect">
            <a:avLst>
              <a:gd name="adj" fmla="val 10526"/>
            </a:avLst>
          </a:prstGeom>
          <a:solidFill>
            <a:srgbClr val="1E293B"/>
          </a:solidFill>
          <a:ln/>
        </p:spPr>
      </p:sp>
      <p:sp>
        <p:nvSpPr>
          <p:cNvPr id="13" name="Text 11"/>
          <p:cNvSpPr/>
          <p:nvPr/>
        </p:nvSpPr>
        <p:spPr>
          <a:xfrm>
            <a:off x="457200" y="2249424"/>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app/Services/</a:t>
            </a:r>
            <a:endParaRPr lang="en-US" sz="950" dirty="0"/>
          </a:p>
        </p:txBody>
      </p:sp>
      <p:sp>
        <p:nvSpPr>
          <p:cNvPr id="14" name="Text 12"/>
          <p:cNvSpPr/>
          <p:nvPr/>
        </p:nvSpPr>
        <p:spPr>
          <a:xfrm>
            <a:off x="4114800" y="2249424"/>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10 servicios de lógica de negocio desacoplados del controlador: Pdf, Notification, Application, Announcement, Assignment, Signature, File, Curp, Template, CatalogDoc</a:t>
            </a:r>
            <a:endParaRPr lang="en-US" sz="950" dirty="0"/>
          </a:p>
        </p:txBody>
      </p:sp>
      <p:sp>
        <p:nvSpPr>
          <p:cNvPr id="15" name="Shape 13"/>
          <p:cNvSpPr/>
          <p:nvPr/>
        </p:nvSpPr>
        <p:spPr>
          <a:xfrm>
            <a:off x="320040" y="2816352"/>
            <a:ext cx="11475720" cy="521208"/>
          </a:xfrm>
          <a:prstGeom prst="roundRect">
            <a:avLst>
              <a:gd name="adj" fmla="val 10526"/>
            </a:avLst>
          </a:prstGeom>
          <a:solidFill>
            <a:srgbClr val="1E293B"/>
          </a:solidFill>
          <a:ln/>
        </p:spPr>
      </p:sp>
      <p:sp>
        <p:nvSpPr>
          <p:cNvPr id="16" name="Text 14"/>
          <p:cNvSpPr/>
          <p:nvPr/>
        </p:nvSpPr>
        <p:spPr>
          <a:xfrm>
            <a:off x="457200" y="2852928"/>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app/Mail/</a:t>
            </a:r>
            <a:endParaRPr lang="en-US" sz="950" dirty="0"/>
          </a:p>
        </p:txBody>
      </p:sp>
      <p:sp>
        <p:nvSpPr>
          <p:cNvPr id="17" name="Text 15"/>
          <p:cNvSpPr/>
          <p:nvPr/>
        </p:nvSpPr>
        <p:spPr>
          <a:xfrm>
            <a:off x="4114800" y="2852928"/>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16 clases Mailable — una por tipo de notificación del sistema. Todas con ::queue() para envío asíncrono</a:t>
            </a:r>
            <a:endParaRPr lang="en-US" sz="950" dirty="0"/>
          </a:p>
        </p:txBody>
      </p:sp>
      <p:sp>
        <p:nvSpPr>
          <p:cNvPr id="18" name="Shape 16"/>
          <p:cNvSpPr/>
          <p:nvPr/>
        </p:nvSpPr>
        <p:spPr>
          <a:xfrm>
            <a:off x="320040" y="3419856"/>
            <a:ext cx="11475720" cy="521208"/>
          </a:xfrm>
          <a:prstGeom prst="roundRect">
            <a:avLst>
              <a:gd name="adj" fmla="val 10526"/>
            </a:avLst>
          </a:prstGeom>
          <a:solidFill>
            <a:srgbClr val="1E293B"/>
          </a:solidFill>
          <a:ln/>
        </p:spPr>
      </p:sp>
      <p:sp>
        <p:nvSpPr>
          <p:cNvPr id="19" name="Text 17"/>
          <p:cNvSpPr/>
          <p:nvPr/>
        </p:nvSpPr>
        <p:spPr>
          <a:xfrm>
            <a:off x="457200" y="3456432"/>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app/Console/Commands/</a:t>
            </a:r>
            <a:endParaRPr lang="en-US" sz="950" dirty="0"/>
          </a:p>
        </p:txBody>
      </p:sp>
      <p:sp>
        <p:nvSpPr>
          <p:cNvPr id="20" name="Text 18"/>
          <p:cNvSpPr/>
          <p:nvPr/>
        </p:nvSpPr>
        <p:spPr>
          <a:xfrm>
            <a:off x="4114800" y="3456432"/>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6 comandos Artisan: convocatoria:update-status, evaluations:remind, evaluations:expire, notifications:send-weekly, backup:run-scheduled, fix-permissions</a:t>
            </a:r>
            <a:endParaRPr lang="en-US" sz="950" dirty="0"/>
          </a:p>
        </p:txBody>
      </p:sp>
      <p:sp>
        <p:nvSpPr>
          <p:cNvPr id="21" name="Shape 19"/>
          <p:cNvSpPr/>
          <p:nvPr/>
        </p:nvSpPr>
        <p:spPr>
          <a:xfrm>
            <a:off x="320040" y="4023360"/>
            <a:ext cx="11475720" cy="521208"/>
          </a:xfrm>
          <a:prstGeom prst="roundRect">
            <a:avLst>
              <a:gd name="adj" fmla="val 10526"/>
            </a:avLst>
          </a:prstGeom>
          <a:solidFill>
            <a:srgbClr val="1E293B"/>
          </a:solidFill>
          <a:ln/>
        </p:spPr>
      </p:sp>
      <p:sp>
        <p:nvSpPr>
          <p:cNvPr id="22" name="Text 20"/>
          <p:cNvSpPr/>
          <p:nvPr/>
        </p:nvSpPr>
        <p:spPr>
          <a:xfrm>
            <a:off x="457200" y="4059936"/>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app/Exports/ &amp; Imports/</a:t>
            </a:r>
            <a:endParaRPr lang="en-US" sz="950" dirty="0"/>
          </a:p>
        </p:txBody>
      </p:sp>
      <p:sp>
        <p:nvSpPr>
          <p:cNvPr id="23" name="Text 21"/>
          <p:cNvSpPr/>
          <p:nvPr/>
        </p:nvSpPr>
        <p:spPr>
          <a:xfrm>
            <a:off x="4114800" y="4059936"/>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8 clases Export + 3 Import usando maatwebsite/excel sobre PhpSpreadsheet para datos Excel</a:t>
            </a:r>
            <a:endParaRPr lang="en-US" sz="950" dirty="0"/>
          </a:p>
        </p:txBody>
      </p:sp>
      <p:sp>
        <p:nvSpPr>
          <p:cNvPr id="24" name="Shape 22"/>
          <p:cNvSpPr/>
          <p:nvPr/>
        </p:nvSpPr>
        <p:spPr>
          <a:xfrm>
            <a:off x="320040" y="4626864"/>
            <a:ext cx="11475720" cy="521208"/>
          </a:xfrm>
          <a:prstGeom prst="roundRect">
            <a:avLst>
              <a:gd name="adj" fmla="val 10526"/>
            </a:avLst>
          </a:prstGeom>
          <a:solidFill>
            <a:srgbClr val="1E293B"/>
          </a:solidFill>
          <a:ln/>
        </p:spPr>
      </p:sp>
      <p:sp>
        <p:nvSpPr>
          <p:cNvPr id="25" name="Text 23"/>
          <p:cNvSpPr/>
          <p:nvPr/>
        </p:nvSpPr>
        <p:spPr>
          <a:xfrm>
            <a:off x="457200" y="4663440"/>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resources/js/pages/</a:t>
            </a:r>
            <a:endParaRPr lang="en-US" sz="950" dirty="0"/>
          </a:p>
        </p:txBody>
      </p:sp>
      <p:sp>
        <p:nvSpPr>
          <p:cNvPr id="26" name="Text 24"/>
          <p:cNvSpPr/>
          <p:nvPr/>
        </p:nvSpPr>
        <p:spPr>
          <a:xfrm>
            <a:off x="4114800" y="4663440"/>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40+ páginas Vue 3 organizadas por rol: Auth/, Admin/, Teacher/, Evaluator/, SuperAdmin/, Catalog/, Security/, Settings/</a:t>
            </a:r>
            <a:endParaRPr lang="en-US" sz="950" dirty="0"/>
          </a:p>
        </p:txBody>
      </p:sp>
      <p:sp>
        <p:nvSpPr>
          <p:cNvPr id="27" name="Shape 25"/>
          <p:cNvSpPr/>
          <p:nvPr/>
        </p:nvSpPr>
        <p:spPr>
          <a:xfrm>
            <a:off x="320040" y="5230368"/>
            <a:ext cx="11475720" cy="521208"/>
          </a:xfrm>
          <a:prstGeom prst="roundRect">
            <a:avLst>
              <a:gd name="adj" fmla="val 10526"/>
            </a:avLst>
          </a:prstGeom>
          <a:solidFill>
            <a:srgbClr val="1E293B"/>
          </a:solidFill>
          <a:ln/>
        </p:spPr>
      </p:sp>
      <p:sp>
        <p:nvSpPr>
          <p:cNvPr id="28" name="Text 26"/>
          <p:cNvSpPr/>
          <p:nvPr/>
        </p:nvSpPr>
        <p:spPr>
          <a:xfrm>
            <a:off x="457200" y="5266944"/>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database/migrations/</a:t>
            </a:r>
            <a:endParaRPr lang="en-US" sz="950" dirty="0"/>
          </a:p>
        </p:txBody>
      </p:sp>
      <p:sp>
        <p:nvSpPr>
          <p:cNvPr id="29" name="Text 27"/>
          <p:cNvSpPr/>
          <p:nvPr/>
        </p:nvSpPr>
        <p:spPr>
          <a:xfrm>
            <a:off x="4114800" y="5266944"/>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25 migraciones que definen toda la estructura relacional — users, applications, announcements, calendars, evaluations, recognitions, rubrics, backups + pivot tables</a:t>
            </a:r>
            <a:endParaRPr lang="en-US" sz="950" dirty="0"/>
          </a:p>
        </p:txBody>
      </p:sp>
      <p:sp>
        <p:nvSpPr>
          <p:cNvPr id="30" name="Shape 28"/>
          <p:cNvSpPr/>
          <p:nvPr/>
        </p:nvSpPr>
        <p:spPr>
          <a:xfrm>
            <a:off x="320040" y="5833872"/>
            <a:ext cx="11475720" cy="521208"/>
          </a:xfrm>
          <a:prstGeom prst="roundRect">
            <a:avLst>
              <a:gd name="adj" fmla="val 10526"/>
            </a:avLst>
          </a:prstGeom>
          <a:solidFill>
            <a:srgbClr val="1E293B"/>
          </a:solidFill>
          <a:ln/>
        </p:spPr>
      </p:sp>
      <p:sp>
        <p:nvSpPr>
          <p:cNvPr id="31" name="Text 29"/>
          <p:cNvSpPr/>
          <p:nvPr/>
        </p:nvSpPr>
        <p:spPr>
          <a:xfrm>
            <a:off x="457200" y="5870448"/>
            <a:ext cx="3474720" cy="448056"/>
          </a:xfrm>
          <a:prstGeom prst="rect">
            <a:avLst/>
          </a:prstGeom>
          <a:noFill/>
          <a:ln/>
        </p:spPr>
        <p:txBody>
          <a:bodyPr wrap="square" rtlCol="0" anchor="ctr"/>
          <a:lstStyle/>
          <a:p>
            <a:pPr indent="0" marL="0">
              <a:buNone/>
            </a:pPr>
            <a:r>
              <a:rPr lang="en-US" sz="950" b="1" dirty="0">
                <a:solidFill>
                  <a:srgbClr val="60A5FA"/>
                </a:solidFill>
                <a:latin typeface="Calibri Mono" pitchFamily="34" charset="0"/>
                <a:ea typeface="Calibri Mono" pitchFamily="34" charset="-122"/>
                <a:cs typeface="Calibri Mono" pitchFamily="34" charset="-120"/>
              </a:rPr>
              <a:t>routes/web.php</a:t>
            </a:r>
            <a:endParaRPr lang="en-US" sz="950" dirty="0"/>
          </a:p>
        </p:txBody>
      </p:sp>
      <p:sp>
        <p:nvSpPr>
          <p:cNvPr id="32" name="Text 30"/>
          <p:cNvSpPr/>
          <p:nvPr/>
        </p:nvSpPr>
        <p:spPr>
          <a:xfrm>
            <a:off x="4114800" y="5870448"/>
            <a:ext cx="7589520" cy="448056"/>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60+ rutas nombradas con grupos middleware: auth, role, permission. Separadas por dominio en comentarios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0" y="0"/>
            <a:ext cx="12192000" cy="868680"/>
          </a:xfrm>
          <a:prstGeom prst="rect">
            <a:avLst/>
          </a:prstGeom>
          <a:solidFill>
            <a:srgbClr val="DC2626"/>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Bugs Identificados y Corregidos — Sesión de Debugging</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05840"/>
            <a:ext cx="11475720" cy="1737360"/>
          </a:xfrm>
          <a:prstGeom prst="roundRect">
            <a:avLst>
              <a:gd name="adj" fmla="val 5263"/>
            </a:avLst>
          </a:prstGeom>
          <a:solidFill>
            <a:srgbClr val="FEF2F2"/>
          </a:solidFill>
          <a:ln/>
          <a:effectLst>
            <a:outerShdw sx="100000" sy="100000" kx="0" ky="0" algn="bl" rotWithShape="0" blurRad="50800" dist="25400" dir="16200000">
              <a:srgbClr val="000000">
                <a:alpha val="75000"/>
              </a:srgbClr>
            </a:outerShdw>
          </a:effectLst>
        </p:spPr>
      </p:sp>
      <p:sp>
        <p:nvSpPr>
          <p:cNvPr id="7" name="Shape 5"/>
          <p:cNvSpPr/>
          <p:nvPr/>
        </p:nvSpPr>
        <p:spPr>
          <a:xfrm>
            <a:off x="320040" y="1005840"/>
            <a:ext cx="1417320" cy="365760"/>
          </a:xfrm>
          <a:prstGeom prst="roundRect">
            <a:avLst>
              <a:gd name="adj" fmla="val 17500"/>
            </a:avLst>
          </a:prstGeom>
          <a:solidFill>
            <a:srgbClr val="DC2626"/>
          </a:solidFill>
          <a:ln/>
        </p:spPr>
      </p:sp>
      <p:sp>
        <p:nvSpPr>
          <p:cNvPr id="8" name="Text 6"/>
          <p:cNvSpPr/>
          <p:nvPr/>
        </p:nvSpPr>
        <p:spPr>
          <a:xfrm>
            <a:off x="320040" y="1014984"/>
            <a:ext cx="141732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BUG #1</a:t>
            </a:r>
            <a:endParaRPr lang="en-US" sz="1100" dirty="0"/>
          </a:p>
        </p:txBody>
      </p:sp>
      <p:sp>
        <p:nvSpPr>
          <p:cNvPr id="9" name="Shape 7"/>
          <p:cNvSpPr/>
          <p:nvPr/>
        </p:nvSpPr>
        <p:spPr>
          <a:xfrm>
            <a:off x="1828800" y="1033272"/>
            <a:ext cx="1280160" cy="292608"/>
          </a:xfrm>
          <a:prstGeom prst="roundRect">
            <a:avLst>
              <a:gd name="adj" fmla="val 18750"/>
            </a:avLst>
          </a:prstGeom>
          <a:solidFill>
            <a:srgbClr val="DC2626"/>
          </a:solidFill>
          <a:ln/>
        </p:spPr>
      </p:sp>
      <p:sp>
        <p:nvSpPr>
          <p:cNvPr id="10" name="Text 8"/>
          <p:cNvSpPr/>
          <p:nvPr/>
        </p:nvSpPr>
        <p:spPr>
          <a:xfrm>
            <a:off x="1828800" y="1033272"/>
            <a:ext cx="128016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CRÍTICO</a:t>
            </a:r>
            <a:endParaRPr lang="en-US" sz="900" dirty="0"/>
          </a:p>
        </p:txBody>
      </p:sp>
      <p:sp>
        <p:nvSpPr>
          <p:cNvPr id="11" name="Text 9"/>
          <p:cNvSpPr/>
          <p:nvPr/>
        </p:nvSpPr>
        <p:spPr>
          <a:xfrm>
            <a:off x="3246120" y="1042416"/>
            <a:ext cx="8321040" cy="329184"/>
          </a:xfrm>
          <a:prstGeom prst="rect">
            <a:avLst/>
          </a:prstGeom>
          <a:noFill/>
          <a:ln/>
        </p:spPr>
        <p:txBody>
          <a:bodyPr wrap="square" rtlCol="0" anchor="ctr"/>
          <a:lstStyle/>
          <a:p>
            <a:pPr indent="0" marL="0">
              <a:buNone/>
            </a:pPr>
            <a:r>
              <a:rPr lang="en-US" sz="1150" b="1" dirty="0">
                <a:solidFill>
                  <a:srgbClr val="991B1B"/>
                </a:solidFill>
                <a:latin typeface="Calibri" pitchFamily="34" charset="0"/>
                <a:ea typeface="Calibri" pitchFamily="34" charset="-122"/>
                <a:cs typeface="Calibri" pitchFamily="34" charset="-120"/>
              </a:rPr>
              <a:t>PHP Unicode escape inválido — Carta de Aceptación siempre 404</a:t>
            </a:r>
            <a:endParaRPr lang="en-US" sz="1150" dirty="0"/>
          </a:p>
        </p:txBody>
      </p:sp>
      <p:sp>
        <p:nvSpPr>
          <p:cNvPr id="12" name="Text 10"/>
          <p:cNvSpPr/>
          <p:nvPr/>
        </p:nvSpPr>
        <p:spPr>
          <a:xfrm>
            <a:off x="457200" y="1426464"/>
            <a:ext cx="11064240" cy="256032"/>
          </a:xfrm>
          <a:prstGeom prst="rect">
            <a:avLst/>
          </a:prstGeom>
          <a:noFill/>
          <a:ln/>
        </p:spPr>
        <p:txBody>
          <a:bodyPr wrap="square" rtlCol="0" anchor="ctr"/>
          <a:lstStyle/>
          <a:p>
            <a:pPr indent="0" marL="0">
              <a:buNone/>
            </a:pPr>
            <a:r>
              <a:rPr lang="en-US" sz="950" dirty="0">
                <a:solidFill>
                  <a:srgbClr val="7C3AED"/>
                </a:solidFill>
                <a:latin typeface="Calibri Italic" pitchFamily="34" charset="0"/>
                <a:ea typeface="Calibri Italic" pitchFamily="34" charset="-122"/>
                <a:cs typeface="Calibri Italic" pitchFamily="34" charset="-120"/>
              </a:rPr>
              <a:t>📁 app/Services/PdfGenerationService.php  (línea 197)</a:t>
            </a:r>
            <a:endParaRPr lang="en-US" sz="950" dirty="0"/>
          </a:p>
        </p:txBody>
      </p:sp>
      <p:sp>
        <p:nvSpPr>
          <p:cNvPr id="13" name="Text 11"/>
          <p:cNvSpPr/>
          <p:nvPr/>
        </p:nvSpPr>
        <p:spPr>
          <a:xfrm>
            <a:off x="457200" y="1709928"/>
            <a:ext cx="11064240" cy="5943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El string "Carta de Aceptaci\u00f3n" usa sintaxis de escape de JavaScript. En PHP, "\u00f3" NO se interpreta como el carácter Unicode ó. El string literal resultante es "Carta de Aceptaci\u00f3n" (con backslash y u00f3 literales), que nunca coincide con el string 'Carta de Aceptación'. Consecuencia: $isAcceptanceLetter = false siempre → Application::find() nunca ejecutado → el campo identifier nunca se guarda en BD → el QR del PDF siempre genera 404.</a:t>
            </a:r>
            <a:endParaRPr lang="en-US" sz="900" dirty="0"/>
          </a:p>
        </p:txBody>
      </p:sp>
      <p:sp>
        <p:nvSpPr>
          <p:cNvPr id="14" name="Shape 12"/>
          <p:cNvSpPr/>
          <p:nvPr/>
        </p:nvSpPr>
        <p:spPr>
          <a:xfrm>
            <a:off x="457200" y="2359152"/>
            <a:ext cx="11064240" cy="301752"/>
          </a:xfrm>
          <a:prstGeom prst="roundRect">
            <a:avLst>
              <a:gd name="adj" fmla="val 15152"/>
            </a:avLst>
          </a:prstGeom>
          <a:solidFill>
            <a:srgbClr val="F0FDF4"/>
          </a:solidFill>
          <a:ln/>
        </p:spPr>
      </p:sp>
      <p:sp>
        <p:nvSpPr>
          <p:cNvPr id="15" name="Text 13"/>
          <p:cNvSpPr/>
          <p:nvPr/>
        </p:nvSpPr>
        <p:spPr>
          <a:xfrm>
            <a:off x="548640" y="2368296"/>
            <a:ext cx="10972800" cy="274320"/>
          </a:xfrm>
          <a:prstGeom prst="rect">
            <a:avLst/>
          </a:prstGeom>
          <a:noFill/>
          <a:ln/>
        </p:spPr>
        <p:txBody>
          <a:bodyPr wrap="square" rtlCol="0" anchor="ctr"/>
          <a:lstStyle/>
          <a:p>
            <a:pPr indent="0" marL="0">
              <a:buNone/>
            </a:pPr>
            <a:r>
              <a:rPr lang="en-US" sz="900" dirty="0">
                <a:solidFill>
                  <a:srgbClr val="065F46"/>
                </a:solidFill>
                <a:latin typeface="Calibri" pitchFamily="34" charset="0"/>
                <a:ea typeface="Calibri" pitchFamily="34" charset="-122"/>
                <a:cs typeface="Calibri" pitchFamily="34" charset="-120"/>
              </a:rPr>
              <a:t>✅ Fix aplicado: Cambiado a string con carácter real: 'Carta de Aceptación' (codificación UTF-8 del archivo PHP)</a:t>
            </a:r>
            <a:endParaRPr lang="en-US" sz="900" dirty="0"/>
          </a:p>
        </p:txBody>
      </p:sp>
      <p:sp>
        <p:nvSpPr>
          <p:cNvPr id="16" name="Shape 14"/>
          <p:cNvSpPr/>
          <p:nvPr/>
        </p:nvSpPr>
        <p:spPr>
          <a:xfrm>
            <a:off x="320040" y="2880360"/>
            <a:ext cx="11475720" cy="1737360"/>
          </a:xfrm>
          <a:prstGeom prst="roundRect">
            <a:avLst>
              <a:gd name="adj" fmla="val 5263"/>
            </a:avLst>
          </a:prstGeom>
          <a:solidFill>
            <a:srgbClr val="FEF2F2"/>
          </a:solidFill>
          <a:ln/>
          <a:effectLst>
            <a:outerShdw sx="100000" sy="100000" kx="0" ky="0" algn="bl" rotWithShape="0" blurRad="50800" dist="25400" dir="16200000">
              <a:srgbClr val="000000">
                <a:alpha val="75000"/>
              </a:srgbClr>
            </a:outerShdw>
          </a:effectLst>
        </p:spPr>
      </p:sp>
      <p:sp>
        <p:nvSpPr>
          <p:cNvPr id="17" name="Shape 15"/>
          <p:cNvSpPr/>
          <p:nvPr/>
        </p:nvSpPr>
        <p:spPr>
          <a:xfrm>
            <a:off x="320040" y="2880360"/>
            <a:ext cx="1417320" cy="365760"/>
          </a:xfrm>
          <a:prstGeom prst="roundRect">
            <a:avLst>
              <a:gd name="adj" fmla="val 17500"/>
            </a:avLst>
          </a:prstGeom>
          <a:solidFill>
            <a:srgbClr val="EA580C"/>
          </a:solidFill>
          <a:ln/>
        </p:spPr>
      </p:sp>
      <p:sp>
        <p:nvSpPr>
          <p:cNvPr id="18" name="Text 16"/>
          <p:cNvSpPr/>
          <p:nvPr/>
        </p:nvSpPr>
        <p:spPr>
          <a:xfrm>
            <a:off x="320040" y="2889504"/>
            <a:ext cx="141732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BUG #2</a:t>
            </a:r>
            <a:endParaRPr lang="en-US" sz="1100" dirty="0"/>
          </a:p>
        </p:txBody>
      </p:sp>
      <p:sp>
        <p:nvSpPr>
          <p:cNvPr id="19" name="Shape 17"/>
          <p:cNvSpPr/>
          <p:nvPr/>
        </p:nvSpPr>
        <p:spPr>
          <a:xfrm>
            <a:off x="1828800" y="2907792"/>
            <a:ext cx="1280160" cy="292608"/>
          </a:xfrm>
          <a:prstGeom prst="roundRect">
            <a:avLst>
              <a:gd name="adj" fmla="val 18750"/>
            </a:avLst>
          </a:prstGeom>
          <a:solidFill>
            <a:srgbClr val="EA580C"/>
          </a:solidFill>
          <a:ln/>
        </p:spPr>
      </p:sp>
      <p:sp>
        <p:nvSpPr>
          <p:cNvPr id="20" name="Text 18"/>
          <p:cNvSpPr/>
          <p:nvPr/>
        </p:nvSpPr>
        <p:spPr>
          <a:xfrm>
            <a:off x="1828800" y="2907792"/>
            <a:ext cx="128016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ALTO</a:t>
            </a:r>
            <a:endParaRPr lang="en-US" sz="900" dirty="0"/>
          </a:p>
        </p:txBody>
      </p:sp>
      <p:sp>
        <p:nvSpPr>
          <p:cNvPr id="21" name="Text 19"/>
          <p:cNvSpPr/>
          <p:nvPr/>
        </p:nvSpPr>
        <p:spPr>
          <a:xfrm>
            <a:off x="3246120" y="2916936"/>
            <a:ext cx="8321040" cy="329184"/>
          </a:xfrm>
          <a:prstGeom prst="rect">
            <a:avLst/>
          </a:prstGeom>
          <a:noFill/>
          <a:ln/>
        </p:spPr>
        <p:txBody>
          <a:bodyPr wrap="square" rtlCol="0" anchor="ctr"/>
          <a:lstStyle/>
          <a:p>
            <a:pPr indent="0" marL="0">
              <a:buNone/>
            </a:pPr>
            <a:r>
              <a:rPr lang="en-US" sz="1150" b="1" dirty="0">
                <a:solidFill>
                  <a:srgbClr val="991B1B"/>
                </a:solidFill>
                <a:latin typeface="Calibri" pitchFamily="34" charset="0"/>
                <a:ea typeface="Calibri" pitchFamily="34" charset="-122"/>
                <a:cs typeface="Calibri" pitchFamily="34" charset="-120"/>
              </a:rPr>
              <a:t>VerificationController solo buscaba en tabla recognitions</a:t>
            </a:r>
            <a:endParaRPr lang="en-US" sz="1150" dirty="0"/>
          </a:p>
        </p:txBody>
      </p:sp>
      <p:sp>
        <p:nvSpPr>
          <p:cNvPr id="22" name="Text 20"/>
          <p:cNvSpPr/>
          <p:nvPr/>
        </p:nvSpPr>
        <p:spPr>
          <a:xfrm>
            <a:off x="457200" y="3300984"/>
            <a:ext cx="11064240" cy="256032"/>
          </a:xfrm>
          <a:prstGeom prst="rect">
            <a:avLst/>
          </a:prstGeom>
          <a:noFill/>
          <a:ln/>
        </p:spPr>
        <p:txBody>
          <a:bodyPr wrap="square" rtlCol="0" anchor="ctr"/>
          <a:lstStyle/>
          <a:p>
            <a:pPr indent="0" marL="0">
              <a:buNone/>
            </a:pPr>
            <a:r>
              <a:rPr lang="en-US" sz="950" dirty="0">
                <a:solidFill>
                  <a:srgbClr val="7C3AED"/>
                </a:solidFill>
                <a:latin typeface="Calibri Italic" pitchFamily="34" charset="0"/>
                <a:ea typeface="Calibri Italic" pitchFamily="34" charset="-122"/>
                <a:cs typeface="Calibri Italic" pitchFamily="34" charset="-120"/>
              </a:rPr>
              <a:t>📁 app/Http/Controllers/Public/VerificationController.php</a:t>
            </a:r>
            <a:endParaRPr lang="en-US" sz="950" dirty="0"/>
          </a:p>
        </p:txBody>
      </p:sp>
      <p:sp>
        <p:nvSpPr>
          <p:cNvPr id="23" name="Text 21"/>
          <p:cNvSpPr/>
          <p:nvPr/>
        </p:nvSpPr>
        <p:spPr>
          <a:xfrm>
            <a:off x="457200" y="3584448"/>
            <a:ext cx="11064240" cy="5943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Las Cartas de Aceptación (prefijo ACE-) se almacenan en la tabla 'applications', no en 'recognitions'. El controlador solo ejecutaba Recognition::validByIdentifier($id). Las ACE siempre devolvían 404 para docentes. El bug era intermitente: en usuarios con reconocimientos (Evaluador/Docente) funcionaba; sin reconocimientos, fallaba.</a:t>
            </a:r>
            <a:endParaRPr lang="en-US" sz="900" dirty="0"/>
          </a:p>
        </p:txBody>
      </p:sp>
      <p:sp>
        <p:nvSpPr>
          <p:cNvPr id="24" name="Shape 22"/>
          <p:cNvSpPr/>
          <p:nvPr/>
        </p:nvSpPr>
        <p:spPr>
          <a:xfrm>
            <a:off x="457200" y="4233672"/>
            <a:ext cx="11064240" cy="301752"/>
          </a:xfrm>
          <a:prstGeom prst="roundRect">
            <a:avLst>
              <a:gd name="adj" fmla="val 15152"/>
            </a:avLst>
          </a:prstGeom>
          <a:solidFill>
            <a:srgbClr val="F0FDF4"/>
          </a:solidFill>
          <a:ln/>
        </p:spPr>
      </p:sp>
      <p:sp>
        <p:nvSpPr>
          <p:cNvPr id="25" name="Text 23"/>
          <p:cNvSpPr/>
          <p:nvPr/>
        </p:nvSpPr>
        <p:spPr>
          <a:xfrm>
            <a:off x="548640" y="4242816"/>
            <a:ext cx="10972800" cy="274320"/>
          </a:xfrm>
          <a:prstGeom prst="rect">
            <a:avLst/>
          </a:prstGeom>
          <a:noFill/>
          <a:ln/>
        </p:spPr>
        <p:txBody>
          <a:bodyPr wrap="square" rtlCol="0" anchor="ctr"/>
          <a:lstStyle/>
          <a:p>
            <a:pPr indent="0" marL="0">
              <a:buNone/>
            </a:pPr>
            <a:r>
              <a:rPr lang="en-US" sz="900" dirty="0">
                <a:solidFill>
                  <a:srgbClr val="065F46"/>
                </a:solidFill>
                <a:latin typeface="Calibri" pitchFamily="34" charset="0"/>
                <a:ea typeface="Calibri" pitchFamily="34" charset="-122"/>
                <a:cs typeface="Calibri" pitchFamily="34" charset="-120"/>
              </a:rPr>
              <a:t>✅ Fix aplicado: Reescrito con fallback: primero busca en recognitions, si null busca en applications. Retorna el primero que encuentre.</a:t>
            </a:r>
            <a:endParaRPr lang="en-US" sz="900" dirty="0"/>
          </a:p>
        </p:txBody>
      </p:sp>
      <p:sp>
        <p:nvSpPr>
          <p:cNvPr id="26" name="Shape 24"/>
          <p:cNvSpPr/>
          <p:nvPr/>
        </p:nvSpPr>
        <p:spPr>
          <a:xfrm>
            <a:off x="320040" y="4754880"/>
            <a:ext cx="11475720" cy="1737360"/>
          </a:xfrm>
          <a:prstGeom prst="roundRect">
            <a:avLst>
              <a:gd name="adj" fmla="val 5263"/>
            </a:avLst>
          </a:prstGeom>
          <a:solidFill>
            <a:srgbClr val="FEF2F2"/>
          </a:solidFill>
          <a:ln/>
          <a:effectLst>
            <a:outerShdw sx="100000" sy="100000" kx="0" ky="0" algn="bl" rotWithShape="0" blurRad="50800" dist="25400" dir="16200000">
              <a:srgbClr val="000000">
                <a:alpha val="75000"/>
              </a:srgbClr>
            </a:outerShdw>
          </a:effectLst>
        </p:spPr>
      </p:sp>
      <p:sp>
        <p:nvSpPr>
          <p:cNvPr id="27" name="Shape 25"/>
          <p:cNvSpPr/>
          <p:nvPr/>
        </p:nvSpPr>
        <p:spPr>
          <a:xfrm>
            <a:off x="320040" y="4754880"/>
            <a:ext cx="1417320" cy="365760"/>
          </a:xfrm>
          <a:prstGeom prst="roundRect">
            <a:avLst>
              <a:gd name="adj" fmla="val 17500"/>
            </a:avLst>
          </a:prstGeom>
          <a:solidFill>
            <a:srgbClr val="CA8A04"/>
          </a:solidFill>
          <a:ln/>
        </p:spPr>
      </p:sp>
      <p:sp>
        <p:nvSpPr>
          <p:cNvPr id="28" name="Text 26"/>
          <p:cNvSpPr/>
          <p:nvPr/>
        </p:nvSpPr>
        <p:spPr>
          <a:xfrm>
            <a:off x="320040" y="4764024"/>
            <a:ext cx="1417320"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BUG #3</a:t>
            </a:r>
            <a:endParaRPr lang="en-US" sz="1100" dirty="0"/>
          </a:p>
        </p:txBody>
      </p:sp>
      <p:sp>
        <p:nvSpPr>
          <p:cNvPr id="29" name="Shape 27"/>
          <p:cNvSpPr/>
          <p:nvPr/>
        </p:nvSpPr>
        <p:spPr>
          <a:xfrm>
            <a:off x="1828800" y="4782312"/>
            <a:ext cx="1280160" cy="292608"/>
          </a:xfrm>
          <a:prstGeom prst="roundRect">
            <a:avLst>
              <a:gd name="adj" fmla="val 18750"/>
            </a:avLst>
          </a:prstGeom>
          <a:solidFill>
            <a:srgbClr val="CA8A04"/>
          </a:solidFill>
          <a:ln/>
        </p:spPr>
      </p:sp>
      <p:sp>
        <p:nvSpPr>
          <p:cNvPr id="30" name="Text 28"/>
          <p:cNvSpPr/>
          <p:nvPr/>
        </p:nvSpPr>
        <p:spPr>
          <a:xfrm>
            <a:off x="1828800" y="4782312"/>
            <a:ext cx="128016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MEDIO</a:t>
            </a:r>
            <a:endParaRPr lang="en-US" sz="900" dirty="0"/>
          </a:p>
        </p:txBody>
      </p:sp>
      <p:sp>
        <p:nvSpPr>
          <p:cNvPr id="31" name="Text 29"/>
          <p:cNvSpPr/>
          <p:nvPr/>
        </p:nvSpPr>
        <p:spPr>
          <a:xfrm>
            <a:off x="3246120" y="4791456"/>
            <a:ext cx="8321040" cy="329184"/>
          </a:xfrm>
          <a:prstGeom prst="rect">
            <a:avLst/>
          </a:prstGeom>
          <a:noFill/>
          <a:ln/>
        </p:spPr>
        <p:txBody>
          <a:bodyPr wrap="square" rtlCol="0" anchor="ctr"/>
          <a:lstStyle/>
          <a:p>
            <a:pPr indent="0" marL="0">
              <a:buNone/>
            </a:pPr>
            <a:r>
              <a:rPr lang="en-US" sz="1150" b="1" dirty="0">
                <a:solidFill>
                  <a:srgbClr val="991B1B"/>
                </a:solidFill>
                <a:latin typeface="Calibri" pitchFamily="34" charset="0"/>
                <a:ea typeface="Calibri" pitchFamily="34" charset="-122"/>
                <a:cs typeface="Calibri" pitchFamily="34" charset="-120"/>
              </a:rPr>
              <a:t>Campos identifier, digital_seal y snapshot_data fuera de $fillable en Application</a:t>
            </a:r>
            <a:endParaRPr lang="en-US" sz="1150" dirty="0"/>
          </a:p>
        </p:txBody>
      </p:sp>
      <p:sp>
        <p:nvSpPr>
          <p:cNvPr id="32" name="Text 30"/>
          <p:cNvSpPr/>
          <p:nvPr/>
        </p:nvSpPr>
        <p:spPr>
          <a:xfrm>
            <a:off x="457200" y="5175504"/>
            <a:ext cx="11064240" cy="256032"/>
          </a:xfrm>
          <a:prstGeom prst="rect">
            <a:avLst/>
          </a:prstGeom>
          <a:noFill/>
          <a:ln/>
        </p:spPr>
        <p:txBody>
          <a:bodyPr wrap="square" rtlCol="0" anchor="ctr"/>
          <a:lstStyle/>
          <a:p>
            <a:pPr indent="0" marL="0">
              <a:buNone/>
            </a:pPr>
            <a:r>
              <a:rPr lang="en-US" sz="950" dirty="0">
                <a:solidFill>
                  <a:srgbClr val="7C3AED"/>
                </a:solidFill>
                <a:latin typeface="Calibri Italic" pitchFamily="34" charset="0"/>
                <a:ea typeface="Calibri Italic" pitchFamily="34" charset="-122"/>
                <a:cs typeface="Calibri Italic" pitchFamily="34" charset="-120"/>
              </a:rPr>
              <a:t>📁 app/Models/Application.php</a:t>
            </a:r>
            <a:endParaRPr lang="en-US" sz="950" dirty="0"/>
          </a:p>
        </p:txBody>
      </p:sp>
      <p:sp>
        <p:nvSpPr>
          <p:cNvPr id="33" name="Text 31"/>
          <p:cNvSpPr/>
          <p:nvPr/>
        </p:nvSpPr>
        <p:spPr>
          <a:xfrm>
            <a:off x="457200" y="5458968"/>
            <a:ext cx="11064240" cy="594360"/>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Los tres campos necesarios para la carta de aceptación no estaban en el array $fillable del modelo. El Mass Assignment Guard de Eloquent descartaba silenciosamente estos valores al llamar create() o update(). No generaba excepción ni error visible, simplemente los campos quedaban NULL en BD.</a:t>
            </a:r>
            <a:endParaRPr lang="en-US" sz="900" dirty="0"/>
          </a:p>
        </p:txBody>
      </p:sp>
      <p:sp>
        <p:nvSpPr>
          <p:cNvPr id="34" name="Shape 32"/>
          <p:cNvSpPr/>
          <p:nvPr/>
        </p:nvSpPr>
        <p:spPr>
          <a:xfrm>
            <a:off x="457200" y="6108192"/>
            <a:ext cx="11064240" cy="301752"/>
          </a:xfrm>
          <a:prstGeom prst="roundRect">
            <a:avLst>
              <a:gd name="adj" fmla="val 15152"/>
            </a:avLst>
          </a:prstGeom>
          <a:solidFill>
            <a:srgbClr val="F0FDF4"/>
          </a:solidFill>
          <a:ln/>
        </p:spPr>
      </p:sp>
      <p:sp>
        <p:nvSpPr>
          <p:cNvPr id="35" name="Text 33"/>
          <p:cNvSpPr/>
          <p:nvPr/>
        </p:nvSpPr>
        <p:spPr>
          <a:xfrm>
            <a:off x="548640" y="6117336"/>
            <a:ext cx="10972800" cy="274320"/>
          </a:xfrm>
          <a:prstGeom prst="rect">
            <a:avLst/>
          </a:prstGeom>
          <a:noFill/>
          <a:ln/>
        </p:spPr>
        <p:txBody>
          <a:bodyPr wrap="square" rtlCol="0" anchor="ctr"/>
          <a:lstStyle/>
          <a:p>
            <a:pPr indent="0" marL="0">
              <a:buNone/>
            </a:pPr>
            <a:r>
              <a:rPr lang="en-US" sz="900" dirty="0">
                <a:solidFill>
                  <a:srgbClr val="065F46"/>
                </a:solidFill>
                <a:latin typeface="Calibri" pitchFamily="34" charset="0"/>
                <a:ea typeface="Calibri" pitchFamily="34" charset="-122"/>
                <a:cs typeface="Calibri" pitchFamily="34" charset="-120"/>
              </a:rPr>
              <a:t>✅ Fix aplicado: Añadidos identifier, digital_seal y snapshot_data a \$fillable. También añadida scope scopeValidByIdentifier().</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3F4F6"/>
          </a:solidFill>
          <a:ln/>
        </p:spPr>
      </p:sp>
      <p:sp>
        <p:nvSpPr>
          <p:cNvPr id="3" name="Shape 1"/>
          <p:cNvSpPr/>
          <p:nvPr/>
        </p:nvSpPr>
        <p:spPr>
          <a:xfrm>
            <a:off x="0" y="0"/>
            <a:ext cx="12192000" cy="868680"/>
          </a:xfrm>
          <a:prstGeom prst="rect">
            <a:avLst/>
          </a:prstGeom>
          <a:solidFill>
            <a:srgbClr val="1A3C5E"/>
          </a:solidFill>
          <a:ln/>
        </p:spPr>
      </p:sp>
      <p:sp>
        <p:nvSpPr>
          <p:cNvPr id="4" name="Text 2"/>
          <p:cNvSpPr/>
          <p:nvPr/>
        </p:nvSpPr>
        <p:spPr>
          <a:xfrm>
            <a:off x="365760" y="36576"/>
            <a:ext cx="11430000" cy="7955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Rutas y Endpoints — Estructura de URLs (60+ Rutas)</a:t>
            </a:r>
            <a:endParaRPr lang="en-US" sz="2400" dirty="0"/>
          </a:p>
        </p:txBody>
      </p:sp>
      <p:sp>
        <p:nvSpPr>
          <p:cNvPr id="5" name="Text 3"/>
          <p:cNvSpPr/>
          <p:nvPr/>
        </p:nvSpPr>
        <p:spPr>
          <a:xfrm>
            <a:off x="0" y="6537960"/>
            <a:ext cx="12192000" cy="274320"/>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TecNM — Sistema de Gestión de Becas  |  BecasLaravel_AD  |  2026</a:t>
            </a:r>
            <a:endParaRPr lang="en-US" sz="850" dirty="0"/>
          </a:p>
        </p:txBody>
      </p:sp>
      <p:sp>
        <p:nvSpPr>
          <p:cNvPr id="6" name="Shape 4"/>
          <p:cNvSpPr/>
          <p:nvPr/>
        </p:nvSpPr>
        <p:spPr>
          <a:xfrm>
            <a:off x="320040" y="102412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7" name="Shape 5"/>
          <p:cNvSpPr/>
          <p:nvPr/>
        </p:nvSpPr>
        <p:spPr>
          <a:xfrm>
            <a:off x="320040" y="1024128"/>
            <a:ext cx="3767328" cy="530352"/>
          </a:xfrm>
          <a:prstGeom prst="roundRect">
            <a:avLst>
              <a:gd name="adj" fmla="val 17241"/>
            </a:avLst>
          </a:prstGeom>
          <a:solidFill>
            <a:srgbClr val="059669"/>
          </a:solidFill>
          <a:ln/>
        </p:spPr>
      </p:sp>
      <p:sp>
        <p:nvSpPr>
          <p:cNvPr id="8" name="Shape 6"/>
          <p:cNvSpPr/>
          <p:nvPr/>
        </p:nvSpPr>
        <p:spPr>
          <a:xfrm>
            <a:off x="320040" y="1298448"/>
            <a:ext cx="3767328" cy="256032"/>
          </a:xfrm>
          <a:prstGeom prst="rect">
            <a:avLst/>
          </a:prstGeom>
          <a:solidFill>
            <a:srgbClr val="059669"/>
          </a:solidFill>
          <a:ln/>
        </p:spPr>
      </p:sp>
      <p:sp>
        <p:nvSpPr>
          <p:cNvPr id="9" name="Text 7"/>
          <p:cNvSpPr/>
          <p:nvPr/>
        </p:nvSpPr>
        <p:spPr>
          <a:xfrm>
            <a:off x="411480" y="106984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Público</a:t>
            </a:r>
            <a:endParaRPr lang="en-US" sz="1300" dirty="0"/>
          </a:p>
        </p:txBody>
      </p:sp>
      <p:sp>
        <p:nvSpPr>
          <p:cNvPr id="10" name="Text 8"/>
          <p:cNvSpPr/>
          <p:nvPr/>
        </p:nvSpPr>
        <p:spPr>
          <a:xfrm>
            <a:off x="411480" y="137160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a:t>
            </a:r>
            <a:endParaRPr lang="en-US" sz="850" dirty="0"/>
          </a:p>
        </p:txBody>
      </p:sp>
      <p:sp>
        <p:nvSpPr>
          <p:cNvPr id="11" name="Text 9"/>
          <p:cNvSpPr/>
          <p:nvPr/>
        </p:nvSpPr>
        <p:spPr>
          <a:xfrm>
            <a:off x="457200" y="164592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 — Home con carousel</a:t>
            </a:r>
            <a:endParaRPr lang="en-US" sz="900" dirty="0"/>
          </a:p>
        </p:txBody>
      </p:sp>
      <p:sp>
        <p:nvSpPr>
          <p:cNvPr id="12" name="Text 10"/>
          <p:cNvSpPr/>
          <p:nvPr/>
        </p:nvSpPr>
        <p:spPr>
          <a:xfrm>
            <a:off x="457200" y="199339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/verify-recognition/{id}</a:t>
            </a:r>
            <a:endParaRPr lang="en-US" sz="900" dirty="0"/>
          </a:p>
        </p:txBody>
      </p:sp>
      <p:sp>
        <p:nvSpPr>
          <p:cNvPr id="13" name="Text 11"/>
          <p:cNvSpPr/>
          <p:nvPr/>
        </p:nvSpPr>
        <p:spPr>
          <a:xfrm>
            <a:off x="457200" y="234086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POST /contact — Formulario contacto</a:t>
            </a:r>
            <a:endParaRPr lang="en-US" sz="900" dirty="0"/>
          </a:p>
        </p:txBody>
      </p:sp>
      <p:sp>
        <p:nvSpPr>
          <p:cNvPr id="14" name="Text 12"/>
          <p:cNvSpPr/>
          <p:nvPr/>
        </p:nvSpPr>
        <p:spPr>
          <a:xfrm>
            <a:off x="457200" y="268833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GET|POST /register — Registro docente</a:t>
            </a:r>
            <a:endParaRPr lang="en-US" sz="900" dirty="0"/>
          </a:p>
        </p:txBody>
      </p:sp>
      <p:sp>
        <p:nvSpPr>
          <p:cNvPr id="15" name="Text 13"/>
          <p:cNvSpPr/>
          <p:nvPr/>
        </p:nvSpPr>
        <p:spPr>
          <a:xfrm>
            <a:off x="457200" y="3035808"/>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GET|POST /login</a:t>
            </a:r>
            <a:endParaRPr lang="en-US" sz="900" dirty="0"/>
          </a:p>
        </p:txBody>
      </p:sp>
      <p:sp>
        <p:nvSpPr>
          <p:cNvPr id="16" name="Shape 14"/>
          <p:cNvSpPr/>
          <p:nvPr/>
        </p:nvSpPr>
        <p:spPr>
          <a:xfrm>
            <a:off x="4306824" y="102412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17" name="Shape 15"/>
          <p:cNvSpPr/>
          <p:nvPr/>
        </p:nvSpPr>
        <p:spPr>
          <a:xfrm>
            <a:off x="4306824" y="1024128"/>
            <a:ext cx="3767328" cy="530352"/>
          </a:xfrm>
          <a:prstGeom prst="roundRect">
            <a:avLst>
              <a:gd name="adj" fmla="val 17241"/>
            </a:avLst>
          </a:prstGeom>
          <a:solidFill>
            <a:srgbClr val="2563EB"/>
          </a:solidFill>
          <a:ln/>
        </p:spPr>
      </p:sp>
      <p:sp>
        <p:nvSpPr>
          <p:cNvPr id="18" name="Shape 16"/>
          <p:cNvSpPr/>
          <p:nvPr/>
        </p:nvSpPr>
        <p:spPr>
          <a:xfrm>
            <a:off x="4306824" y="1298448"/>
            <a:ext cx="3767328" cy="256032"/>
          </a:xfrm>
          <a:prstGeom prst="rect">
            <a:avLst/>
          </a:prstGeom>
          <a:solidFill>
            <a:srgbClr val="2563EB"/>
          </a:solidFill>
          <a:ln/>
        </p:spPr>
      </p:sp>
      <p:sp>
        <p:nvSpPr>
          <p:cNvPr id="19" name="Text 17"/>
          <p:cNvSpPr/>
          <p:nvPr/>
        </p:nvSpPr>
        <p:spPr>
          <a:xfrm>
            <a:off x="4398264" y="106984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Docente</a:t>
            </a:r>
            <a:endParaRPr lang="en-US" sz="1300" dirty="0"/>
          </a:p>
        </p:txBody>
      </p:sp>
      <p:sp>
        <p:nvSpPr>
          <p:cNvPr id="20" name="Text 18"/>
          <p:cNvSpPr/>
          <p:nvPr/>
        </p:nvSpPr>
        <p:spPr>
          <a:xfrm>
            <a:off x="4398264" y="137160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/teacher/</a:t>
            </a:r>
            <a:endParaRPr lang="en-US" sz="850" dirty="0"/>
          </a:p>
        </p:txBody>
      </p:sp>
      <p:sp>
        <p:nvSpPr>
          <p:cNvPr id="21" name="Text 19"/>
          <p:cNvSpPr/>
          <p:nvPr/>
        </p:nvSpPr>
        <p:spPr>
          <a:xfrm>
            <a:off x="4443984" y="164592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applications/create</a:t>
            </a:r>
            <a:endParaRPr lang="en-US" sz="900" dirty="0"/>
          </a:p>
        </p:txBody>
      </p:sp>
      <p:sp>
        <p:nvSpPr>
          <p:cNvPr id="22" name="Text 20"/>
          <p:cNvSpPr/>
          <p:nvPr/>
        </p:nvSpPr>
        <p:spPr>
          <a:xfrm>
            <a:off x="4443984" y="199339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POST applications — crear solicitud</a:t>
            </a:r>
            <a:endParaRPr lang="en-US" sz="900" dirty="0"/>
          </a:p>
        </p:txBody>
      </p:sp>
      <p:sp>
        <p:nvSpPr>
          <p:cNvPr id="23" name="Text 21"/>
          <p:cNvSpPr/>
          <p:nvPr/>
        </p:nvSpPr>
        <p:spPr>
          <a:xfrm>
            <a:off x="4443984" y="234086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applications/{id} — detalle</a:t>
            </a:r>
            <a:endParaRPr lang="en-US" sz="900" dirty="0"/>
          </a:p>
        </p:txBody>
      </p:sp>
      <p:sp>
        <p:nvSpPr>
          <p:cNvPr id="24" name="Text 22"/>
          <p:cNvSpPr/>
          <p:nvPr/>
        </p:nvSpPr>
        <p:spPr>
          <a:xfrm>
            <a:off x="4443984" y="268833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announcements — ver convocatorias</a:t>
            </a:r>
            <a:endParaRPr lang="en-US" sz="900" dirty="0"/>
          </a:p>
        </p:txBody>
      </p:sp>
      <p:sp>
        <p:nvSpPr>
          <p:cNvPr id="25" name="Text 23"/>
          <p:cNvSpPr/>
          <p:nvPr/>
        </p:nvSpPr>
        <p:spPr>
          <a:xfrm>
            <a:off x="4443984" y="3035808"/>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recognitions — mis reconocimientos</a:t>
            </a:r>
            <a:endParaRPr lang="en-US" sz="900" dirty="0"/>
          </a:p>
        </p:txBody>
      </p:sp>
      <p:sp>
        <p:nvSpPr>
          <p:cNvPr id="26" name="Text 24"/>
          <p:cNvSpPr/>
          <p:nvPr/>
        </p:nvSpPr>
        <p:spPr>
          <a:xfrm>
            <a:off x="4443984" y="338328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documents/download — descargar PDF</a:t>
            </a:r>
            <a:endParaRPr lang="en-US" sz="900" dirty="0"/>
          </a:p>
        </p:txBody>
      </p:sp>
      <p:sp>
        <p:nvSpPr>
          <p:cNvPr id="27" name="Shape 25"/>
          <p:cNvSpPr/>
          <p:nvPr/>
        </p:nvSpPr>
        <p:spPr>
          <a:xfrm>
            <a:off x="8293608" y="102412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28" name="Shape 26"/>
          <p:cNvSpPr/>
          <p:nvPr/>
        </p:nvSpPr>
        <p:spPr>
          <a:xfrm>
            <a:off x="8293608" y="1024128"/>
            <a:ext cx="3767328" cy="530352"/>
          </a:xfrm>
          <a:prstGeom prst="roundRect">
            <a:avLst>
              <a:gd name="adj" fmla="val 17241"/>
            </a:avLst>
          </a:prstGeom>
          <a:solidFill>
            <a:srgbClr val="0D9488"/>
          </a:solidFill>
          <a:ln/>
        </p:spPr>
      </p:sp>
      <p:sp>
        <p:nvSpPr>
          <p:cNvPr id="29" name="Shape 27"/>
          <p:cNvSpPr/>
          <p:nvPr/>
        </p:nvSpPr>
        <p:spPr>
          <a:xfrm>
            <a:off x="8293608" y="1298448"/>
            <a:ext cx="3767328" cy="256032"/>
          </a:xfrm>
          <a:prstGeom prst="rect">
            <a:avLst/>
          </a:prstGeom>
          <a:solidFill>
            <a:srgbClr val="0D9488"/>
          </a:solidFill>
          <a:ln/>
        </p:spPr>
      </p:sp>
      <p:sp>
        <p:nvSpPr>
          <p:cNvPr id="30" name="Text 28"/>
          <p:cNvSpPr/>
          <p:nvPr/>
        </p:nvSpPr>
        <p:spPr>
          <a:xfrm>
            <a:off x="8385048" y="106984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Evaluador</a:t>
            </a:r>
            <a:endParaRPr lang="en-US" sz="1300" dirty="0"/>
          </a:p>
        </p:txBody>
      </p:sp>
      <p:sp>
        <p:nvSpPr>
          <p:cNvPr id="31" name="Text 29"/>
          <p:cNvSpPr/>
          <p:nvPr/>
        </p:nvSpPr>
        <p:spPr>
          <a:xfrm>
            <a:off x="8385048" y="137160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/evaluator/</a:t>
            </a:r>
            <a:endParaRPr lang="en-US" sz="850" dirty="0"/>
          </a:p>
        </p:txBody>
      </p:sp>
      <p:sp>
        <p:nvSpPr>
          <p:cNvPr id="32" name="Text 30"/>
          <p:cNvSpPr/>
          <p:nvPr/>
        </p:nvSpPr>
        <p:spPr>
          <a:xfrm>
            <a:off x="8430768" y="164592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evaluations — mis evaluaciones</a:t>
            </a:r>
            <a:endParaRPr lang="en-US" sz="900" dirty="0"/>
          </a:p>
        </p:txBody>
      </p:sp>
      <p:sp>
        <p:nvSpPr>
          <p:cNvPr id="33" name="Text 31"/>
          <p:cNvSpPr/>
          <p:nvPr/>
        </p:nvSpPr>
        <p:spPr>
          <a:xfrm>
            <a:off x="8430768" y="199339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GET|PUT evaluations/{id} — calificar</a:t>
            </a:r>
            <a:endParaRPr lang="en-US" sz="900" dirty="0"/>
          </a:p>
        </p:txBody>
      </p:sp>
      <p:sp>
        <p:nvSpPr>
          <p:cNvPr id="34" name="Text 32"/>
          <p:cNvSpPr/>
          <p:nvPr/>
        </p:nvSpPr>
        <p:spPr>
          <a:xfrm>
            <a:off x="8430768" y="234086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recognitions — mis reconocimientos</a:t>
            </a:r>
            <a:endParaRPr lang="en-US" sz="900" dirty="0"/>
          </a:p>
        </p:txBody>
      </p:sp>
      <p:sp>
        <p:nvSpPr>
          <p:cNvPr id="35" name="Text 33"/>
          <p:cNvSpPr/>
          <p:nvPr/>
        </p:nvSpPr>
        <p:spPr>
          <a:xfrm>
            <a:off x="8430768" y="268833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recognitions/{id}/download</a:t>
            </a:r>
            <a:endParaRPr lang="en-US" sz="900" dirty="0"/>
          </a:p>
        </p:txBody>
      </p:sp>
      <p:sp>
        <p:nvSpPr>
          <p:cNvPr id="36" name="Shape 34"/>
          <p:cNvSpPr/>
          <p:nvPr/>
        </p:nvSpPr>
        <p:spPr>
          <a:xfrm>
            <a:off x="320040" y="358444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37" name="Shape 35"/>
          <p:cNvSpPr/>
          <p:nvPr/>
        </p:nvSpPr>
        <p:spPr>
          <a:xfrm>
            <a:off x="320040" y="3584448"/>
            <a:ext cx="3767328" cy="530352"/>
          </a:xfrm>
          <a:prstGeom prst="roundRect">
            <a:avLst>
              <a:gd name="adj" fmla="val 17241"/>
            </a:avLst>
          </a:prstGeom>
          <a:solidFill>
            <a:srgbClr val="EA580C"/>
          </a:solidFill>
          <a:ln/>
        </p:spPr>
      </p:sp>
      <p:sp>
        <p:nvSpPr>
          <p:cNvPr id="38" name="Shape 36"/>
          <p:cNvSpPr/>
          <p:nvPr/>
        </p:nvSpPr>
        <p:spPr>
          <a:xfrm>
            <a:off x="320040" y="3858768"/>
            <a:ext cx="3767328" cy="256032"/>
          </a:xfrm>
          <a:prstGeom prst="rect">
            <a:avLst/>
          </a:prstGeom>
          <a:solidFill>
            <a:srgbClr val="EA580C"/>
          </a:solidFill>
          <a:ln/>
        </p:spPr>
      </p:sp>
      <p:sp>
        <p:nvSpPr>
          <p:cNvPr id="39" name="Text 37"/>
          <p:cNvSpPr/>
          <p:nvPr/>
        </p:nvSpPr>
        <p:spPr>
          <a:xfrm>
            <a:off x="411480" y="363016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p>
        </p:txBody>
      </p:sp>
      <p:sp>
        <p:nvSpPr>
          <p:cNvPr id="40" name="Text 38"/>
          <p:cNvSpPr/>
          <p:nvPr/>
        </p:nvSpPr>
        <p:spPr>
          <a:xfrm>
            <a:off x="411480" y="393192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/admin/</a:t>
            </a:r>
            <a:endParaRPr lang="en-US" sz="850" dirty="0"/>
          </a:p>
        </p:txBody>
      </p:sp>
      <p:sp>
        <p:nvSpPr>
          <p:cNvPr id="41" name="Text 39"/>
          <p:cNvSpPr/>
          <p:nvPr/>
        </p:nvSpPr>
        <p:spPr>
          <a:xfrm>
            <a:off x="457200" y="420624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applications — gestión solicitudes</a:t>
            </a:r>
            <a:endParaRPr lang="en-US" sz="900" dirty="0"/>
          </a:p>
        </p:txBody>
      </p:sp>
      <p:sp>
        <p:nvSpPr>
          <p:cNvPr id="42" name="Text 40"/>
          <p:cNvSpPr/>
          <p:nvPr/>
        </p:nvSpPr>
        <p:spPr>
          <a:xfrm>
            <a:off x="457200" y="455371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POST applications/{id}/verdict — veredicto</a:t>
            </a:r>
            <a:endParaRPr lang="en-US" sz="900" dirty="0"/>
          </a:p>
        </p:txBody>
      </p:sp>
      <p:sp>
        <p:nvSpPr>
          <p:cNvPr id="43" name="Text 41"/>
          <p:cNvSpPr/>
          <p:nvPr/>
        </p:nvSpPr>
        <p:spPr>
          <a:xfrm>
            <a:off x="457200" y="490118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POST applications/{id}/assign — asignar evaluador</a:t>
            </a:r>
            <a:endParaRPr lang="en-US" sz="900" dirty="0"/>
          </a:p>
        </p:txBody>
      </p:sp>
      <p:sp>
        <p:nvSpPr>
          <p:cNvPr id="44" name="Text 42"/>
          <p:cNvSpPr/>
          <p:nvPr/>
        </p:nvSpPr>
        <p:spPr>
          <a:xfrm>
            <a:off x="457200" y="524865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GET|POST recognitions — gestionar reconocimientos</a:t>
            </a:r>
            <a:endParaRPr lang="en-US" sz="900" dirty="0"/>
          </a:p>
        </p:txBody>
      </p:sp>
      <p:sp>
        <p:nvSpPr>
          <p:cNvPr id="45" name="Shape 43"/>
          <p:cNvSpPr/>
          <p:nvPr/>
        </p:nvSpPr>
        <p:spPr>
          <a:xfrm>
            <a:off x="4306824" y="358444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46" name="Shape 44"/>
          <p:cNvSpPr/>
          <p:nvPr/>
        </p:nvSpPr>
        <p:spPr>
          <a:xfrm>
            <a:off x="4306824" y="3584448"/>
            <a:ext cx="3767328" cy="530352"/>
          </a:xfrm>
          <a:prstGeom prst="roundRect">
            <a:avLst>
              <a:gd name="adj" fmla="val 17241"/>
            </a:avLst>
          </a:prstGeom>
          <a:solidFill>
            <a:srgbClr val="7C3AED"/>
          </a:solidFill>
          <a:ln/>
        </p:spPr>
      </p:sp>
      <p:sp>
        <p:nvSpPr>
          <p:cNvPr id="47" name="Shape 45"/>
          <p:cNvSpPr/>
          <p:nvPr/>
        </p:nvSpPr>
        <p:spPr>
          <a:xfrm>
            <a:off x="4306824" y="3858768"/>
            <a:ext cx="3767328" cy="256032"/>
          </a:xfrm>
          <a:prstGeom prst="rect">
            <a:avLst/>
          </a:prstGeom>
          <a:solidFill>
            <a:srgbClr val="7C3AED"/>
          </a:solidFill>
          <a:ln/>
        </p:spPr>
      </p:sp>
      <p:sp>
        <p:nvSpPr>
          <p:cNvPr id="48" name="Text 46"/>
          <p:cNvSpPr/>
          <p:nvPr/>
        </p:nvSpPr>
        <p:spPr>
          <a:xfrm>
            <a:off x="4398264" y="363016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SuperAdmin</a:t>
            </a:r>
            <a:endParaRPr lang="en-US" sz="1300" dirty="0"/>
          </a:p>
        </p:txBody>
      </p:sp>
      <p:sp>
        <p:nvSpPr>
          <p:cNvPr id="49" name="Text 47"/>
          <p:cNvSpPr/>
          <p:nvPr/>
        </p:nvSpPr>
        <p:spPr>
          <a:xfrm>
            <a:off x="4398264" y="393192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/superadmin/</a:t>
            </a:r>
            <a:endParaRPr lang="en-US" sz="850" dirty="0"/>
          </a:p>
        </p:txBody>
      </p:sp>
      <p:sp>
        <p:nvSpPr>
          <p:cNvPr id="50" name="Text 48"/>
          <p:cNvSpPr/>
          <p:nvPr/>
        </p:nvSpPr>
        <p:spPr>
          <a:xfrm>
            <a:off x="4443984" y="420624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dashboard — estadísticas globales</a:t>
            </a:r>
            <a:endParaRPr lang="en-US" sz="900" dirty="0"/>
          </a:p>
        </p:txBody>
      </p:sp>
      <p:sp>
        <p:nvSpPr>
          <p:cNvPr id="51" name="Text 49"/>
          <p:cNvSpPr/>
          <p:nvPr/>
        </p:nvSpPr>
        <p:spPr>
          <a:xfrm>
            <a:off x="4443984" y="455371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GET|POST backup — gestión backups</a:t>
            </a:r>
            <a:endParaRPr lang="en-US" sz="900" dirty="0"/>
          </a:p>
        </p:txBody>
      </p:sp>
      <p:sp>
        <p:nvSpPr>
          <p:cNvPr id="52" name="Text 50"/>
          <p:cNvSpPr/>
          <p:nvPr/>
        </p:nvSpPr>
        <p:spPr>
          <a:xfrm>
            <a:off x="4443984" y="490118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 requests — control solicitudes global</a:t>
            </a:r>
            <a:endParaRPr lang="en-US" sz="900" dirty="0"/>
          </a:p>
        </p:txBody>
      </p:sp>
      <p:sp>
        <p:nvSpPr>
          <p:cNvPr id="53" name="Text 51"/>
          <p:cNvSpPr/>
          <p:nvPr/>
        </p:nvSpPr>
        <p:spPr>
          <a:xfrm>
            <a:off x="4443984" y="524865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GET|POST announcements CRUD completo</a:t>
            </a:r>
            <a:endParaRPr lang="en-US" sz="900" dirty="0"/>
          </a:p>
        </p:txBody>
      </p:sp>
      <p:sp>
        <p:nvSpPr>
          <p:cNvPr id="54" name="Shape 52"/>
          <p:cNvSpPr/>
          <p:nvPr/>
        </p:nvSpPr>
        <p:spPr>
          <a:xfrm>
            <a:off x="8293608" y="3584448"/>
            <a:ext cx="3767328" cy="2377440"/>
          </a:xfrm>
          <a:prstGeom prst="roundRect">
            <a:avLst>
              <a:gd name="adj" fmla="val 3846"/>
            </a:avLst>
          </a:prstGeom>
          <a:solidFill>
            <a:srgbClr val="FFFFFF"/>
          </a:solidFill>
          <a:ln/>
          <a:effectLst>
            <a:outerShdw sx="100000" sy="100000" kx="0" ky="0" algn="bl" rotWithShape="0" blurRad="50800" dist="25400" dir="16200000">
              <a:srgbClr val="000000">
                <a:alpha val="75000"/>
              </a:srgbClr>
            </a:outerShdw>
          </a:effectLst>
        </p:spPr>
      </p:sp>
      <p:sp>
        <p:nvSpPr>
          <p:cNvPr id="55" name="Shape 53"/>
          <p:cNvSpPr/>
          <p:nvPr/>
        </p:nvSpPr>
        <p:spPr>
          <a:xfrm>
            <a:off x="8293608" y="3584448"/>
            <a:ext cx="3767328" cy="530352"/>
          </a:xfrm>
          <a:prstGeom prst="roundRect">
            <a:avLst>
              <a:gd name="adj" fmla="val 17241"/>
            </a:avLst>
          </a:prstGeom>
          <a:solidFill>
            <a:srgbClr val="DC2626"/>
          </a:solidFill>
          <a:ln/>
        </p:spPr>
      </p:sp>
      <p:sp>
        <p:nvSpPr>
          <p:cNvPr id="56" name="Shape 54"/>
          <p:cNvSpPr/>
          <p:nvPr/>
        </p:nvSpPr>
        <p:spPr>
          <a:xfrm>
            <a:off x="8293608" y="3858768"/>
            <a:ext cx="3767328" cy="256032"/>
          </a:xfrm>
          <a:prstGeom prst="rect">
            <a:avLst/>
          </a:prstGeom>
          <a:solidFill>
            <a:srgbClr val="DC2626"/>
          </a:solidFill>
          <a:ln/>
        </p:spPr>
      </p:sp>
      <p:sp>
        <p:nvSpPr>
          <p:cNvPr id="57" name="Text 55"/>
          <p:cNvSpPr/>
          <p:nvPr/>
        </p:nvSpPr>
        <p:spPr>
          <a:xfrm>
            <a:off x="8385048" y="3630168"/>
            <a:ext cx="20116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Seg + Catálogo</a:t>
            </a:r>
            <a:endParaRPr lang="en-US" sz="1300" dirty="0"/>
          </a:p>
        </p:txBody>
      </p:sp>
      <p:sp>
        <p:nvSpPr>
          <p:cNvPr id="58" name="Text 56"/>
          <p:cNvSpPr/>
          <p:nvPr/>
        </p:nvSpPr>
        <p:spPr>
          <a:xfrm>
            <a:off x="8385048" y="3931920"/>
            <a:ext cx="3566160" cy="182880"/>
          </a:xfrm>
          <a:prstGeom prst="rect">
            <a:avLst/>
          </a:prstGeom>
          <a:noFill/>
          <a:ln/>
        </p:spPr>
        <p:txBody>
          <a:bodyPr wrap="square" rtlCol="0" anchor="ctr"/>
          <a:lstStyle/>
          <a:p>
            <a:pPr indent="0" marL="0">
              <a:buNone/>
            </a:pPr>
            <a:r>
              <a:rPr lang="en-US" sz="850" dirty="0">
                <a:solidFill>
                  <a:srgbClr val="D1FAE5"/>
                </a:solidFill>
                <a:latin typeface="Calibri Mono" pitchFamily="34" charset="0"/>
                <a:ea typeface="Calibri Mono" pitchFamily="34" charset="-122"/>
                <a:cs typeface="Calibri Mono" pitchFamily="34" charset="-120"/>
              </a:rPr>
              <a:t>/security/ /catalog/</a:t>
            </a:r>
            <a:endParaRPr lang="en-US" sz="850" dirty="0"/>
          </a:p>
        </p:txBody>
      </p:sp>
      <p:sp>
        <p:nvSpPr>
          <p:cNvPr id="59" name="Text 57"/>
          <p:cNvSpPr/>
          <p:nvPr/>
        </p:nvSpPr>
        <p:spPr>
          <a:xfrm>
            <a:off x="8430768" y="4206240"/>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users.*  roles.*  permissions.*  modules.*</a:t>
            </a:r>
            <a:endParaRPr lang="en-US" sz="900" dirty="0"/>
          </a:p>
        </p:txBody>
      </p:sp>
      <p:sp>
        <p:nvSpPr>
          <p:cNvPr id="60" name="Text 58"/>
          <p:cNvSpPr/>
          <p:nvPr/>
        </p:nvSpPr>
        <p:spPr>
          <a:xfrm>
            <a:off x="8430768" y="4553712"/>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announcements.*  institutions.*</a:t>
            </a:r>
            <a:endParaRPr lang="en-US" sz="900" dirty="0"/>
          </a:p>
        </p:txBody>
      </p:sp>
      <p:sp>
        <p:nvSpPr>
          <p:cNvPr id="61" name="Text 59"/>
          <p:cNvSpPr/>
          <p:nvPr/>
        </p:nvSpPr>
        <p:spPr>
          <a:xfrm>
            <a:off x="8430768" y="4901184"/>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priority_areas.*  sub_areas.*</a:t>
            </a:r>
            <a:endParaRPr lang="en-US" sz="900" dirty="0"/>
          </a:p>
        </p:txBody>
      </p:sp>
      <p:sp>
        <p:nvSpPr>
          <p:cNvPr id="62" name="Text 60"/>
          <p:cNvSpPr/>
          <p:nvPr/>
        </p:nvSpPr>
        <p:spPr>
          <a:xfrm>
            <a:off x="8430768" y="5248656"/>
            <a:ext cx="3520440" cy="320040"/>
          </a:xfrm>
          <a:prstGeom prst="rect">
            <a:avLst/>
          </a:prstGeom>
          <a:noFill/>
          <a:ln/>
        </p:spPr>
        <p:txBody>
          <a:bodyPr wrap="square" rtlCol="0" anchor="ctr"/>
          <a:lstStyle/>
          <a:p>
            <a:pPr indent="0" marL="0">
              <a:buNone/>
            </a:pPr>
            <a:r>
              <a:rPr lang="en-US" sz="900" dirty="0">
                <a:solidFill>
                  <a:srgbClr val="1F2937"/>
                </a:solidFill>
                <a:latin typeface="Calibri" pitchFamily="34" charset="0"/>
                <a:ea typeface="Calibri" pitchFamily="34" charset="-122"/>
                <a:cs typeface="Calibri" pitchFamily="34" charset="-120"/>
              </a:rPr>
              <a:t>• documents.*  templates.*  rubrics.*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C5E"/>
          </a:solidFill>
          <a:ln/>
        </p:spPr>
      </p:sp>
      <p:sp>
        <p:nvSpPr>
          <p:cNvPr id="3" name="Shape 1"/>
          <p:cNvSpPr/>
          <p:nvPr/>
        </p:nvSpPr>
        <p:spPr>
          <a:xfrm>
            <a:off x="0" y="5029200"/>
            <a:ext cx="12192000" cy="1828800"/>
          </a:xfrm>
          <a:prstGeom prst="rect">
            <a:avLst/>
          </a:prstGeom>
          <a:solidFill>
            <a:srgbClr val="2563EB"/>
          </a:solidFill>
          <a:ln/>
        </p:spPr>
      </p:sp>
      <p:sp>
        <p:nvSpPr>
          <p:cNvPr id="4" name="Shape 2"/>
          <p:cNvSpPr/>
          <p:nvPr/>
        </p:nvSpPr>
        <p:spPr>
          <a:xfrm>
            <a:off x="8229600" y="-1371600"/>
            <a:ext cx="5486400" cy="5486400"/>
          </a:xfrm>
          <a:prstGeom prst="ellipse">
            <a:avLst/>
          </a:prstGeom>
          <a:solidFill>
            <a:srgbClr val="1E4A7A"/>
          </a:solidFill>
          <a:ln w="12700">
            <a:solidFill>
              <a:srgbClr val="1E4A7A"/>
            </a:solidFill>
            <a:prstDash val="solid"/>
          </a:ln>
        </p:spPr>
      </p:sp>
      <p:sp>
        <p:nvSpPr>
          <p:cNvPr id="5" name="Shape 3"/>
          <p:cNvSpPr/>
          <p:nvPr/>
        </p:nvSpPr>
        <p:spPr>
          <a:xfrm>
            <a:off x="9601200" y="4389120"/>
            <a:ext cx="3200400" cy="3200400"/>
          </a:xfrm>
          <a:prstGeom prst="ellipse">
            <a:avLst/>
          </a:prstGeom>
          <a:solidFill>
            <a:srgbClr val="162F4A"/>
          </a:solidFill>
          <a:ln w="12700">
            <a:solidFill>
              <a:srgbClr val="162F4A"/>
            </a:solidFill>
            <a:prstDash val="solid"/>
          </a:ln>
        </p:spPr>
      </p:sp>
      <p:sp>
        <p:nvSpPr>
          <p:cNvPr id="6" name="Text 4"/>
          <p:cNvSpPr/>
          <p:nvPr/>
        </p:nvSpPr>
        <p:spPr>
          <a:xfrm>
            <a:off x="457200" y="1097280"/>
            <a:ext cx="10972800" cy="8686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Sistema BecasLaravel_AD</a:t>
            </a:r>
            <a:endParaRPr lang="en-US" sz="3600" dirty="0"/>
          </a:p>
        </p:txBody>
      </p:sp>
      <p:sp>
        <p:nvSpPr>
          <p:cNvPr id="7" name="Text 5"/>
          <p:cNvSpPr/>
          <p:nvPr/>
        </p:nvSpPr>
        <p:spPr>
          <a:xfrm>
            <a:off x="457200" y="2029968"/>
            <a:ext cx="10972800" cy="457200"/>
          </a:xfrm>
          <a:prstGeom prst="rect">
            <a:avLst/>
          </a:prstGeom>
          <a:noFill/>
          <a:ln/>
        </p:spPr>
        <p:txBody>
          <a:bodyPr wrap="square" rtlCol="0" anchor="ctr"/>
          <a:lstStyle/>
          <a:p>
            <a:pPr algn="ctr" indent="0" marL="0">
              <a:buNone/>
            </a:pPr>
            <a:r>
              <a:rPr lang="en-US" sz="1600" dirty="0">
                <a:solidFill>
                  <a:srgbClr val="93C5FD"/>
                </a:solidFill>
                <a:latin typeface="Calibri" pitchFamily="34" charset="0"/>
                <a:ea typeface="Calibri" pitchFamily="34" charset="-122"/>
                <a:cs typeface="Calibri" pitchFamily="34" charset="-120"/>
              </a:rPr>
              <a:t>Tecnológico Nacional de México — Sistema de Gestión de Becas</a:t>
            </a:r>
            <a:endParaRPr lang="en-US" sz="1600" dirty="0"/>
          </a:p>
        </p:txBody>
      </p:sp>
      <p:sp>
        <p:nvSpPr>
          <p:cNvPr id="8" name="Shape 6"/>
          <p:cNvSpPr/>
          <p:nvPr/>
        </p:nvSpPr>
        <p:spPr>
          <a:xfrm>
            <a:off x="3474720" y="2633472"/>
            <a:ext cx="5212080" cy="45720"/>
          </a:xfrm>
          <a:prstGeom prst="rect">
            <a:avLst/>
          </a:prstGeom>
          <a:solidFill>
            <a:srgbClr val="0D9488"/>
          </a:solidFill>
          <a:ln/>
        </p:spPr>
      </p:sp>
      <p:sp>
        <p:nvSpPr>
          <p:cNvPr id="9" name="Text 7"/>
          <p:cNvSpPr/>
          <p:nvPr/>
        </p:nvSpPr>
        <p:spPr>
          <a:xfrm>
            <a:off x="1371600" y="2834640"/>
            <a:ext cx="9418320" cy="512064"/>
          </a:xfrm>
          <a:prstGeom prst="rect">
            <a:avLst/>
          </a:prstGeom>
          <a:noFill/>
          <a:ln/>
        </p:spPr>
        <p:txBody>
          <a:bodyPr wrap="square" rtlCol="0" anchor="ctr"/>
          <a:lstStyle/>
          <a:p>
            <a:pPr algn="ctr" indent="0" marL="0">
              <a:buNone/>
            </a:pPr>
            <a:r>
              <a:rPr lang="en-US" sz="1300" dirty="0">
                <a:solidFill>
                  <a:srgbClr val="D1D5DB"/>
                </a:solidFill>
                <a:latin typeface="Calibri" pitchFamily="34" charset="0"/>
                <a:ea typeface="Calibri" pitchFamily="34" charset="-122"/>
                <a:cs typeface="Calibri" pitchFamily="34" charset="-120"/>
              </a:rPr>
              <a:t>✓  Laravel 12 (PHP 8.2+) + Vue 3 + Inertia.js + Tailwind CSS v4</a:t>
            </a:r>
            <a:endParaRPr lang="en-US" sz="1300" dirty="0"/>
          </a:p>
        </p:txBody>
      </p:sp>
      <p:sp>
        <p:nvSpPr>
          <p:cNvPr id="10" name="Text 8"/>
          <p:cNvSpPr/>
          <p:nvPr/>
        </p:nvSpPr>
        <p:spPr>
          <a:xfrm>
            <a:off x="1371600" y="3429000"/>
            <a:ext cx="9418320" cy="512064"/>
          </a:xfrm>
          <a:prstGeom prst="rect">
            <a:avLst/>
          </a:prstGeom>
          <a:noFill/>
          <a:ln/>
        </p:spPr>
        <p:txBody>
          <a:bodyPr wrap="square" rtlCol="0" anchor="ctr"/>
          <a:lstStyle/>
          <a:p>
            <a:pPr algn="ctr" indent="0" marL="0">
              <a:buNone/>
            </a:pPr>
            <a:r>
              <a:rPr lang="en-US" sz="1300" dirty="0">
                <a:solidFill>
                  <a:srgbClr val="D1D5DB"/>
                </a:solidFill>
                <a:latin typeface="Calibri" pitchFamily="34" charset="0"/>
                <a:ea typeface="Calibri" pitchFamily="34" charset="-122"/>
                <a:cs typeface="Calibri" pitchFamily="34" charset="-120"/>
              </a:rPr>
              <a:t>✓  4 roles RBAC · 24 modelos · 18 controladores · 10 servicios de negocio</a:t>
            </a:r>
            <a:endParaRPr lang="en-US" sz="1300" dirty="0"/>
          </a:p>
        </p:txBody>
      </p:sp>
      <p:sp>
        <p:nvSpPr>
          <p:cNvPr id="11" name="Text 9"/>
          <p:cNvSpPr/>
          <p:nvPr/>
        </p:nvSpPr>
        <p:spPr>
          <a:xfrm>
            <a:off x="1371600" y="4023360"/>
            <a:ext cx="9418320" cy="512064"/>
          </a:xfrm>
          <a:prstGeom prst="rect">
            <a:avLst/>
          </a:prstGeom>
          <a:noFill/>
          <a:ln/>
        </p:spPr>
        <p:txBody>
          <a:bodyPr wrap="square" rtlCol="0" anchor="ctr"/>
          <a:lstStyle/>
          <a:p>
            <a:pPr algn="ctr" indent="0" marL="0">
              <a:buNone/>
            </a:pPr>
            <a:r>
              <a:rPr lang="en-US" sz="1300" dirty="0">
                <a:solidFill>
                  <a:srgbClr val="D1D5DB"/>
                </a:solidFill>
                <a:latin typeface="Calibri" pitchFamily="34" charset="0"/>
                <a:ea typeface="Calibri" pitchFamily="34" charset="-122"/>
                <a:cs typeface="Calibri" pitchFamily="34" charset="-120"/>
              </a:rPr>
              <a:t>✓  16 plantillas de email (asíncrono) · 6 cron jobs · 8 exports Excel</a:t>
            </a:r>
            <a:endParaRPr lang="en-US" sz="1300" dirty="0"/>
          </a:p>
        </p:txBody>
      </p:sp>
      <p:sp>
        <p:nvSpPr>
          <p:cNvPr id="12" name="Text 10"/>
          <p:cNvSpPr/>
          <p:nvPr/>
        </p:nvSpPr>
        <p:spPr>
          <a:xfrm>
            <a:off x="1371600" y="4617720"/>
            <a:ext cx="9418320" cy="512064"/>
          </a:xfrm>
          <a:prstGeom prst="rect">
            <a:avLst/>
          </a:prstGeom>
          <a:noFill/>
          <a:ln/>
        </p:spPr>
        <p:txBody>
          <a:bodyPr wrap="square" rtlCol="0" anchor="ctr"/>
          <a:lstStyle/>
          <a:p>
            <a:pPr algn="ctr" indent="0" marL="0">
              <a:buNone/>
            </a:pPr>
            <a:r>
              <a:rPr lang="en-US" sz="1300" dirty="0">
                <a:solidFill>
                  <a:srgbClr val="D1D5DB"/>
                </a:solidFill>
                <a:latin typeface="Calibri" pitchFamily="34" charset="0"/>
                <a:ea typeface="Calibri" pitchFamily="34" charset="-122"/>
                <a:cs typeface="Calibri" pitchFamily="34" charset="-120"/>
              </a:rPr>
              <a:t>✓  PDFs con sello digital + QR verificable · Verificación pública sin login</a:t>
            </a:r>
            <a:endParaRPr lang="en-US" sz="1300" dirty="0"/>
          </a:p>
        </p:txBody>
      </p:sp>
      <p:sp>
        <p:nvSpPr>
          <p:cNvPr id="13" name="Text 11"/>
          <p:cNvSpPr/>
          <p:nvPr/>
        </p:nvSpPr>
        <p:spPr>
          <a:xfrm>
            <a:off x="1371600" y="5212080"/>
            <a:ext cx="9418320" cy="512064"/>
          </a:xfrm>
          <a:prstGeom prst="rect">
            <a:avLst/>
          </a:prstGeom>
          <a:noFill/>
          <a:ln/>
        </p:spPr>
        <p:txBody>
          <a:bodyPr wrap="square" rtlCol="0" anchor="ctr"/>
          <a:lstStyle/>
          <a:p>
            <a:pPr algn="ctr" indent="0" marL="0">
              <a:buNone/>
            </a:pPr>
            <a:r>
              <a:rPr lang="en-US" sz="1300" dirty="0">
                <a:solidFill>
                  <a:srgbClr val="D1D5DB"/>
                </a:solidFill>
                <a:latin typeface="Calibri" pitchFamily="34" charset="0"/>
                <a:ea typeface="Calibri" pitchFamily="34" charset="-122"/>
                <a:cs typeface="Calibri" pitchFamily="34" charset="-120"/>
              </a:rPr>
              <a:t>✓  3 bugs críticos identificados y corregidos en sesión de debugging</a:t>
            </a:r>
            <a:endParaRPr lang="en-US" sz="1300" dirty="0"/>
          </a:p>
        </p:txBody>
      </p:sp>
      <p:sp>
        <p:nvSpPr>
          <p:cNvPr id="14" name="Text 12"/>
          <p:cNvSpPr/>
          <p:nvPr/>
        </p:nvSpPr>
        <p:spPr>
          <a:xfrm>
            <a:off x="0" y="6492240"/>
            <a:ext cx="12192000" cy="292608"/>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Documentación generada con GitHub Copilot  ·  TecNM  ·  Marzo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Tecnológico Nacional de México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BecasLaravel_AD — Documentación Técnica y Funcional</dc:subject>
  <dc:creator>GitHub Copilot / TecNM</dc:creator>
  <cp:lastModifiedBy>GitHub Copilot / TecNM</cp:lastModifiedBy>
  <cp:revision>1</cp:revision>
  <dcterms:created xsi:type="dcterms:W3CDTF">2026-03-10T01:15:20Z</dcterms:created>
  <dcterms:modified xsi:type="dcterms:W3CDTF">2026-03-10T01:15:20Z</dcterms:modified>
</cp:coreProperties>
</file>