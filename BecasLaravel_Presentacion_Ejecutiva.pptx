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220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1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91441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1" indent="-285755" algn="l" defTabSz="91441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7" indent="-228603" algn="l" defTabSz="91441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4" indent="-228603" algn="l" defTabSz="91441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0" indent="-228603" algn="l" defTabSz="91441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7" indent="-228603" algn="l" defTabSz="91441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3" indent="-228603" algn="l" defTabSz="91441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1" indent="-228603" algn="l" defTabSz="91441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57" indent="-228603" algn="l" defTabSz="91441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3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0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7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3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0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6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4" algn="l" defTabSz="91441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92000" cy="2468880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457200"/>
            <a:ext cx="3840480" cy="3840480"/>
          </a:xfrm>
          <a:prstGeom prst="roundRect">
            <a:avLst>
              <a:gd name="adj" fmla="val 11905"/>
            </a:avLst>
          </a:prstGeom>
          <a:solidFill>
            <a:srgbClr val="152D5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1" y="1097281"/>
            <a:ext cx="2560320" cy="2560320"/>
          </a:xfrm>
          <a:prstGeom prst="roundRect">
            <a:avLst>
              <a:gd name="adj" fmla="val 14286"/>
            </a:avLst>
          </a:prstGeom>
          <a:solidFill>
            <a:srgbClr val="1A3A6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1" y="320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1" y="777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1" y="1234440"/>
            <a:ext cx="4572000" cy="36576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898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Becas Académicas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digital que moderniza y simplifica todo el proceso</a:t>
            </a:r>
            <a:endParaRPr lang="en-US" sz="1300" dirty="0"/>
          </a:p>
          <a:p>
            <a:r>
              <a:rPr lang="en-US" sz="13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becas para el personal docente del TecNM.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370832"/>
            <a:ext cx="12192000" cy="27432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 ·  Marzo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1" y="50749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694A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1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Digital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1" y="50749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694A2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1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Transparente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1" y="50749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694A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1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Línea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0" y="50749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694A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64465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Desarrollo Institucional  ·  TecNM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creó este sistema?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existía antes y cómo lo resuelve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544068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5440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1" y="14447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 del sistema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9933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1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Papeleo en físico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1" y="22860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docentes entregaban documentos impresos y los expedientes se perdían o tardaban semanas en revisarse.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1" y="2788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comunicación clara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1" y="30815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profesores no sabían el estado de su solicitud. Tenían que llamar o visitar la dirección para preguntar.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1" y="3584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desorganizados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1" y="387705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campus manejaba su propio proceso, sin un formato unificado ni registro centralizado.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3799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8681" y="4379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muy lento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1" y="467258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se entregaba la solicitud hasta recibir respuesta podían pasar meses sin certeza del resultado.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1755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68681" y="51755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1" y="546811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había forma de auditar quién revisó qué, cuándo ni con qué criterio se tomaron las decisiones.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325880"/>
            <a:ext cx="59893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325880"/>
            <a:ext cx="598932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4447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el sistema digital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19933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75120" y="199339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línea, desde cualquier lugar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228600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sube sus documentos desde su computadora o celular, sin salir de casa.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75120" y="278892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por correo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75120" y="3081528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por email cada vez que hay un cambio: solicitud recibida, en revisión, aprobada o rechazada.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35844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75120" y="358444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centralizado y ordenado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0" y="3877056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campus trabajan con el mismo sistema. Los administradores ven todo desde un solo panel.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43799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75120" y="437997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más rápidas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75120" y="4672584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revisión y evaluación se puede completar en días, con plazos definidos y recordatorios automáticos.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51755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675120" y="517550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verificables con código QR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75120" y="5468112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reconocimiento generado tiene un código QR único que permite comprobar su autenticidad en segundos.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1" y="3520440"/>
            <a:ext cx="548640" cy="502920"/>
          </a:xfrm>
          <a:prstGeom prst="rightArrow">
            <a:avLst/>
          </a:prstGeom>
          <a:solidFill>
            <a:srgbClr val="1A56D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1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 números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1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hace por el TecNM cada día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1"/>
            <a:ext cx="2331720" cy="3200400"/>
          </a:xfrm>
          <a:prstGeom prst="roundRect">
            <a:avLst>
              <a:gd name="adj" fmla="val 5882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331720" cy="73152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8308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694A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usuarios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886201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Admin,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Evaluador, Docente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1508761"/>
            <a:ext cx="2331720" cy="3200400"/>
          </a:xfrm>
          <a:prstGeom prst="roundRect">
            <a:avLst>
              <a:gd name="adj" fmla="val 5882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52928" y="1508760"/>
            <a:ext cx="233172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18688" y="178308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182880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944368" y="34930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62656" y="3886201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papeles, sin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presenciales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40096" y="1508761"/>
            <a:ext cx="2331720" cy="3200400"/>
          </a:xfrm>
          <a:prstGeom prst="roundRect">
            <a:avLst>
              <a:gd name="adj" fmla="val 5882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0096" y="1508760"/>
            <a:ext cx="2331720" cy="7315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0" name="Shape 18"/>
          <p:cNvSpPr/>
          <p:nvPr/>
        </p:nvSpPr>
        <p:spPr>
          <a:xfrm>
            <a:off x="5705856" y="178308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5705856" y="182880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431536" y="34930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9824" y="3886201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enviados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etapa del proceso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27264" y="1508761"/>
            <a:ext cx="2331720" cy="3200400"/>
          </a:xfrm>
          <a:prstGeom prst="roundRect">
            <a:avLst>
              <a:gd name="adj" fmla="val 5882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27264" y="1508760"/>
            <a:ext cx="2331720" cy="7315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178308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57A55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82880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918704" y="34930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única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36992" y="3886201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tiene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 imposible de falsificar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314432" y="1508761"/>
            <a:ext cx="2331720" cy="3200400"/>
          </a:xfrm>
          <a:prstGeom prst="roundRect">
            <a:avLst>
              <a:gd name="adj" fmla="val 5882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14432" y="1508760"/>
            <a:ext cx="23317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80192" y="178308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10680192" y="182880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0405872" y="34930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siempre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0" y="3886201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funciona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365 días del año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0A1E38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047488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i="1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"Antes de este sistema, el proceso de becas dependía de papeles, llamadas y correos manuales. Hoy, todo el ciclo —desde que el docente aplica hasta que recibe su reconocimiento— ocurre de forma automática, segura y completamente digital."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participan en el sistema?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un rol con funciones y accesos específicos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1" y="1325880"/>
            <a:ext cx="2926080" cy="51663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1" y="1325880"/>
            <a:ext cx="2926080" cy="73152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1" y="1463040"/>
            <a:ext cx="914400" cy="91440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1" y="1481328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👑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9" y="2487168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Administrador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1" y="2944368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acceso total al sistema. Puede hacer cualquier acción, ver todos los datos y configurar la plataforma desde cero. Es el responsable técnico del sistema.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1" y="4114800"/>
            <a:ext cx="256032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1" y="4187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4480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F2B4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4480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todos los usuarios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" y="49560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F2B4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4956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" y="4956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sistema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" y="54315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F2B4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5431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" y="5431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cualquier reporte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" y="59070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F2B4F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59070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" y="59070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convocatorias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01569" y="1325880"/>
            <a:ext cx="2926080" cy="51663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01569" y="1325880"/>
            <a:ext cx="292608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3" name="Shape 31"/>
          <p:cNvSpPr/>
          <p:nvPr/>
        </p:nvSpPr>
        <p:spPr>
          <a:xfrm>
            <a:off x="4407409" y="1463040"/>
            <a:ext cx="914400" cy="9144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34" name="Text 32"/>
          <p:cNvSpPr/>
          <p:nvPr/>
        </p:nvSpPr>
        <p:spPr>
          <a:xfrm>
            <a:off x="4407409" y="1481328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511297" y="2487168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538729" y="2944368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encarga del día a día del proceso de becas. Abre convocatorias, revisa solicitudes, asigna evaluadores y genera los reconocimientos finales.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84449" y="4114800"/>
            <a:ext cx="256032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3538729" y="4187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66160" y="4480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480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77056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cerrar convocatorias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66160" y="49560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4956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77056" y="4956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solicitudes recibidas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66160" y="54315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/>
        </p:spPr>
      </p:sp>
      <p:sp>
        <p:nvSpPr>
          <p:cNvPr id="46" name="Text 44"/>
          <p:cNvSpPr/>
          <p:nvPr/>
        </p:nvSpPr>
        <p:spPr>
          <a:xfrm>
            <a:off x="3566160" y="5431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77056" y="5431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evaluadores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66160" y="59070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/>
        </p:spPr>
      </p:sp>
      <p:sp>
        <p:nvSpPr>
          <p:cNvPr id="49" name="Text 47"/>
          <p:cNvSpPr/>
          <p:nvPr/>
        </p:nvSpPr>
        <p:spPr>
          <a:xfrm>
            <a:off x="3566160" y="59070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77056" y="59070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y activar reconocimientos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83097" y="1325880"/>
            <a:ext cx="2926080" cy="51663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83097" y="1325880"/>
            <a:ext cx="2926080" cy="73152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53" name="Shape 51"/>
          <p:cNvSpPr/>
          <p:nvPr/>
        </p:nvSpPr>
        <p:spPr>
          <a:xfrm>
            <a:off x="7488937" y="1463040"/>
            <a:ext cx="914400" cy="914400"/>
          </a:xfrm>
          <a:prstGeom prst="ellipse">
            <a:avLst/>
          </a:prstGeom>
          <a:solidFill>
            <a:srgbClr val="0694A2"/>
          </a:solidFill>
          <a:ln/>
        </p:spPr>
      </p:sp>
      <p:sp>
        <p:nvSpPr>
          <p:cNvPr id="54" name="Text 52"/>
          <p:cNvSpPr/>
          <p:nvPr/>
        </p:nvSpPr>
        <p:spPr>
          <a:xfrm>
            <a:off x="7488937" y="1481328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6592825" y="2487168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620257" y="2944368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experto que revisa con detalle las solicitudes asignadas por el administrador. Usa una rúbrica de criterios para dar su dictamen.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65977" y="4114800"/>
            <a:ext cx="256032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6620257" y="4187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Puede: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47688" y="4480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694A2"/>
          </a:solidFill>
          <a:ln/>
        </p:spPr>
      </p:sp>
      <p:sp>
        <p:nvSpPr>
          <p:cNvPr id="60" name="Text 58"/>
          <p:cNvSpPr/>
          <p:nvPr/>
        </p:nvSpPr>
        <p:spPr>
          <a:xfrm>
            <a:off x="6647688" y="4480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58584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solicitudes asignadas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47688" y="49560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694A2"/>
          </a:solidFill>
          <a:ln/>
        </p:spPr>
      </p:sp>
      <p:sp>
        <p:nvSpPr>
          <p:cNvPr id="63" name="Text 61"/>
          <p:cNvSpPr/>
          <p:nvPr/>
        </p:nvSpPr>
        <p:spPr>
          <a:xfrm>
            <a:off x="6647688" y="4956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58584" y="4956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rúbrica de puntos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47688" y="54315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694A2"/>
          </a:solidFill>
          <a:ln/>
        </p:spPr>
      </p:sp>
      <p:sp>
        <p:nvSpPr>
          <p:cNvPr id="66" name="Text 64"/>
          <p:cNvSpPr/>
          <p:nvPr/>
        </p:nvSpPr>
        <p:spPr>
          <a:xfrm>
            <a:off x="6647688" y="5431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58584" y="5431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dictamen (apto/no apto)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47688" y="59070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694A2"/>
          </a:solidFill>
          <a:ln/>
        </p:spPr>
      </p:sp>
      <p:sp>
        <p:nvSpPr>
          <p:cNvPr id="69" name="Text 67"/>
          <p:cNvSpPr/>
          <p:nvPr/>
        </p:nvSpPr>
        <p:spPr>
          <a:xfrm>
            <a:off x="6647688" y="59070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58584" y="59070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máximo de 7 días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564624" y="1325880"/>
            <a:ext cx="2926080" cy="51663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564624" y="1325880"/>
            <a:ext cx="2926080" cy="7315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73" name="Shape 71"/>
          <p:cNvSpPr/>
          <p:nvPr/>
        </p:nvSpPr>
        <p:spPr>
          <a:xfrm>
            <a:off x="10570464" y="1463040"/>
            <a:ext cx="914400" cy="914400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74" name="Text 72"/>
          <p:cNvSpPr/>
          <p:nvPr/>
        </p:nvSpPr>
        <p:spPr>
          <a:xfrm>
            <a:off x="10570464" y="1481328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9674352" y="2487168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9701784" y="2944368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que solicita la beca. Solo puede ver su propia información, subir sus documentos y descargar su carta de aceptación si es aprobado.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747504" y="4114800"/>
            <a:ext cx="256032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Text 76"/>
          <p:cNvSpPr/>
          <p:nvPr/>
        </p:nvSpPr>
        <p:spPr>
          <a:xfrm>
            <a:off x="9701784" y="4187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Puede: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729216" y="4480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57A55"/>
          </a:solidFill>
          <a:ln/>
        </p:spPr>
      </p:sp>
      <p:sp>
        <p:nvSpPr>
          <p:cNvPr id="80" name="Text 78"/>
          <p:cNvSpPr/>
          <p:nvPr/>
        </p:nvSpPr>
        <p:spPr>
          <a:xfrm>
            <a:off x="9729216" y="4480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040112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enviar su solicitud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729216" y="49560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57A55"/>
          </a:solidFill>
          <a:ln/>
        </p:spPr>
      </p:sp>
      <p:sp>
        <p:nvSpPr>
          <p:cNvPr id="83" name="Text 81"/>
          <p:cNvSpPr/>
          <p:nvPr/>
        </p:nvSpPr>
        <p:spPr>
          <a:xfrm>
            <a:off x="9729216" y="4956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040112" y="4956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documentos requeridos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729216" y="54315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57A55"/>
          </a:solidFill>
          <a:ln/>
        </p:spPr>
      </p:sp>
      <p:sp>
        <p:nvSpPr>
          <p:cNvPr id="86" name="Text 84"/>
          <p:cNvSpPr/>
          <p:nvPr/>
        </p:nvSpPr>
        <p:spPr>
          <a:xfrm>
            <a:off x="9729216" y="5431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040112" y="5431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estado de su solicitud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9729216" y="59070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57A55"/>
          </a:solidFill>
          <a:ln/>
        </p:spPr>
      </p:sp>
      <p:sp>
        <p:nvSpPr>
          <p:cNvPr id="89" name="Text 87"/>
          <p:cNvSpPr/>
          <p:nvPr/>
        </p:nvSpPr>
        <p:spPr>
          <a:xfrm>
            <a:off x="9729216" y="59070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040112" y="59070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carta de aceptación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el proceso completo?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principio a fin — lo que ocurre desde que se abre una convocatoria hasta el reconocimiento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9" y="1371600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9" y="1371600"/>
            <a:ext cx="2880360" cy="6400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536192"/>
            <a:ext cx="475488" cy="475488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1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9769" y="2121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la convocatoria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9" y="2542033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configura y publica una nueva convocatoria. El sistema avisa automáticamente a todos los docentes por correo.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2400300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3364993" y="1371600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64993" y="1371600"/>
            <a:ext cx="28803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9584" y="1536192"/>
            <a:ext cx="475488" cy="47548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9584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32705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502153" y="2121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aplica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02153" y="2542033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profesor interesado entra al sistema, llena su solicitud y adjunta los documentos requeridos desde su computadora.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2400300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7377" y="1371600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37377" y="1371600"/>
            <a:ext cx="2880360" cy="64008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9" name="Shape 27"/>
          <p:cNvSpPr/>
          <p:nvPr/>
        </p:nvSpPr>
        <p:spPr>
          <a:xfrm>
            <a:off x="6601968" y="1536192"/>
            <a:ext cx="475488" cy="475488"/>
          </a:xfrm>
          <a:prstGeom prst="ellipse">
            <a:avLst/>
          </a:prstGeom>
          <a:solidFill>
            <a:srgbClr val="0694A2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68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05089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74537" y="2121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inicial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74537" y="2542033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verifica que la solicitud esté completa y correcta. Si falta algo, regresa al docente con comentarios.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45168" y="2400300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509761" y="1371600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09761" y="1371600"/>
            <a:ext cx="2880360" cy="64008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37" name="Shape 35"/>
          <p:cNvSpPr/>
          <p:nvPr/>
        </p:nvSpPr>
        <p:spPr>
          <a:xfrm>
            <a:off x="9674352" y="1536192"/>
            <a:ext cx="475488" cy="475488"/>
          </a:xfrm>
          <a:prstGeom prst="ellipse">
            <a:avLst/>
          </a:prstGeom>
          <a:solidFill>
            <a:srgbClr val="C27803"/>
          </a:solidFill>
          <a:ln/>
        </p:spPr>
      </p:sp>
      <p:sp>
        <p:nvSpPr>
          <p:cNvPr id="38" name="Text 36"/>
          <p:cNvSpPr/>
          <p:nvPr/>
        </p:nvSpPr>
        <p:spPr>
          <a:xfrm>
            <a:off x="9674352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777472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646921" y="21214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expertos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46921" y="2542033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un evaluador que valora la solicitud según criterios establecidos. Tiene 7 días para emitir su dictamen.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9" y="3913632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2609" y="3913632"/>
            <a:ext cx="2880360" cy="64008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078224"/>
            <a:ext cx="475488" cy="475488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0965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560321" y="405993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29769" y="4663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del comité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29769" y="508406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procesa las evaluaciones y emite el veredicto final: aprobada o no aprobada.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4942332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50" name="Shape 48"/>
          <p:cNvSpPr/>
          <p:nvPr/>
        </p:nvSpPr>
        <p:spPr>
          <a:xfrm>
            <a:off x="3364993" y="3913632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64993" y="3913632"/>
            <a:ext cx="28803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2" name="Shape 50"/>
          <p:cNvSpPr/>
          <p:nvPr/>
        </p:nvSpPr>
        <p:spPr>
          <a:xfrm>
            <a:off x="3529584" y="4078224"/>
            <a:ext cx="475488" cy="47548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53" name="Text 51"/>
          <p:cNvSpPr/>
          <p:nvPr/>
        </p:nvSpPr>
        <p:spPr>
          <a:xfrm>
            <a:off x="3529584" y="40965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632705" y="405993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3502153" y="4663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docente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502153" y="508406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recibe un correo automático con el resultado. Si es aprobado, puede descargar su carta de aceptación.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4942332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58" name="Shape 56"/>
          <p:cNvSpPr/>
          <p:nvPr/>
        </p:nvSpPr>
        <p:spPr>
          <a:xfrm>
            <a:off x="6437377" y="3913632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37377" y="3913632"/>
            <a:ext cx="2880360" cy="6400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60" name="Shape 58"/>
          <p:cNvSpPr/>
          <p:nvPr/>
        </p:nvSpPr>
        <p:spPr>
          <a:xfrm>
            <a:off x="6601968" y="4078224"/>
            <a:ext cx="475488" cy="475488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61" name="Text 59"/>
          <p:cNvSpPr/>
          <p:nvPr/>
        </p:nvSpPr>
        <p:spPr>
          <a:xfrm>
            <a:off x="6601968" y="40965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705089" y="405993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6574537" y="4663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reconocimiento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574537" y="508406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aprobados, el sistema genera un documento PDF oficial con sello digital y código QR único.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345168" y="4942332"/>
            <a:ext cx="1645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6" name="Shape 64"/>
          <p:cNvSpPr/>
          <p:nvPr/>
        </p:nvSpPr>
        <p:spPr>
          <a:xfrm>
            <a:off x="9509761" y="3913632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509761" y="3913632"/>
            <a:ext cx="2880360" cy="64008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68" name="Shape 66"/>
          <p:cNvSpPr/>
          <p:nvPr/>
        </p:nvSpPr>
        <p:spPr>
          <a:xfrm>
            <a:off x="9674352" y="4078224"/>
            <a:ext cx="475488" cy="475488"/>
          </a:xfrm>
          <a:prstGeom prst="ellipse">
            <a:avLst/>
          </a:prstGeom>
          <a:solidFill>
            <a:srgbClr val="0694A2"/>
          </a:solidFill>
          <a:ln/>
        </p:spPr>
      </p:sp>
      <p:sp>
        <p:nvSpPr>
          <p:cNvPr id="69" name="Text 67"/>
          <p:cNvSpPr/>
          <p:nvPr/>
        </p:nvSpPr>
        <p:spPr>
          <a:xfrm>
            <a:off x="9674352" y="40965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777472" y="405993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9646921" y="4663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pública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9646921" y="508406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puede escanear el QR del documento para confirmar su autenticidad sin necesidad de una cuenta.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Convocatorias — El corazón del proceso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administran los períodos de solicitud de becas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11704320" cy="914400"/>
          </a:xfrm>
          <a:prstGeom prst="roundRect">
            <a:avLst>
              <a:gd name="adj" fmla="val 10000"/>
            </a:avLst>
          </a:prstGeom>
          <a:solidFill>
            <a:srgbClr val="EB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38988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100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convocatoria es el período oficial en que los docentes pueden aplicar a becas. El sistema permite tener exactamente una convocatoria activa a la vez, con fechas de inicio y cierre bien definidas, y todo se gestiona automáticamente.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971800"/>
            <a:ext cx="10241280" cy="731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572768" y="2834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3" y="3310128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3" y="3310128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3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9" y="41330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9" y="4553713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la convocatoria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publicarla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98848" y="2834640"/>
            <a:ext cx="347472" cy="34747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21" name="Shape 19"/>
          <p:cNvSpPr/>
          <p:nvPr/>
        </p:nvSpPr>
        <p:spPr>
          <a:xfrm>
            <a:off x="3547873" y="3310128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47873" y="3310128"/>
            <a:ext cx="260604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3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584449" y="41330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/ Abierta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84449" y="4553713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docentes pueden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sus solicitudes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este período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24928" y="2834640"/>
            <a:ext cx="347472" cy="347472"/>
          </a:xfrm>
          <a:prstGeom prst="ellipse">
            <a:avLst/>
          </a:prstGeom>
          <a:solidFill>
            <a:srgbClr val="C2780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3953" y="3310128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73953" y="3310128"/>
            <a:ext cx="2606040" cy="54864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3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10529" y="41330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Evaluación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10529" y="4553713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son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revisadas por el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evaluador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351008" y="2834640"/>
            <a:ext cx="347472" cy="347472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33" name="Shape 31"/>
          <p:cNvSpPr/>
          <p:nvPr/>
        </p:nvSpPr>
        <p:spPr>
          <a:xfrm>
            <a:off x="9400033" y="3310128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00033" y="3310128"/>
            <a:ext cx="2606040" cy="54864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5" name="Text 33"/>
          <p:cNvSpPr/>
          <p:nvPr/>
        </p:nvSpPr>
        <p:spPr>
          <a:xfrm>
            <a:off x="9400033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436609" y="41330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36609" y="4553713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terminó.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reportes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reconocimientos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6126480"/>
            <a:ext cx="1170432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144768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Regla del sistema: Solo puede existir una convocatoria activa en todo el TecNM al mismo tiempo.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 el docente?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del profesor: desde registrarse hasta recibir resolución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1" y="1463040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1" y="1481328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19272" y="146304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 cuenta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2514601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se registra con su correo institucional. Recibe un código de 6 dígitos para verificar su identidad.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32588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132588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1" y="1463040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1" y="1481328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96913" y="146304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462272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su perfil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62272" y="2514601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su información: institución, departamento, tipo de plaza. Esta información alimenta automáticamente su solicitud.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5320" y="132588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75320" y="132588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8201" y="1463040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1" y="1481328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274553" y="146304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39912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la convocatoria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39912" y="2514601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ve en su panel cuándo hay una convocatoria activa y la fecha límite para aplicar.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93192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93192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1" y="4069081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1" y="4087369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19272" y="4069081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84632" y="4709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 solicitud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" y="5120640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formulario con sus datos académicos y adjunta los documentos en formato PDF directamente desde su equipo.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393192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0" y="393192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1" name="Shape 39"/>
          <p:cNvSpPr/>
          <p:nvPr/>
        </p:nvSpPr>
        <p:spPr>
          <a:xfrm>
            <a:off x="4480561" y="4069081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42" name="Text 40"/>
          <p:cNvSpPr/>
          <p:nvPr/>
        </p:nvSpPr>
        <p:spPr>
          <a:xfrm>
            <a:off x="4480561" y="4087369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296913" y="4069081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462272" y="4709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la resolución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62272" y="5120640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ver en tiempo real el estado: 'Pendiente', 'En revisión', 'Aprobada' o 'No aprobada', sin necesidad de llamar.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75320" y="3931920"/>
            <a:ext cx="3794760" cy="237744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75320" y="3931920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8" name="Shape 46"/>
          <p:cNvSpPr/>
          <p:nvPr/>
        </p:nvSpPr>
        <p:spPr>
          <a:xfrm>
            <a:off x="8458201" y="4069081"/>
            <a:ext cx="530352" cy="530352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1" y="4087369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1274553" y="4069081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439912" y="4709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su carta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39912" y="5120640"/>
            <a:ext cx="3520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aprobado, descarga su Carta de Aceptación en PDF directamente desde el sistema, con validez oficial.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evalúan las solicitudes?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criterios y puntuación para las decisiones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298448"/>
            <a:ext cx="1161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solicitud es revisada por un evaluador usando una rúbrica — una lista de criterios con puntaje definido. Esto garantiza que todas las solicitudes se juzguen con los mismos estándares y de forma objetiva.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1" y="202996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1" y="2029968"/>
            <a:ext cx="5257800" cy="54864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1" y="2121408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Ejemplo de Rúbrica de Evaluación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578608"/>
            <a:ext cx="1691640" cy="438912"/>
          </a:xfrm>
          <a:prstGeom prst="rect">
            <a:avLst/>
          </a:prstGeom>
          <a:solidFill>
            <a:srgbClr val="0694A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   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75688" y="2578608"/>
            <a:ext cx="1691640" cy="438912"/>
          </a:xfrm>
          <a:prstGeom prst="rect">
            <a:avLst/>
          </a:prstGeom>
          <a:solidFill>
            <a:srgbClr val="0694A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57860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evaluación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67328" y="2578608"/>
            <a:ext cx="1691640" cy="438912"/>
          </a:xfrm>
          <a:prstGeom prst="rect">
            <a:avLst/>
          </a:prstGeom>
          <a:solidFill>
            <a:srgbClr val="0694A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57860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054096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5409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75688" y="305409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05409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máximo de estudios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67328" y="305409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05409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529584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2958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75688" y="3529584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352958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y ponencias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67328" y="3529584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52958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005072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05072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75688" y="4005072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8840" y="4005072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servicio en TecNM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67328" y="4005072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4005072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4480560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75688" y="4480560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448056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plaza (base/contr.)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67328" y="4480560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48056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956048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5604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75688" y="49560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495604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del área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67328" y="49560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495604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4048" y="5431536"/>
            <a:ext cx="169164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43153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75688" y="543153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543153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 del proyecto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67328" y="543153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543153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4049" y="5897880"/>
            <a:ext cx="5074920" cy="402336"/>
          </a:xfrm>
          <a:prstGeom prst="roundRect">
            <a:avLst>
              <a:gd name="adj" fmla="val 13636"/>
            </a:avLst>
          </a:prstGeom>
          <a:solidFill>
            <a:srgbClr val="0694A2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9" y="59161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Puntaje máximo posible: 100 puntos — Mínimo para aprobar: definido por el administrador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897880" y="2029968"/>
            <a:ext cx="62179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897880" y="2029968"/>
            <a:ext cx="6217920" cy="54864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61" name="Text 59"/>
          <p:cNvSpPr/>
          <p:nvPr/>
        </p:nvSpPr>
        <p:spPr>
          <a:xfrm>
            <a:off x="6035040" y="2121408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Cómo ve el evaluador una solicitud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053328" y="2578608"/>
            <a:ext cx="5897880" cy="585216"/>
          </a:xfrm>
          <a:prstGeom prst="roundRect">
            <a:avLst>
              <a:gd name="adj" fmla="val 10938"/>
            </a:avLst>
          </a:prstGeom>
          <a:solidFill>
            <a:srgbClr val="EBF2FF"/>
          </a:solidFill>
          <a:ln/>
        </p:spPr>
      </p:sp>
      <p:sp>
        <p:nvSpPr>
          <p:cNvPr id="63" name="Text 61"/>
          <p:cNvSpPr/>
          <p:nvPr/>
        </p:nvSpPr>
        <p:spPr>
          <a:xfrm>
            <a:off x="6144768" y="261518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📩</a:t>
            </a: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01968" y="2615184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notificación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601968" y="2852928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evaluador recibe un correo indicando que tiene una nueva solicitud asignada para revisar.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53328" y="3255264"/>
            <a:ext cx="5897880" cy="585216"/>
          </a:xfrm>
          <a:prstGeom prst="roundRect">
            <a:avLst>
              <a:gd name="adj" fmla="val 10938"/>
            </a:avLst>
          </a:prstGeom>
          <a:solidFill>
            <a:srgbClr val="F9FAFB"/>
          </a:solidFill>
          <a:ln/>
        </p:spPr>
      </p:sp>
      <p:sp>
        <p:nvSpPr>
          <p:cNvPr id="67" name="Text 65"/>
          <p:cNvSpPr/>
          <p:nvPr/>
        </p:nvSpPr>
        <p:spPr>
          <a:xfrm>
            <a:off x="6144768" y="32918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601968" y="3291840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documentos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601968" y="3529584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al sistema y puede ver todos los archivos PDF que subió el docente junto con su información.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053328" y="3931921"/>
            <a:ext cx="5897880" cy="585216"/>
          </a:xfrm>
          <a:prstGeom prst="roundRect">
            <a:avLst>
              <a:gd name="adj" fmla="val 10938"/>
            </a:avLst>
          </a:prstGeom>
          <a:solidFill>
            <a:srgbClr val="EBF2FF"/>
          </a:solidFill>
          <a:ln/>
        </p:spPr>
      </p:sp>
      <p:sp>
        <p:nvSpPr>
          <p:cNvPr id="71" name="Text 69"/>
          <p:cNvSpPr/>
          <p:nvPr/>
        </p:nvSpPr>
        <p:spPr>
          <a:xfrm>
            <a:off x="6144768" y="396849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601968" y="3968496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con la rúbrica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601968" y="4206240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una puntuación en cada criterio. El sistema suma automáticamente el total.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53328" y="4608576"/>
            <a:ext cx="5897880" cy="585216"/>
          </a:xfrm>
          <a:prstGeom prst="roundRect">
            <a:avLst>
              <a:gd name="adj" fmla="val 10938"/>
            </a:avLst>
          </a:prstGeom>
          <a:solidFill>
            <a:srgbClr val="F9FAFB"/>
          </a:solidFill>
          <a:ln/>
        </p:spPr>
      </p:sp>
      <p:sp>
        <p:nvSpPr>
          <p:cNvPr id="75" name="Text 73"/>
          <p:cNvSpPr/>
          <p:nvPr/>
        </p:nvSpPr>
        <p:spPr>
          <a:xfrm>
            <a:off x="6144768" y="4645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601968" y="4645152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su dictamen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601968" y="4882896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sus comentarios y marca la solicitud como: Recomendada, Condicionada o No recomendada.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053328" y="5285232"/>
            <a:ext cx="5897880" cy="585216"/>
          </a:xfrm>
          <a:prstGeom prst="roundRect">
            <a:avLst>
              <a:gd name="adj" fmla="val 10938"/>
            </a:avLst>
          </a:prstGeom>
          <a:solidFill>
            <a:srgbClr val="EBF2FF"/>
          </a:solidFill>
          <a:ln/>
        </p:spPr>
      </p:sp>
      <p:sp>
        <p:nvSpPr>
          <p:cNvPr id="79" name="Text 77"/>
          <p:cNvSpPr/>
          <p:nvPr/>
        </p:nvSpPr>
        <p:spPr>
          <a:xfrm>
            <a:off x="6144768" y="53218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601968" y="5321808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de 7 días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601968" y="5559552"/>
            <a:ext cx="5230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evalúa en 7 días, el sistema envía recordatorios automáticos al evaluador y al administrador.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mantiene a todos informados en cada paso del proceso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29844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tiene que preguntar manualmente. El sistema envía correos automáticos en el momento exacto en que ocurre cada evento importante.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1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1"/>
            <a:ext cx="64008" cy="10058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148841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05840" y="20299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029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docentes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15768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una convocatoria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377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'Ya está disponible la nueva convocatoria de becas. Tienes hasta el [fecha] para aplicar.'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1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920241"/>
            <a:ext cx="64008" cy="1005840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148841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📨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86600" y="20299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57A55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029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96528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solicitud fue recibida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1" y="2377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'Hemos recibido tu solicitud. Te avisaremos cuando sea revisada.'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35808"/>
            <a:ext cx="64008" cy="100584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" y="32644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05840" y="3145536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694A2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45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15768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solicitud entra a evaluación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349300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 solicitud está siendo revisada por el comité. Recibirás respuesta pronto.'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0" y="3035808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3035808"/>
            <a:ext cx="64008" cy="1005840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5" name="Text 33"/>
          <p:cNvSpPr/>
          <p:nvPr/>
        </p:nvSpPr>
        <p:spPr>
          <a:xfrm>
            <a:off x="6565392" y="32644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086600" y="3145536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57A55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3145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96528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aprobada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1" y="349300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'¡Felicitaciones! Tu solicitud fue aprobada. Ya puedes descargar tu carta de aceptación.'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4151376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151376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" y="43799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005840" y="426110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4261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15768" y="4270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no aprobada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5840" y="46085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 solicitud no fue aprobada en esta ocasión. [Motivo si existe].'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0800" y="4151376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4151376"/>
            <a:ext cx="64008" cy="1005840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49" name="Text 47"/>
          <p:cNvSpPr/>
          <p:nvPr/>
        </p:nvSpPr>
        <p:spPr>
          <a:xfrm>
            <a:off x="6565392" y="43799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7086600" y="426110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C27803"/>
          </a:solidFill>
          <a:ln/>
        </p:spPr>
      </p:sp>
      <p:sp>
        <p:nvSpPr>
          <p:cNvPr id="51" name="Text 49"/>
          <p:cNvSpPr/>
          <p:nvPr/>
        </p:nvSpPr>
        <p:spPr>
          <a:xfrm>
            <a:off x="7086600" y="4261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 asignado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96528" y="4270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solicitud asignada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86601" y="46085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'Tienes una nueva solicitud para evaluar. Tienes 7 días para emitir tu dictamen.'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5266944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5266944"/>
            <a:ext cx="64008" cy="1005840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" y="5495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1005840" y="537667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C27803"/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" y="5376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715768" y="5385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de evaluación por vencer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5840" y="5724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'Recordatorio: tienes 1 día para completar la evaluación de la solicitud #X.'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00800" y="5266944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F9FAFB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00800" y="5266944"/>
            <a:ext cx="64008" cy="100584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63" name="Text 61"/>
          <p:cNvSpPr/>
          <p:nvPr/>
        </p:nvSpPr>
        <p:spPr>
          <a:xfrm>
            <a:off x="6565392" y="5495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7086600" y="537667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F2B4F"/>
          </a:solidFill>
          <a:ln/>
        </p:spPr>
      </p:sp>
      <p:sp>
        <p:nvSpPr>
          <p:cNvPr id="65" name="Text 63"/>
          <p:cNvSpPr/>
          <p:nvPr/>
        </p:nvSpPr>
        <p:spPr>
          <a:xfrm>
            <a:off x="7086600" y="5376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796528" y="5385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listo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086601" y="5724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 reconocimiento oficial ya está disponible. Descárgalo desde el sistema.'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oficiales y validación con QR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sistema genera y protege los documentos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548640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5486400" cy="54864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1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¿Cómo se genera un documento oficial?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1965960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9842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196596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aprobada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2221992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el comité aprueba la solicitud, el administrador activa la generación del reconocimiento.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2633472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6517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633472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institucional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2889504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usa la plantilla oficial del TecNM (con logo, colores y formato) como base del documento.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" y="3300984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3192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300984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docente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3557016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insertan automáticamente el nombre, área, institución, tipo de beca y fecha del reconocimiento.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" y="3968496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9867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68496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único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" y="4224528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 código QR exclusivo para ese documento. Contiene un identificador que no se puede repetir.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" y="4636008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46542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4636008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digital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" y="4892040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queda marcado con un sello de autenticidad que certifica que fue emitido por el sistema oficial.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" y="5303520"/>
            <a:ext cx="365760" cy="365760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53218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530352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para descargar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0120" y="5559552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puede descargar su PDF directamente desde el sistema en cualquier momento.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1325880"/>
            <a:ext cx="608076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1325880"/>
            <a:ext cx="6080760" cy="54864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1417320"/>
            <a:ext cx="5779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Verificación del código QR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1901952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</p:spPr>
      </p:sp>
      <p:sp>
        <p:nvSpPr>
          <p:cNvPr id="42" name="Shape 40"/>
          <p:cNvSpPr/>
          <p:nvPr/>
        </p:nvSpPr>
        <p:spPr>
          <a:xfrm>
            <a:off x="6967728" y="2011680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0" y="2011680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967728" y="2359152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7728" y="3054096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7315200" y="3054096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010144" y="2011680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8010144" y="2359152"/>
            <a:ext cx="31089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76288" y="24231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732520" y="2084832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documento</a:t>
            </a:r>
            <a:endParaRPr lang="en-US" sz="1000" dirty="0"/>
          </a:p>
          <a:p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ACE-2026-TEC-13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99632" y="3858769"/>
            <a:ext cx="5833872" cy="566928"/>
          </a:xfrm>
          <a:prstGeom prst="roundRect">
            <a:avLst>
              <a:gd name="adj" fmla="val 12903"/>
            </a:avLst>
          </a:prstGeom>
          <a:solidFill>
            <a:srgbClr val="EBF2FF"/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3913632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20840" y="3913632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el QR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20840" y="415137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con un teléfono puede escanear el código impreso en el documento.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99632" y="4517136"/>
            <a:ext cx="5833872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/>
        </p:spPr>
      </p:sp>
      <p:sp>
        <p:nvSpPr>
          <p:cNvPr id="56" name="Text 54"/>
          <p:cNvSpPr/>
          <p:nvPr/>
        </p:nvSpPr>
        <p:spPr>
          <a:xfrm>
            <a:off x="6291072" y="457200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720840" y="4572000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cuenta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720840" y="480974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una página pública del sistema. No hace falta tener usuario ni contraseña.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99632" y="5175504"/>
            <a:ext cx="5833872" cy="566928"/>
          </a:xfrm>
          <a:prstGeom prst="roundRect">
            <a:avLst>
              <a:gd name="adj" fmla="val 12903"/>
            </a:avLst>
          </a:prstGeom>
          <a:solidFill>
            <a:srgbClr val="EBF2FF"/>
          </a:solidFill>
          <a:ln/>
        </p:spPr>
      </p:sp>
      <p:sp>
        <p:nvSpPr>
          <p:cNvPr id="60" name="Text 58"/>
          <p:cNvSpPr/>
          <p:nvPr/>
        </p:nvSpPr>
        <p:spPr>
          <a:xfrm>
            <a:off x="6291072" y="523036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720840" y="523036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verificados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720840" y="546811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el nombre, institución, tipo de beca y fecha — confirmando que el documento es auténtico.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99632" y="5833873"/>
            <a:ext cx="5833872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/>
        </p:spPr>
      </p:sp>
      <p:sp>
        <p:nvSpPr>
          <p:cNvPr id="64" name="Text 62"/>
          <p:cNvSpPr/>
          <p:nvPr/>
        </p:nvSpPr>
        <p:spPr>
          <a:xfrm>
            <a:off x="6291072" y="5888736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20840" y="5888736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de falsificar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720840" y="612648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código es único y está ligado solo a ese documento. Un código falso no encontraría nada en el sistema.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sistema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protegemos la información de los docentes y la institución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32588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es opcional. El sistema está diseñado para que ningún usuario pueda ver, modificar o descargar información que no le corresponde.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93392"/>
            <a:ext cx="64008" cy="1261872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1" y="2340864"/>
            <a:ext cx="566928" cy="566928"/>
          </a:xfrm>
          <a:prstGeom prst="ellipse">
            <a:avLst/>
          </a:prstGeom>
          <a:solidFill>
            <a:srgbClr val="0F2B4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1" y="235915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16152" y="215798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contraseña segura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16152" y="2523744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su propia cuenta con contraseña. El sistema obliga a usar contraseñas robustas.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993392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993392"/>
            <a:ext cx="64008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1" y="2340864"/>
            <a:ext cx="566928" cy="5669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1" y="235915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51193" y="215798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correo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51193" y="2523744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registrarse, el sistema envía un código de 6 dígitos al correo del docente para confirmar su identidad. Expira en 24 horas.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10713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10713"/>
            <a:ext cx="64008" cy="1261872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1" y="3758185"/>
            <a:ext cx="566928" cy="566928"/>
          </a:xfrm>
          <a:prstGeom prst="ellipse">
            <a:avLst/>
          </a:prstGeom>
          <a:solidFill>
            <a:srgbClr val="0694A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1" y="3776473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16152" y="357530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estrictos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216152" y="3941065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docente no puede ver las solicitudes de otro docente. Un evaluador solo ve lo que le fue asignado. Los permisos son aislados por rol.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3410713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410713"/>
            <a:ext cx="64008" cy="1261872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7961" y="3758185"/>
            <a:ext cx="566928" cy="566928"/>
          </a:xfrm>
          <a:prstGeom prst="ellipse">
            <a:avLst/>
          </a:prstGeom>
          <a:solidFill>
            <a:srgbClr val="C27803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1" y="3776473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51193" y="357530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actividad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51193" y="3941065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importante del sistema queda registrada con fecha, hora y quién la realizó. Esto permite auditorías.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828032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828032"/>
            <a:ext cx="64008" cy="1261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1" y="517550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1" y="519379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216152" y="499262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privados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216152" y="5358384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PDFs y archivos subidos solo son accesibles por las personas autorizadas. No hay links directos sin autenticación.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4828032"/>
            <a:ext cx="5806440" cy="1261872"/>
          </a:xfrm>
          <a:prstGeom prst="roundRect">
            <a:avLst>
              <a:gd name="adj" fmla="val 7246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4828032"/>
            <a:ext cx="64008" cy="126187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7961" y="5175504"/>
            <a:ext cx="566928" cy="566928"/>
          </a:xfrm>
          <a:prstGeom prst="ellipse">
            <a:avLst/>
          </a:prstGeom>
          <a:solidFill>
            <a:srgbClr val="057A55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1" y="519379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✉️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251193" y="4992624"/>
            <a:ext cx="4782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cifrada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251193" y="5358384"/>
            <a:ext cx="4782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intercambio de información entre el navegador del usuario y el servidor va protegido con HTTPS.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administración y reportes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hacer el administrador para gestionar todo el proceso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548640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54864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1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Panel de administración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1947673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1947672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o desactivar cuentas de docentes, evaluadores y administradores desde un panel centralizado.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624328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2624328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campus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2871216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administrar las instituciones del TecNM y las áreas prioritarias de cada una.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3300984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300984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solicitudes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3547872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estado de todas las solicitudes activas: pendientes, en revisión, aprobadas o rechazadas, con filtros.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3977641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evaluadores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4224528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qué evaluador revisará cada solicitud, con control del balance de carga de trabajo.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654296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4654296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reconocimientos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4901184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que un reconocimiento ya está listo para que el docente lo descargue.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533095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5330952"/>
            <a:ext cx="4736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recordatorios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5577840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notificaciones manuales o configurar recordatorios automáticos para plazos de evaluación.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1325880"/>
            <a:ext cx="608076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BBBBBB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325880"/>
            <a:ext cx="6080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417320"/>
            <a:ext cx="5779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 y exportación a Excel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1883665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puede exportar información completa a Excel con un solo clic, para análisis, auditorías o presentación a directivos.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2578609"/>
            <a:ext cx="5833872" cy="896112"/>
          </a:xfrm>
          <a:prstGeom prst="roundRect">
            <a:avLst>
              <a:gd name="adj" fmla="val 9184"/>
            </a:avLst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199632" y="2578609"/>
            <a:ext cx="749808" cy="896112"/>
          </a:xfrm>
          <a:prstGeom prst="roundRect">
            <a:avLst>
              <a:gd name="adj" fmla="val 10976"/>
            </a:avLst>
          </a:prstGeom>
          <a:solidFill>
            <a:srgbClr val="057A55"/>
          </a:solidFill>
          <a:ln/>
        </p:spPr>
      </p:sp>
      <p:sp>
        <p:nvSpPr>
          <p:cNvPr id="38" name="Text 36"/>
          <p:cNvSpPr/>
          <p:nvPr/>
        </p:nvSpPr>
        <p:spPr>
          <a:xfrm>
            <a:off x="6199632" y="2624329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022592" y="26243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22592" y="2898648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solicitudes con estado, evaluador asignado, puntaje y resolución.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3584449"/>
            <a:ext cx="5833872" cy="896112"/>
          </a:xfrm>
          <a:prstGeom prst="roundRect">
            <a:avLst>
              <a:gd name="adj" fmla="val 9184"/>
            </a:avLst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199632" y="3584449"/>
            <a:ext cx="749808" cy="896112"/>
          </a:xfrm>
          <a:prstGeom prst="roundRect">
            <a:avLst>
              <a:gd name="adj" fmla="val 10976"/>
            </a:avLst>
          </a:prstGeom>
          <a:solidFill>
            <a:srgbClr val="057A55"/>
          </a:solidFill>
          <a:ln/>
        </p:spPr>
      </p:sp>
      <p:sp>
        <p:nvSpPr>
          <p:cNvPr id="43" name="Text 41"/>
          <p:cNvSpPr/>
          <p:nvPr/>
        </p:nvSpPr>
        <p:spPr>
          <a:xfrm>
            <a:off x="6199632" y="3630169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022592" y="36301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del sistema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22592" y="3904488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de docentes, evaluadores e institución a la que pertenecen.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99632" y="4590289"/>
            <a:ext cx="5833872" cy="896112"/>
          </a:xfrm>
          <a:prstGeom prst="roundRect">
            <a:avLst>
              <a:gd name="adj" fmla="val 9184"/>
            </a:avLst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199632" y="4590289"/>
            <a:ext cx="749808" cy="896112"/>
          </a:xfrm>
          <a:prstGeom prst="roundRect">
            <a:avLst>
              <a:gd name="adj" fmla="val 10976"/>
            </a:avLst>
          </a:prstGeom>
          <a:solidFill>
            <a:srgbClr val="057A55"/>
          </a:solidFill>
          <a:ln/>
        </p:spPr>
      </p:sp>
      <p:sp>
        <p:nvSpPr>
          <p:cNvPr id="48" name="Text 46"/>
          <p:cNvSpPr/>
          <p:nvPr/>
        </p:nvSpPr>
        <p:spPr>
          <a:xfrm>
            <a:off x="6199632" y="4636009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7022592" y="46360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22592" y="4910328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campus del TecNM registrados en el sistema con sus datos.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99632" y="5596129"/>
            <a:ext cx="5833872" cy="896112"/>
          </a:xfrm>
          <a:prstGeom prst="roundRect">
            <a:avLst>
              <a:gd name="adj" fmla="val 9184"/>
            </a:avLst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6199632" y="5596129"/>
            <a:ext cx="749808" cy="896112"/>
          </a:xfrm>
          <a:prstGeom prst="roundRect">
            <a:avLst>
              <a:gd name="adj" fmla="val 10976"/>
            </a:avLst>
          </a:prstGeom>
          <a:solidFill>
            <a:srgbClr val="057A55"/>
          </a:solidFill>
          <a:ln/>
        </p:spPr>
      </p:sp>
      <p:sp>
        <p:nvSpPr>
          <p:cNvPr id="53" name="Text 51"/>
          <p:cNvSpPr/>
          <p:nvPr/>
        </p:nvSpPr>
        <p:spPr>
          <a:xfrm>
            <a:off x="6199632" y="5641849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7022592" y="56418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prioritarias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22592" y="5916168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áreas y subespecialidades configuradas para las convocatorias.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99632" y="6400800"/>
            <a:ext cx="5833872" cy="7315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hace solo — sin que nadie lo active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automáticas programadas que trabajan en segundo plano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325880"/>
            <a:ext cx="1161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ejecuta acciones automáticamente según fechas y condiciones. Nadie tiene que recordar ejecutarlas manualmente.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38528"/>
            <a:ext cx="64008" cy="13258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7801" y="204825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1" y="204825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" y="232257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convocatoria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41401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si la fecha de cierre de la convocatoria activa ya llegó. Si es así, la cierra automáticamente y avisa a todos los involucrados.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1938528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938528"/>
            <a:ext cx="64008" cy="132588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92841" y="204825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0694A2"/>
          </a:solidFill>
          <a:ln/>
        </p:spPr>
      </p:sp>
      <p:sp>
        <p:nvSpPr>
          <p:cNvPr id="22" name="Text 20"/>
          <p:cNvSpPr/>
          <p:nvPr/>
        </p:nvSpPr>
        <p:spPr>
          <a:xfrm>
            <a:off x="11292841" y="204825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19672" y="232257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20574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evaluaciones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1" y="241401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convocatoria entra a la etapa de evaluación, el sistema avisa automáticamente a los evaluadores asignados.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401569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01569"/>
            <a:ext cx="64008" cy="1325880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28" name="Shape 26"/>
          <p:cNvSpPr/>
          <p:nvPr/>
        </p:nvSpPr>
        <p:spPr>
          <a:xfrm>
            <a:off x="5257801" y="351129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057A55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1" y="351129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" y="3785617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97280" y="35204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evaluación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877057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cuándo terminó el período de evaluación y marca las solicitudes para su resolución final.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3401569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3401569"/>
            <a:ext cx="64008" cy="1325880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1" y="351129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C27803"/>
          </a:solidFill>
          <a:ln/>
        </p:spPr>
      </p:sp>
      <p:sp>
        <p:nvSpPr>
          <p:cNvPr id="36" name="Text 34"/>
          <p:cNvSpPr/>
          <p:nvPr/>
        </p:nvSpPr>
        <p:spPr>
          <a:xfrm>
            <a:off x="11292841" y="351129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19672" y="3785617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32320" y="35204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 evaluadores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1" y="3877057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correos de recordatorio a evaluadores que aún no han completado su revisión, indicando cuántos días les quedan.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864608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864608"/>
            <a:ext cx="64008" cy="132588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42" name="Shape 40"/>
          <p:cNvSpPr/>
          <p:nvPr/>
        </p:nvSpPr>
        <p:spPr>
          <a:xfrm>
            <a:off x="5257801" y="49743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0F2B4F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1" y="497433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" y="524865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1097280" y="498348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convocatoria próxima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53400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 docentes cuando falta poco tiempo para que cierre la convocatoria, para que no se les pase el plazo.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4864608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5080" y="4864608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92841" y="49743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11292841" y="497433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19672" y="524865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132320" y="498348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de datos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32321" y="53400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una copia de seguridad automática de toda la base de datos para proteger la información ante cualquier fallo.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partes se compone el sistema?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principales y lo que hace cada uno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3794760" cy="54864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3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F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3" y="1545336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149047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1856233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inicio de sesión, verificación de correo y recuperación de contraseña. Todo el proceso de acceso seguro.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325880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325880"/>
            <a:ext cx="37947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9" name="Shape 17"/>
          <p:cNvSpPr/>
          <p:nvPr/>
        </p:nvSpPr>
        <p:spPr>
          <a:xfrm>
            <a:off x="4462273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3" y="1545336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57801" y="149047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1" y="1856233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Creación, publicación, seguimiento y cierre de convocatorias de becas con control de fechas.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75320" y="1325880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1325880"/>
            <a:ext cx="3794760" cy="54864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3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694A2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3" y="1545336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1" y="149047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1" y="1856233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aplicación del docente, carga de documentos, seguimiento del estado y resolución.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044952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44952"/>
            <a:ext cx="3794760" cy="54864"/>
          </a:xfrm>
          <a:prstGeom prst="rect">
            <a:avLst/>
          </a:prstGeom>
          <a:solidFill>
            <a:srgbClr val="C27803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3" y="32461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C27803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3" y="3264408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80160" y="320954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3575305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rúbricas, asignación de evaluadores, dictamen y control de plazos de revisión.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3044952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0" y="3044952"/>
            <a:ext cx="3794760" cy="54864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7" name="Shape 35"/>
          <p:cNvSpPr/>
          <p:nvPr/>
        </p:nvSpPr>
        <p:spPr>
          <a:xfrm>
            <a:off x="4462273" y="32461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57A55"/>
          </a:solidFill>
          <a:ln/>
        </p:spPr>
      </p:sp>
      <p:sp>
        <p:nvSpPr>
          <p:cNvPr id="38" name="Text 36"/>
          <p:cNvSpPr/>
          <p:nvPr/>
        </p:nvSpPr>
        <p:spPr>
          <a:xfrm>
            <a:off x="4462273" y="3264408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257801" y="320954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1" y="3575305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documentos PDF oficiales, activación por el administrador y descarga por el docente.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3044952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75320" y="3044952"/>
            <a:ext cx="3794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8439913" y="32461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8439913" y="3264408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🔲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235441" y="320954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pública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1" y="3575305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abierta donde cualquier persona puede comprobar la autenticidad de un documento usando su QR.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764024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764024"/>
            <a:ext cx="37947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3" y="4965193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A56DB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3" y="4983481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280160" y="492861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280160" y="5294376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baja, modificación y asignación de roles para todos los tipos de usuarios del sistema.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97680" y="4764024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297680" y="4764024"/>
            <a:ext cx="3794760" cy="54864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55" name="Shape 53"/>
          <p:cNvSpPr/>
          <p:nvPr/>
        </p:nvSpPr>
        <p:spPr>
          <a:xfrm>
            <a:off x="4462273" y="4965193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F2B4F"/>
          </a:solidFill>
          <a:ln/>
        </p:spPr>
      </p:sp>
      <p:sp>
        <p:nvSpPr>
          <p:cNvPr id="56" name="Text 54"/>
          <p:cNvSpPr/>
          <p:nvPr/>
        </p:nvSpPr>
        <p:spPr>
          <a:xfrm>
            <a:off x="4462273" y="4983481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5257801" y="492861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exportaciones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57801" y="5294376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en Excel con datos detallados de solicitudes, usuarios e instituciones.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275320" y="4764024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275320" y="4764024"/>
            <a:ext cx="3794760" cy="54864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61" name="Shape 59"/>
          <p:cNvSpPr/>
          <p:nvPr/>
        </p:nvSpPr>
        <p:spPr>
          <a:xfrm>
            <a:off x="8439913" y="4965193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694A2"/>
          </a:solidFill>
          <a:ln/>
        </p:spPr>
      </p:sp>
      <p:sp>
        <p:nvSpPr>
          <p:cNvPr id="62" name="Text 60"/>
          <p:cNvSpPr/>
          <p:nvPr/>
        </p:nvSpPr>
        <p:spPr>
          <a:xfrm>
            <a:off x="8439913" y="4983481"/>
            <a:ext cx="6583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9235441" y="492861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y áreas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235441" y="5294376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campus del TecNM y áreas prioritarias disponibles para configurar las convocatorias.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el TecNM con este sistema?</a:t>
            </a:r>
            <a:endParaRPr lang="en-US" sz="3001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concretos para la institución, los docentes y los administradores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9848" y="1664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" y="2139696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231136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que antes tomaba semanas ahora puede completarse en días. Las notificaciones automáticas eliminan el seguimiento manual.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108960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12724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menos tiempo en gestión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481328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3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93208" y="1664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recursos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07992" y="2139696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2231136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impresiones, cero archivadores físicos, cero mensajería. Todo digital, ordenado y accesible desde cualquier lugar.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07992" y="3108960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12724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papel utilizado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66760" y="1481328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31353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16569" y="1664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objetividad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31352" y="2139696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27" name="Text 25"/>
          <p:cNvSpPr/>
          <p:nvPr/>
        </p:nvSpPr>
        <p:spPr>
          <a:xfrm>
            <a:off x="8531352" y="2231136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se toman con base en criterios definidos y documentados, eliminando la subjetividad y favoreciendo la transparencia.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31352" y="3108960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29" name="Text 27"/>
          <p:cNvSpPr/>
          <p:nvPr/>
        </p:nvSpPr>
        <p:spPr>
          <a:xfrm>
            <a:off x="8622792" y="312724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criterios documentados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877056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" y="401421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69848" y="405993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" y="4535424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" y="4626865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cualquier momento, los directivos pueden ver cuántas solicitudes hay, en qué etapa están y qué resultados se han emitido.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" y="5504688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" y="5522976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 visibilidad del proceso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43400" y="3877056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07993" y="401421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093208" y="405993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confianza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07992" y="4535424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1" name="Text 39"/>
          <p:cNvSpPr/>
          <p:nvPr/>
        </p:nvSpPr>
        <p:spPr>
          <a:xfrm>
            <a:off x="4507992" y="4626865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docentes confían en el proceso porque reciben confirmaciones en cada paso. Los documentos son verificables y difíciles de falsificar.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07992" y="5504688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43" name="Text 41"/>
          <p:cNvSpPr/>
          <p:nvPr/>
        </p:nvSpPr>
        <p:spPr>
          <a:xfrm>
            <a:off x="4599432" y="5522976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 verificación inmediata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66760" y="3877056"/>
            <a:ext cx="3822192" cy="2212848"/>
          </a:xfrm>
          <a:prstGeom prst="roundRect">
            <a:avLst>
              <a:gd name="adj" fmla="val 4959"/>
            </a:avLst>
          </a:prstGeom>
          <a:solidFill>
            <a:srgbClr val="162D4E"/>
          </a:solidFill>
          <a:ln/>
          <a:effectLst>
            <a:outerShdw blurRad="76200" dist="381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531353" y="401421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116569" y="405993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universal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31352" y="4535424"/>
            <a:ext cx="3493008" cy="274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48" name="Text 46"/>
          <p:cNvSpPr/>
          <p:nvPr/>
        </p:nvSpPr>
        <p:spPr>
          <a:xfrm>
            <a:off x="8531352" y="4626865"/>
            <a:ext cx="3493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cualquier dispositivo y navegador. No requiere instalar ningún programa. Solo tener internet y un navegador.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31352" y="5504688"/>
            <a:ext cx="3493008" cy="457200"/>
          </a:xfrm>
          <a:prstGeom prst="roundRect">
            <a:avLst>
              <a:gd name="adj" fmla="val 14000"/>
            </a:avLst>
          </a:prstGeom>
          <a:solidFill>
            <a:srgbClr val="0694A2"/>
          </a:solidFill>
          <a:ln/>
        </p:spPr>
      </p:sp>
      <p:sp>
        <p:nvSpPr>
          <p:cNvPr id="50" name="Text 48"/>
          <p:cNvSpPr/>
          <p:nvPr/>
        </p:nvSpPr>
        <p:spPr>
          <a:xfrm>
            <a:off x="8622792" y="5522976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 acceso en línea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61288"/>
            <a:ext cx="12192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1" y="20116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respuestas frecuentes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1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dudas más comunes que pueden tener directivos y docentes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Sistema de Gestión de Becas  ·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25880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14173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¿Qué pasa si un docente no tiene computadora?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1783080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1856233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El sistema es accesible desde cualquier celular con internet. Solo se necesita un navegador (Chrome, Safari, etc.)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1325880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325880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14173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¿Se puede manipular el proceso para favorecer a alguien?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19672" y="1783080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1856233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No. Cada paso queda registrado con fecha y usuario responsable. El sistema de rúbricas obliga a usar criterios objetivos.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624329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24329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¿Qué pasa si el sistema falla o se cae?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" y="3081528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3154681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La información está almacenada en base de datos con respaldos automáticos semanales. Los datos no se pierden.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624329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2624329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¿Puedes imprimir el reconocimiento?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19672" y="3081528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154681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Sí. El PDF generado tiene alta calidad y puede imprimirse. El QR funciona tanto en digital como en impreso.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922776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922776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40142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¿Puede un evaluador ver las solicitudes de otro?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" y="4379976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445312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No. Cada evaluador solo tiene acceso a las solicitudes que le fueron asignadas explícitamente.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3922776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5080" y="3922776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40142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¿Cómo saben los docentes que alguien no subió documentos falsos?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19672" y="4379976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445312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El administrador verifica los documentos en la revisión inicial. Los reconocimientos solo se firman si todo es confirmado.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5221224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5221224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" y="53126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¿Hay límite de solicitudes por convocatoria?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" y="5678424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" y="5751577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No hay límite técnico. El sistema puede manejar cientos de solicitudes simultáneamente sin degradación.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5221224"/>
            <a:ext cx="5806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55080" y="5221224"/>
            <a:ext cx="54864" cy="1170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8" name="Text 46"/>
          <p:cNvSpPr/>
          <p:nvPr/>
        </p:nvSpPr>
        <p:spPr>
          <a:xfrm>
            <a:off x="6519672" y="53126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¿El sistema funciona para todos los campus del TecNM?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19672" y="5678424"/>
            <a:ext cx="539496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6519672" y="5751577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Sí. Está diseñado para funcionar a nivel nacional. Cada institución tiene su propia configuración dentro del sistema.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1554480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5720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152D50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1" y="1097280"/>
            <a:ext cx="2834640" cy="2834640"/>
          </a:xfrm>
          <a:prstGeom prst="roundRect">
            <a:avLst>
              <a:gd name="adj" fmla="val 12903"/>
            </a:avLst>
          </a:prstGeom>
          <a:solidFill>
            <a:srgbClr val="1A3A64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1" y="109728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16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47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4114800" cy="36576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78993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diseñado para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C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y modernizar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becas del TecNM.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36576" cy="27432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735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digital y accesible desde cualquier dispositivo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36576" cy="27432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675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transparente, trazable y auditado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6576" cy="27432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0782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oficiales con verificación mediante QR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285232"/>
            <a:ext cx="12192000" cy="36576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544068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 ·  Dirección de Desarrollo Institucional  ·  Marzo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5897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más información o soporte técnico, contacte al equipo de sistemas del TecNM.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6327648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generada el 9 de marzo de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3355</Words>
  <Application>Microsoft Office PowerPoint</Application>
  <PresentationFormat>Panorámica</PresentationFormat>
  <Paragraphs>531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Tecnológico Nacional de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Sistema de Becas — Presentación Ejecutiva</dc:subject>
  <dc:creator>TecNM</dc:creator>
  <cp:lastModifiedBy>Eduardo Jaimez</cp:lastModifiedBy>
  <cp:revision>1</cp:revision>
  <dcterms:created xsi:type="dcterms:W3CDTF">2026-03-10T02:19:28Z</dcterms:created>
  <dcterms:modified xsi:type="dcterms:W3CDTF">2026-03-10T02:22:42Z</dcterms:modified>
</cp:coreProperties>
</file>